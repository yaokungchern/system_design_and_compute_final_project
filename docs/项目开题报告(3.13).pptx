
<file path=[Content_Types].xml><?xml version="1.0" encoding="utf-8"?>
<Types xmlns="http://schemas.openxmlformats.org/package/2006/content-types">
  <Default Extension="jpeg" ContentType="image/jpeg"/>
  <Default Extension="JPG" ContentType="image/.jpg"/>
  <Default Extension="png" ContentType="image/png"/>
  <Default Extension="gif" ContentType="image/gif"/>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75" r:id="rId3"/>
    <p:sldId id="4167" r:id="rId4"/>
    <p:sldId id="4158" r:id="rId5"/>
    <p:sldId id="4182" r:id="rId6"/>
    <p:sldId id="4183" r:id="rId7"/>
    <p:sldId id="4184" r:id="rId8"/>
    <p:sldId id="4181" r:id="rId9"/>
    <p:sldId id="4177" r:id="rId10"/>
    <p:sldId id="4178" r:id="rId11"/>
    <p:sldId id="4169" r:id="rId12"/>
    <p:sldId id="4170" r:id="rId13"/>
    <p:sldId id="4171" r:id="rId14"/>
    <p:sldId id="4172" r:id="rId15"/>
    <p:sldId id="4185" r:id="rId16"/>
    <p:sldId id="4186" r:id="rId17"/>
    <p:sldId id="4187" r:id="rId18"/>
    <p:sldId id="4188" r:id="rId19"/>
    <p:sldId id="4189" r:id="rId20"/>
    <p:sldId id="4179" r:id="rId21"/>
    <p:sldId id="4180" r:id="rId22"/>
    <p:sldId id="4196" r:id="rId23"/>
    <p:sldId id="4190" r:id="rId24"/>
    <p:sldId id="4191" r:id="rId25"/>
    <p:sldId id="4192" r:id="rId26"/>
    <p:sldId id="4193" r:id="rId27"/>
    <p:sldId id="4194" r:id="rId28"/>
    <p:sldId id="273" r:id="rId29"/>
  </p:sldIdLst>
  <p:sldSz cx="12192000" cy="6858000"/>
  <p:notesSz cx="6858000" cy="9144000"/>
  <p:custDataLst>
    <p:tags r:id="rId3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278" userDrawn="1">
          <p15:clr>
            <a:srgbClr val="A4A3A4"/>
          </p15:clr>
        </p15:guide>
        <p15:guide id="2" pos="7401" userDrawn="1">
          <p15:clr>
            <a:srgbClr val="A4A3A4"/>
          </p15:clr>
        </p15:guide>
        <p15:guide id="4" orient="horz" pos="601" userDrawn="1">
          <p15:clr>
            <a:srgbClr val="A4A3A4"/>
          </p15:clr>
        </p15:guide>
        <p15:guide id="6" orient="horz" pos="402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B52B7"/>
    <a:srgbClr val="002FA8"/>
    <a:srgbClr val="0000FF"/>
    <a:srgbClr val="FFFFFE"/>
    <a:srgbClr val="FBD5D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showGuides="1">
      <p:cViewPr varScale="1">
        <p:scale>
          <a:sx n="88" d="100"/>
          <a:sy n="88" d="100"/>
        </p:scale>
        <p:origin x="76" y="456"/>
      </p:cViewPr>
      <p:guideLst>
        <p:guide pos="278"/>
        <p:guide pos="7401"/>
        <p:guide orient="horz" pos="601"/>
        <p:guide orient="horz" pos="4024"/>
      </p:guideLst>
    </p:cSldViewPr>
  </p:slideViewPr>
  <p:notesTextViewPr>
    <p:cViewPr>
      <p:scale>
        <a:sx n="3" d="2"/>
        <a:sy n="3" d="2"/>
      </p:scale>
      <p:origin x="0" y="0"/>
    </p:cViewPr>
  </p:notesTextViewPr>
  <p:sorterViewPr>
    <p:cViewPr>
      <p:scale>
        <a:sx n="100" d="100"/>
        <a:sy n="100" d="100"/>
      </p:scale>
      <p:origin x="0" y="-3594"/>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3" Type="http://schemas.openxmlformats.org/officeDocument/2006/relationships/tags" Target="tags/tag30.xml"/><Relationship Id="rId32" Type="http://schemas.openxmlformats.org/officeDocument/2006/relationships/tableStyles" Target="tableStyles.xml"/><Relationship Id="rId31" Type="http://schemas.openxmlformats.org/officeDocument/2006/relationships/viewProps" Target="viewProps.xml"/><Relationship Id="rId30" Type="http://schemas.openxmlformats.org/officeDocument/2006/relationships/presProps" Target="presProps.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43FA6CF3-49E0-4048-9947-A72614BED60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58E28E3-A71D-4ED4-80D7-5E975CA89089}"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43FA6CF3-49E0-4048-9947-A72614BED60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58E28E3-A71D-4ED4-80D7-5E975CA89089}"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43FA6CF3-49E0-4048-9947-A72614BED60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58E28E3-A71D-4ED4-80D7-5E975CA89089}"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43FA6CF3-49E0-4048-9947-A72614BED60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58E28E3-A71D-4ED4-80D7-5E975CA89089}"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43FA6CF3-49E0-4048-9947-A72614BED60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958E28E3-A71D-4ED4-80D7-5E975CA89089}"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43FA6CF3-49E0-4048-9947-A72614BED60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958E28E3-A71D-4ED4-80D7-5E975CA89089}"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43FA6CF3-49E0-4048-9947-A72614BED60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958E28E3-A71D-4ED4-80D7-5E975CA89089}"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43FA6CF3-49E0-4048-9947-A72614BED60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58E28E3-A71D-4ED4-80D7-5E975CA89089}"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43FA6CF3-49E0-4048-9947-A72614BED60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58E28E3-A71D-4ED4-80D7-5E975CA89089}"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43FA6CF3-49E0-4048-9947-A72614BED60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58E28E3-A71D-4ED4-80D7-5E975CA89089}"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43FA6CF3-49E0-4048-9947-A72614BED60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58E28E3-A71D-4ED4-80D7-5E975CA89089}"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Section Header">
    <p:spTree>
      <p:nvGrpSpPr>
        <p:cNvPr id="1" name=""/>
        <p:cNvGrpSpPr/>
        <p:nvPr/>
      </p:nvGrpSpPr>
      <p:grpSpPr>
        <a:xfrm>
          <a:off x="0" y="0"/>
          <a:ext cx="0" cy="0"/>
          <a:chOff x="0" y="0"/>
          <a:chExt cx="0" cy="0"/>
        </a:xfrm>
      </p:grpSpPr>
      <p:cxnSp>
        <p:nvCxnSpPr>
          <p:cNvPr id="2" name="直接连接符 1"/>
          <p:cNvCxnSpPr/>
          <p:nvPr userDrawn="1"/>
        </p:nvCxnSpPr>
        <p:spPr>
          <a:xfrm>
            <a:off x="271463" y="700088"/>
            <a:ext cx="11649075" cy="0"/>
          </a:xfrm>
          <a:prstGeom prst="line">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userDrawn="1"/>
        </p:nvCxnSpPr>
        <p:spPr>
          <a:xfrm>
            <a:off x="11834853" y="6623050"/>
            <a:ext cx="231775" cy="0"/>
          </a:xfrm>
          <a:prstGeom prst="line">
            <a:avLst/>
          </a:prstGeom>
          <a:ln w="19050" cap="rnd">
            <a:gradFill>
              <a:gsLst>
                <a:gs pos="0">
                  <a:schemeClr val="accent1"/>
                </a:gs>
                <a:gs pos="100000">
                  <a:schemeClr val="accent1">
                    <a:alpha val="0"/>
                  </a:schemeClr>
                </a:gs>
              </a:gsLst>
              <a:lin ang="0" scaled="0"/>
            </a:gra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 name="直接连接符 3"/>
          <p:cNvCxnSpPr/>
          <p:nvPr userDrawn="1"/>
        </p:nvCxnSpPr>
        <p:spPr>
          <a:xfrm flipH="1">
            <a:off x="11133178" y="6623050"/>
            <a:ext cx="231775" cy="0"/>
          </a:xfrm>
          <a:prstGeom prst="line">
            <a:avLst/>
          </a:prstGeom>
          <a:ln w="19050" cap="rnd">
            <a:gradFill>
              <a:gsLst>
                <a:gs pos="0">
                  <a:schemeClr val="accent1"/>
                </a:gs>
                <a:gs pos="100000">
                  <a:schemeClr val="accent1">
                    <a:alpha val="0"/>
                  </a:schemeClr>
                </a:gs>
              </a:gsLst>
              <a:lin ang="0" scaled="0"/>
            </a:gra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 name="标题 1"/>
          <p:cNvSpPr>
            <a:spLocks noGrp="1"/>
          </p:cNvSpPr>
          <p:nvPr>
            <p:ph type="title"/>
          </p:nvPr>
        </p:nvSpPr>
        <p:spPr>
          <a:xfrm>
            <a:off x="431800" y="115864"/>
            <a:ext cx="11506200" cy="481036"/>
          </a:xfrm>
        </p:spPr>
        <p:txBody>
          <a:bodyPr>
            <a:noAutofit/>
          </a:bodyPr>
          <a:lstStyle>
            <a:lvl1pPr algn="l" latinLnBrk="0">
              <a:defRPr lang="zh-CN" sz="3200" b="1">
                <a:solidFill>
                  <a:schemeClr val="tx1"/>
                </a:solidFill>
                <a:latin typeface="+mn-lt"/>
                <a:ea typeface="+mn-ea"/>
              </a:defRPr>
            </a:lvl1pPr>
          </a:lstStyle>
          <a:p>
            <a:r>
              <a:rPr lang="zh-CN" altLang="en-US" noProof="1"/>
              <a:t>单击此处编辑母版标题样式</a:t>
            </a:r>
            <a:endParaRPr lang="zh-CN" noProof="1"/>
          </a:p>
        </p:txBody>
      </p:sp>
      <p:sp>
        <p:nvSpPr>
          <p:cNvPr id="5" name="灯片编号占位符 2"/>
          <p:cNvSpPr>
            <a:spLocks noGrp="1"/>
          </p:cNvSpPr>
          <p:nvPr>
            <p:ph type="sldNum" sz="quarter" idx="10"/>
          </p:nvPr>
        </p:nvSpPr>
        <p:spPr>
          <a:xfrm>
            <a:off x="11522075" y="6534150"/>
            <a:ext cx="157163" cy="161925"/>
          </a:xfrm>
        </p:spPr>
        <p:txBody>
          <a:bodyPr wrap="none" lIns="0" tIns="0" rIns="0" bIns="0">
            <a:spAutoFit/>
          </a:bodyPr>
          <a:lstStyle>
            <a:lvl1pPr algn="ctr" defTabSz="457200">
              <a:defRPr sz="100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defRPr>
            </a:lvl1pPr>
          </a:lstStyle>
          <a:p>
            <a:pPr>
              <a:defRPr/>
            </a:pPr>
            <a:fld id="{C163F259-4BF4-4ABD-8505-99081EAFD3A6}" type="slidenum">
              <a:rPr lang="en-US" altLang="zh-CN"/>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3FA6CF3-49E0-4048-9947-A72614BED60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58E28E3-A71D-4ED4-80D7-5E975CA89089}"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image" Target="../media/image1.jpeg"/></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6.png"/><Relationship Id="rId2" Type="http://schemas.openxmlformats.org/officeDocument/2006/relationships/tags" Target="../tags/tag1.xml"/><Relationship Id="rId1" Type="http://schemas.openxmlformats.org/officeDocument/2006/relationships/image" Target="../media/image5.png"/></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7.png"/><Relationship Id="rId2" Type="http://schemas.openxmlformats.org/officeDocument/2006/relationships/tags" Target="../tags/tag2.xml"/><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png"/><Relationship Id="rId3" Type="http://schemas.openxmlformats.org/officeDocument/2006/relationships/image" Target="../media/image8.png"/><Relationship Id="rId2" Type="http://schemas.openxmlformats.org/officeDocument/2006/relationships/tags" Target="../tags/tag3.xml"/><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1.png"/><Relationship Id="rId2" Type="http://schemas.openxmlformats.org/officeDocument/2006/relationships/tags" Target="../tags/tag4.xml"/><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tags" Target="../tags/tag5.xml"/><Relationship Id="rId2" Type="http://schemas.openxmlformats.org/officeDocument/2006/relationships/image" Target="../media/image12.png"/><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9" Type="http://schemas.openxmlformats.org/officeDocument/2006/relationships/image" Target="../media/image17.png"/><Relationship Id="rId8" Type="http://schemas.openxmlformats.org/officeDocument/2006/relationships/image" Target="../media/image16.png"/><Relationship Id="rId7" Type="http://schemas.openxmlformats.org/officeDocument/2006/relationships/image" Target="../media/image15.png"/><Relationship Id="rId6" Type="http://schemas.openxmlformats.org/officeDocument/2006/relationships/tags" Target="../tags/tag7.xml"/><Relationship Id="rId5" Type="http://schemas.openxmlformats.org/officeDocument/2006/relationships/image" Target="../media/image8.png"/><Relationship Id="rId4" Type="http://schemas.openxmlformats.org/officeDocument/2006/relationships/image" Target="../media/image14.png"/><Relationship Id="rId3" Type="http://schemas.openxmlformats.org/officeDocument/2006/relationships/image" Target="../media/image13.png"/><Relationship Id="rId2" Type="http://schemas.openxmlformats.org/officeDocument/2006/relationships/tags" Target="../tags/tag6.xml"/><Relationship Id="rId11" Type="http://schemas.openxmlformats.org/officeDocument/2006/relationships/slideLayout" Target="../slideLayouts/slideLayout7.xml"/><Relationship Id="rId10" Type="http://schemas.openxmlformats.org/officeDocument/2006/relationships/image" Target="../media/image18.png"/><Relationship Id="rId1" Type="http://schemas.openxmlformats.org/officeDocument/2006/relationships/image" Target="../media/image5.png"/></Relationships>
</file>

<file path=ppt/slides/_rels/slide9.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tags" Target="../tags/tag9.xml"/><Relationship Id="rId3" Type="http://schemas.openxmlformats.org/officeDocument/2006/relationships/image" Target="../media/image19.png"/><Relationship Id="rId2" Type="http://schemas.openxmlformats.org/officeDocument/2006/relationships/tags" Target="../tags/tag8.xml"/><Relationship Id="rId1" Type="http://schemas.openxmlformats.org/officeDocument/2006/relationships/image" Target="../media/image5.png"/></Relationships>
</file>

<file path=ppt/slides/_rels/slide10.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22.png"/><Relationship Id="rId4" Type="http://schemas.openxmlformats.org/officeDocument/2006/relationships/image" Target="../media/image21.png"/><Relationship Id="rId3" Type="http://schemas.openxmlformats.org/officeDocument/2006/relationships/image" Target="../media/image20.png"/><Relationship Id="rId2" Type="http://schemas.openxmlformats.org/officeDocument/2006/relationships/image" Target="../media/image5.png"/><Relationship Id="rId1" Type="http://schemas.openxmlformats.org/officeDocument/2006/relationships/tags" Target="../tags/tag10.xml"/></Relationships>
</file>

<file path=ppt/slides/_rels/slide11.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25.png"/><Relationship Id="rId4" Type="http://schemas.openxmlformats.org/officeDocument/2006/relationships/image" Target="../media/image24.GIF"/><Relationship Id="rId3" Type="http://schemas.openxmlformats.org/officeDocument/2006/relationships/image" Target="../media/image23.png"/><Relationship Id="rId2" Type="http://schemas.openxmlformats.org/officeDocument/2006/relationships/image" Target="../media/image5.png"/><Relationship Id="rId1" Type="http://schemas.openxmlformats.org/officeDocument/2006/relationships/tags" Target="../tags/tag11.xml"/></Relationships>
</file>

<file path=ppt/slides/_rels/slide12.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27.png"/><Relationship Id="rId3" Type="http://schemas.openxmlformats.org/officeDocument/2006/relationships/image" Target="../media/image26.png"/><Relationship Id="rId2" Type="http://schemas.openxmlformats.org/officeDocument/2006/relationships/image" Target="../media/image5.png"/><Relationship Id="rId1" Type="http://schemas.openxmlformats.org/officeDocument/2006/relationships/tags" Target="../tags/tag12.xml"/></Relationships>
</file>

<file path=ppt/slides/_rels/slide13.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30.jpeg"/><Relationship Id="rId4" Type="http://schemas.openxmlformats.org/officeDocument/2006/relationships/image" Target="../media/image29.png"/><Relationship Id="rId3" Type="http://schemas.openxmlformats.org/officeDocument/2006/relationships/image" Target="../media/image28.png"/><Relationship Id="rId2" Type="http://schemas.openxmlformats.org/officeDocument/2006/relationships/image" Target="../media/image5.png"/><Relationship Id="rId1" Type="http://schemas.openxmlformats.org/officeDocument/2006/relationships/tags" Target="../tags/tag13.xml"/></Relationships>
</file>

<file path=ppt/slides/_rels/slide14.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31.png"/><Relationship Id="rId3" Type="http://schemas.openxmlformats.org/officeDocument/2006/relationships/tags" Target="../tags/tag15.xml"/><Relationship Id="rId2" Type="http://schemas.openxmlformats.org/officeDocument/2006/relationships/tags" Target="../tags/tag14.xml"/><Relationship Id="rId1" Type="http://schemas.openxmlformats.org/officeDocument/2006/relationships/image" Target="../media/image5.png"/></Relationships>
</file>

<file path=ppt/slides/_rels/slide15.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tags" Target="../tags/tag16.xml"/></Relationships>
</file>

<file path=ppt/slides/_rels/slide16.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32.png"/><Relationship Id="rId2" Type="http://schemas.openxmlformats.org/officeDocument/2006/relationships/image" Target="../media/image5.png"/><Relationship Id="rId1" Type="http://schemas.openxmlformats.org/officeDocument/2006/relationships/tags" Target="../tags/tag17.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png"/><Relationship Id="rId1" Type="http://schemas.openxmlformats.org/officeDocument/2006/relationships/tags" Target="../tags/tag18.xml"/></Relationships>
</file>

<file path=ppt/slides/_rels/slide18.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33.png"/><Relationship Id="rId3" Type="http://schemas.openxmlformats.org/officeDocument/2006/relationships/tags" Target="../tags/tag20.xml"/><Relationship Id="rId2" Type="http://schemas.openxmlformats.org/officeDocument/2006/relationships/tags" Target="../tags/tag19.xml"/><Relationship Id="rId1" Type="http://schemas.openxmlformats.org/officeDocument/2006/relationships/image" Target="../media/image5.png"/></Relationships>
</file>

<file path=ppt/slides/_rels/slide19.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34.png"/><Relationship Id="rId2" Type="http://schemas.openxmlformats.org/officeDocument/2006/relationships/image" Target="../media/image5.png"/><Relationship Id="rId1" Type="http://schemas.openxmlformats.org/officeDocument/2006/relationships/tags" Target="../tags/tag21.xml"/></Relationships>
</file>

<file path=ppt/slides/_rels/slide20.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35.png"/><Relationship Id="rId2" Type="http://schemas.openxmlformats.org/officeDocument/2006/relationships/image" Target="../media/image5.png"/><Relationship Id="rId1" Type="http://schemas.openxmlformats.org/officeDocument/2006/relationships/tags" Target="../tags/tag22.xml"/></Relationships>
</file>

<file path=ppt/slides/_rels/slide21.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36.png"/><Relationship Id="rId3" Type="http://schemas.openxmlformats.org/officeDocument/2006/relationships/tags" Target="../tags/tag24.xml"/><Relationship Id="rId2" Type="http://schemas.openxmlformats.org/officeDocument/2006/relationships/tags" Target="../tags/tag23.xml"/><Relationship Id="rId1" Type="http://schemas.openxmlformats.org/officeDocument/2006/relationships/image" Target="../media/image5.png"/></Relationships>
</file>

<file path=ppt/slides/_rels/slide22.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 Id="rId3" Type="http://schemas.openxmlformats.org/officeDocument/2006/relationships/image" Target="../media/image37.png"/><Relationship Id="rId2" Type="http://schemas.openxmlformats.org/officeDocument/2006/relationships/image" Target="../media/image5.png"/><Relationship Id="rId1" Type="http://schemas.openxmlformats.org/officeDocument/2006/relationships/tags" Target="../tags/tag25.xml"/></Relationships>
</file>

<file path=ppt/slides/_rels/slide23.xml.rels><?xml version="1.0" encoding="UTF-8" standalone="yes"?>
<Relationships xmlns="http://schemas.openxmlformats.org/package/2006/relationships"><Relationship Id="rId9" Type="http://schemas.microsoft.com/office/2007/relationships/hdphoto" Target="../media/image47.wdp"/><Relationship Id="rId8" Type="http://schemas.openxmlformats.org/officeDocument/2006/relationships/image" Target="../media/image46.png"/><Relationship Id="rId7" Type="http://schemas.openxmlformats.org/officeDocument/2006/relationships/image" Target="../media/image45.png"/><Relationship Id="rId6" Type="http://schemas.openxmlformats.org/officeDocument/2006/relationships/image" Target="../media/image44.png"/><Relationship Id="rId5" Type="http://schemas.microsoft.com/office/2007/relationships/hdphoto" Target="../media/image43.wdp"/><Relationship Id="rId4" Type="http://schemas.openxmlformats.org/officeDocument/2006/relationships/image" Target="../media/image42.png"/><Relationship Id="rId3" Type="http://schemas.openxmlformats.org/officeDocument/2006/relationships/image" Target="../media/image41.png"/><Relationship Id="rId2" Type="http://schemas.openxmlformats.org/officeDocument/2006/relationships/image" Target="../media/image5.png"/><Relationship Id="rId10" Type="http://schemas.openxmlformats.org/officeDocument/2006/relationships/slideLayout" Target="../slideLayouts/slideLayout7.xml"/><Relationship Id="rId1" Type="http://schemas.openxmlformats.org/officeDocument/2006/relationships/tags" Target="../tags/tag26.xml"/></Relationships>
</file>

<file path=ppt/slides/_rels/slide24.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48.png"/><Relationship Id="rId3" Type="http://schemas.openxmlformats.org/officeDocument/2006/relationships/tags" Target="../tags/tag28.xml"/><Relationship Id="rId2" Type="http://schemas.openxmlformats.org/officeDocument/2006/relationships/tags" Target="../tags/tag27.xml"/><Relationship Id="rId1" Type="http://schemas.openxmlformats.org/officeDocument/2006/relationships/image" Target="../media/image5.png"/></Relationships>
</file>

<file path=ppt/slides/_rels/slide25.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49.png"/><Relationship Id="rId2" Type="http://schemas.openxmlformats.org/officeDocument/2006/relationships/image" Target="../media/image5.png"/><Relationship Id="rId1" Type="http://schemas.openxmlformats.org/officeDocument/2006/relationships/tags" Target="../tags/tag29.xml"/></Relationships>
</file>

<file path=ppt/slides/_rels/slide26.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image" Target="../media/image1.jpeg"/></Relationships>
</file>

<file path=ppt/slides/_rels/slide27.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50.png"/><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图片 3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12560"/>
            <a:ext cx="12192000" cy="6832879"/>
          </a:xfrm>
          <a:prstGeom prst="rect">
            <a:avLst/>
          </a:prstGeom>
        </p:spPr>
      </p:pic>
      <p:pic>
        <p:nvPicPr>
          <p:cNvPr id="8" name="图片 7" descr="碗里面&#10;&#10;中度可信度描述已自动生成"/>
          <p:cNvPicPr>
            <a:picLocks noChangeAspect="1"/>
          </p:cNvPicPr>
          <p:nvPr/>
        </p:nvPicPr>
        <p:blipFill rotWithShape="1">
          <a:blip r:embed="rId2">
            <a:alphaModFix amt="20000"/>
            <a:extLst>
              <a:ext uri="{28A0092B-C50C-407E-A947-70E740481C1C}">
                <a14:useLocalDpi xmlns:a14="http://schemas.microsoft.com/office/drawing/2010/main" val="0"/>
              </a:ext>
            </a:extLst>
          </a:blip>
          <a:srcRect t="-1" b="36137"/>
          <a:stretch>
            <a:fillRect/>
          </a:stretch>
        </p:blipFill>
        <p:spPr>
          <a:xfrm>
            <a:off x="0" y="-1"/>
            <a:ext cx="12192000" cy="4949371"/>
          </a:xfrm>
          <a:prstGeom prst="rect">
            <a:avLst/>
          </a:prstGeom>
        </p:spPr>
      </p:pic>
      <p:sp>
        <p:nvSpPr>
          <p:cNvPr id="38" name="矩形 37"/>
          <p:cNvSpPr/>
          <p:nvPr/>
        </p:nvSpPr>
        <p:spPr>
          <a:xfrm>
            <a:off x="6056" y="-22688"/>
            <a:ext cx="12192000" cy="5623276"/>
          </a:xfrm>
          <a:prstGeom prst="rect">
            <a:avLst/>
          </a:prstGeom>
          <a:gradFill>
            <a:gsLst>
              <a:gs pos="0">
                <a:schemeClr val="bg1">
                  <a:alpha val="85000"/>
                </a:schemeClr>
              </a:gs>
              <a:gs pos="47000">
                <a:schemeClr val="bg1"/>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0" name="图片 39"/>
          <p:cNvPicPr>
            <a:picLocks noChangeAspect="1"/>
          </p:cNvPicPr>
          <p:nvPr/>
        </p:nvPicPr>
        <p:blipFill>
          <a:blip r:embed="rId1">
            <a:alphaModFix amt="7000"/>
            <a:extLst>
              <a:ext uri="{28A0092B-C50C-407E-A947-70E740481C1C}">
                <a14:useLocalDpi xmlns:a14="http://schemas.microsoft.com/office/drawing/2010/main" val="0"/>
              </a:ext>
            </a:extLst>
          </a:blip>
          <a:srcRect t="45854" b="25223"/>
          <a:stretch>
            <a:fillRect/>
          </a:stretch>
        </p:blipFill>
        <p:spPr>
          <a:xfrm>
            <a:off x="0" y="5364069"/>
            <a:ext cx="12192000" cy="1493930"/>
          </a:xfrm>
          <a:custGeom>
            <a:avLst/>
            <a:gdLst>
              <a:gd name="connsiteX0" fmla="*/ 0 w 12192000"/>
              <a:gd name="connsiteY0" fmla="*/ 0 h 2062264"/>
              <a:gd name="connsiteX1" fmla="*/ 2753633 w 12192000"/>
              <a:gd name="connsiteY1" fmla="*/ 0 h 2062264"/>
              <a:gd name="connsiteX2" fmla="*/ 2821872 w 12192000"/>
              <a:gd name="connsiteY2" fmla="*/ 258841 h 2062264"/>
              <a:gd name="connsiteX3" fmla="*/ 2856590 w 12192000"/>
              <a:gd name="connsiteY3" fmla="*/ 304466 h 2062264"/>
              <a:gd name="connsiteX4" fmla="*/ 2880681 w 12192000"/>
              <a:gd name="connsiteY4" fmla="*/ 312865 h 2062264"/>
              <a:gd name="connsiteX5" fmla="*/ 2889851 w 12192000"/>
              <a:gd name="connsiteY5" fmla="*/ 317648 h 2062264"/>
              <a:gd name="connsiteX6" fmla="*/ 2893978 w 12192000"/>
              <a:gd name="connsiteY6" fmla="*/ 317611 h 2062264"/>
              <a:gd name="connsiteX7" fmla="*/ 2894498 w 12192000"/>
              <a:gd name="connsiteY7" fmla="*/ 319783 h 2062264"/>
              <a:gd name="connsiteX8" fmla="*/ 9297503 w 12192000"/>
              <a:gd name="connsiteY8" fmla="*/ 319783 h 2062264"/>
              <a:gd name="connsiteX9" fmla="*/ 9298069 w 12192000"/>
              <a:gd name="connsiteY9" fmla="*/ 317419 h 2062264"/>
              <a:gd name="connsiteX10" fmla="*/ 9309925 w 12192000"/>
              <a:gd name="connsiteY10" fmla="*/ 318162 h 2062264"/>
              <a:gd name="connsiteX11" fmla="*/ 9311374 w 12192000"/>
              <a:gd name="connsiteY11" fmla="*/ 317503 h 2062264"/>
              <a:gd name="connsiteX12" fmla="*/ 9327611 w 12192000"/>
              <a:gd name="connsiteY12" fmla="*/ 317647 h 2062264"/>
              <a:gd name="connsiteX13" fmla="*/ 9386633 w 12192000"/>
              <a:gd name="connsiteY13" fmla="*/ 259566 h 2062264"/>
              <a:gd name="connsiteX14" fmla="*/ 9441438 w 12192000"/>
              <a:gd name="connsiteY14" fmla="*/ 0 h 2062264"/>
              <a:gd name="connsiteX15" fmla="*/ 12192000 w 12192000"/>
              <a:gd name="connsiteY15" fmla="*/ 0 h 2062264"/>
              <a:gd name="connsiteX16" fmla="*/ 12192000 w 12192000"/>
              <a:gd name="connsiteY16" fmla="*/ 2062264 h 2062264"/>
              <a:gd name="connsiteX17" fmla="*/ 0 w 12192000"/>
              <a:gd name="connsiteY17" fmla="*/ 2062264 h 2062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2000" h="2062264">
                <a:moveTo>
                  <a:pt x="0" y="0"/>
                </a:moveTo>
                <a:lnTo>
                  <a:pt x="2753633" y="0"/>
                </a:lnTo>
                <a:lnTo>
                  <a:pt x="2821872" y="258841"/>
                </a:lnTo>
                <a:cubicBezTo>
                  <a:pt x="2827146" y="278843"/>
                  <a:pt x="2840027" y="294814"/>
                  <a:pt x="2856590" y="304466"/>
                </a:cubicBezTo>
                <a:lnTo>
                  <a:pt x="2880681" y="312865"/>
                </a:lnTo>
                <a:lnTo>
                  <a:pt x="2889851" y="317648"/>
                </a:lnTo>
                <a:lnTo>
                  <a:pt x="2893978" y="317611"/>
                </a:lnTo>
                <a:lnTo>
                  <a:pt x="2894498" y="319783"/>
                </a:lnTo>
                <a:lnTo>
                  <a:pt x="9297503" y="319783"/>
                </a:lnTo>
                <a:lnTo>
                  <a:pt x="9298069" y="317419"/>
                </a:lnTo>
                <a:lnTo>
                  <a:pt x="9309925" y="318162"/>
                </a:lnTo>
                <a:lnTo>
                  <a:pt x="9311374" y="317503"/>
                </a:lnTo>
                <a:lnTo>
                  <a:pt x="9327611" y="317647"/>
                </a:lnTo>
                <a:cubicBezTo>
                  <a:pt x="9356266" y="312075"/>
                  <a:pt x="9380223" y="289925"/>
                  <a:pt x="9386633" y="259566"/>
                </a:cubicBezTo>
                <a:lnTo>
                  <a:pt x="9441438" y="0"/>
                </a:lnTo>
                <a:lnTo>
                  <a:pt x="12192000" y="0"/>
                </a:lnTo>
                <a:lnTo>
                  <a:pt x="12192000" y="2062264"/>
                </a:lnTo>
                <a:lnTo>
                  <a:pt x="0" y="2062264"/>
                </a:lnTo>
                <a:close/>
              </a:path>
            </a:pathLst>
          </a:custGeom>
          <a:solidFill>
            <a:schemeClr val="accent1"/>
          </a:solidFill>
        </p:spPr>
      </p:pic>
      <p:sp>
        <p:nvSpPr>
          <p:cNvPr id="18" name="文本框 17"/>
          <p:cNvSpPr txBox="1"/>
          <p:nvPr/>
        </p:nvSpPr>
        <p:spPr>
          <a:xfrm>
            <a:off x="0" y="5979795"/>
            <a:ext cx="12192000" cy="565150"/>
          </a:xfrm>
          <a:prstGeom prst="rect">
            <a:avLst/>
          </a:prstGeom>
          <a:noFill/>
        </p:spPr>
        <p:txBody>
          <a:bodyPr wrap="square">
            <a:spAutoFit/>
          </a:bodyPr>
          <a:lstStyle/>
          <a:p>
            <a:pPr algn="ctr">
              <a:lnSpc>
                <a:spcPct val="110000"/>
              </a:lnSpc>
              <a:defRPr/>
            </a:pPr>
            <a:r>
              <a:rPr lang="en-US" altLang="zh-CN" sz="2800" b="1" spc="300" dirty="0">
                <a:solidFill>
                  <a:schemeClr val="bg1"/>
                </a:solidFill>
                <a:latin typeface="微软雅黑" panose="020B0503020204020204" pitchFamily="34" charset="-122"/>
                <a:ea typeface="微软雅黑" panose="020B0503020204020204" pitchFamily="34" charset="-122"/>
              </a:rPr>
              <a:t>Trace</a:t>
            </a:r>
            <a:r>
              <a:rPr lang="zh-CN" altLang="en-US" sz="2800" b="1" spc="300" dirty="0">
                <a:solidFill>
                  <a:schemeClr val="bg1"/>
                </a:solidFill>
                <a:latin typeface="微软雅黑" panose="020B0503020204020204" pitchFamily="34" charset="-122"/>
                <a:ea typeface="微软雅黑" panose="020B0503020204020204" pitchFamily="34" charset="-122"/>
              </a:rPr>
              <a:t> </a:t>
            </a:r>
            <a:r>
              <a:rPr lang="en-US" altLang="zh-CN" sz="2800" b="1" spc="300" dirty="0">
                <a:solidFill>
                  <a:schemeClr val="bg1"/>
                </a:solidFill>
                <a:latin typeface="微软雅黑" panose="020B0503020204020204" pitchFamily="34" charset="-122"/>
                <a:ea typeface="微软雅黑" panose="020B0503020204020204" pitchFamily="34" charset="-122"/>
              </a:rPr>
              <a:t>Rover</a:t>
            </a:r>
            <a:r>
              <a:rPr lang="zh-CN" altLang="en-US" sz="2800" b="1" spc="300" dirty="0">
                <a:solidFill>
                  <a:schemeClr val="bg1"/>
                </a:solidFill>
                <a:latin typeface="微软雅黑" panose="020B0503020204020204" pitchFamily="34" charset="-122"/>
                <a:ea typeface="微软雅黑" panose="020B0503020204020204" pitchFamily="34" charset="-122"/>
              </a:rPr>
              <a:t> </a:t>
            </a:r>
            <a:r>
              <a:rPr lang="en-US" altLang="zh-CN" sz="2800" b="1" spc="300" dirty="0">
                <a:solidFill>
                  <a:schemeClr val="bg1"/>
                </a:solidFill>
                <a:latin typeface="微软雅黑" panose="020B0503020204020204" pitchFamily="34" charset="-122"/>
                <a:ea typeface="微软雅黑" panose="020B0503020204020204" pitchFamily="34" charset="-122"/>
              </a:rPr>
              <a:t>Team</a:t>
            </a:r>
            <a:endParaRPr lang="zh-CN" altLang="en-US" sz="2800" b="1" spc="300" dirty="0">
              <a:solidFill>
                <a:schemeClr val="bg1"/>
              </a:solidFill>
              <a:latin typeface="微软雅黑" panose="020B0503020204020204" pitchFamily="34" charset="-122"/>
              <a:ea typeface="微软雅黑" panose="020B0503020204020204" pitchFamily="34" charset="-122"/>
            </a:endParaRPr>
          </a:p>
        </p:txBody>
      </p:sp>
      <p:pic>
        <p:nvPicPr>
          <p:cNvPr id="42" name="Picture 8"/>
          <p:cNvPicPr>
            <a:picLocks noChangeAspect="1"/>
          </p:cNvPicPr>
          <p:nvPr/>
        </p:nvPicPr>
        <p:blipFill>
          <a:blip r:embed="rId3">
            <a:alphaModFix amt="79000"/>
          </a:blip>
          <a:stretch>
            <a:fillRect/>
          </a:stretch>
        </p:blipFill>
        <p:spPr>
          <a:xfrm rot="10800000" flipH="1">
            <a:off x="-26498" y="109991"/>
            <a:ext cx="12212442" cy="4032129"/>
          </a:xfrm>
          <a:prstGeom prst="rect">
            <a:avLst/>
          </a:prstGeom>
        </p:spPr>
      </p:pic>
      <p:grpSp>
        <p:nvGrpSpPr>
          <p:cNvPr id="4" name="组合 3"/>
          <p:cNvGrpSpPr/>
          <p:nvPr/>
        </p:nvGrpSpPr>
        <p:grpSpPr>
          <a:xfrm>
            <a:off x="-6056" y="1289762"/>
            <a:ext cx="12192000" cy="1649771"/>
            <a:chOff x="0" y="1645923"/>
            <a:chExt cx="12192000" cy="1649771"/>
          </a:xfrm>
        </p:grpSpPr>
        <p:pic>
          <p:nvPicPr>
            <p:cNvPr id="3" name="图片 2"/>
            <p:cNvPicPr>
              <a:picLocks noChangeAspect="1" noChangeArrowheads="1"/>
            </p:cNvPicPr>
            <p:nvPr/>
          </p:nvPicPr>
          <p:blipFill>
            <a:blip r:embed="rId4" cstate="print">
              <a:extLst>
                <a:ext uri="{28A0092B-C50C-407E-A947-70E740481C1C}">
                  <a14:useLocalDpi xmlns:a14="http://schemas.microsoft.com/office/drawing/2010/main" val="0"/>
                </a:ext>
              </a:extLst>
            </a:blip>
            <a:srcRect t="25972" b="41251"/>
            <a:stretch>
              <a:fillRect/>
            </a:stretch>
          </p:blipFill>
          <p:spPr bwMode="auto">
            <a:xfrm>
              <a:off x="0" y="1645923"/>
              <a:ext cx="12192000" cy="16497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文本框 5"/>
            <p:cNvSpPr txBox="1"/>
            <p:nvPr/>
          </p:nvSpPr>
          <p:spPr>
            <a:xfrm>
              <a:off x="1366520" y="1691643"/>
              <a:ext cx="9488805" cy="830997"/>
            </a:xfrm>
            <a:prstGeom prst="rect">
              <a:avLst/>
            </a:prstGeom>
            <a:noFill/>
          </p:spPr>
          <p:txBody>
            <a:bodyPr wrap="square">
              <a:spAutoFit/>
            </a:bodyPr>
            <a:lstStyle/>
            <a:p>
              <a:pPr lvl="0" algn="dist" defTabSz="457200">
                <a:defRPr/>
              </a:pPr>
              <a:endParaRPr kumimoji="0" lang="zh-CN" altLang="en-US" sz="4800" b="1" i="0" u="none" strike="noStrike" kern="0" cap="none" spc="300" normalizeH="0" baseline="0" noProof="0" dirty="0">
                <a:ln>
                  <a:noFill/>
                </a:ln>
                <a:solidFill>
                  <a:schemeClr val="bg1"/>
                </a:solidFill>
                <a:effectLst>
                  <a:outerShdw blurRad="50800" dist="25400" dir="5400000" algn="t" rotWithShape="0">
                    <a:srgbClr val="0B4FA1">
                      <a:lumMod val="50000"/>
                      <a:alpha val="15000"/>
                    </a:srgbClr>
                  </a:outerShdw>
                </a:effectLst>
                <a:uLnTx/>
                <a:uFillTx/>
                <a:latin typeface="微软雅黑" panose="020B0503020204020204" pitchFamily="34" charset="-122"/>
                <a:ea typeface="微软雅黑" panose="020B0503020204020204" pitchFamily="34" charset="-122"/>
              </a:endParaRPr>
            </a:p>
          </p:txBody>
        </p:sp>
      </p:grpSp>
      <p:sp>
        <p:nvSpPr>
          <p:cNvPr id="5" name="文本框 4"/>
          <p:cNvSpPr txBox="1"/>
          <p:nvPr/>
        </p:nvSpPr>
        <p:spPr>
          <a:xfrm>
            <a:off x="217085" y="1345369"/>
            <a:ext cx="11725275" cy="1445260"/>
          </a:xfrm>
          <a:prstGeom prst="rect">
            <a:avLst/>
          </a:prstGeom>
          <a:noFill/>
        </p:spPr>
        <p:txBody>
          <a:bodyPr wrap="none">
            <a:spAutoFit/>
          </a:bodyPr>
          <a:lstStyle/>
          <a:p>
            <a:pPr algn="ctr" defTabSz="457200"/>
            <a:r>
              <a:rPr lang="en-US" altLang="zh-CN" sz="4400" b="1" dirty="0">
                <a:solidFill>
                  <a:schemeClr val="bg1"/>
                </a:solidFill>
                <a:effectLst>
                  <a:outerShdw blurRad="88900" dist="25400" dir="5400000" algn="t" rotWithShape="0">
                    <a:srgbClr val="0B4FA1">
                      <a:lumMod val="50000"/>
                      <a:alpha val="10000"/>
                    </a:srgbClr>
                  </a:outerShdw>
                </a:effectLst>
                <a:latin typeface="Times New Roman" panose="02020603050405020304" pitchFamily="18" charset="0"/>
                <a:ea typeface="微软雅黑" panose="020B0503020204020204" pitchFamily="34" charset="-122"/>
                <a:cs typeface="Times New Roman" panose="02020603050405020304" pitchFamily="18" charset="0"/>
              </a:rPr>
              <a:t>Mecanum-wheeled Autonomous Tracking Robot</a:t>
            </a:r>
            <a:endParaRPr lang="en-US" altLang="zh-CN" sz="4400" b="1" dirty="0">
              <a:solidFill>
                <a:schemeClr val="bg1"/>
              </a:solidFill>
              <a:effectLst>
                <a:outerShdw blurRad="88900" dist="25400" dir="5400000" algn="t" rotWithShape="0">
                  <a:srgbClr val="0B4FA1">
                    <a:lumMod val="50000"/>
                    <a:alpha val="10000"/>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algn="ctr" defTabSz="457200"/>
            <a:r>
              <a:rPr lang="en-US" altLang="zh-CN" sz="4400" b="1" dirty="0">
                <a:solidFill>
                  <a:schemeClr val="bg1"/>
                </a:solidFill>
                <a:effectLst>
                  <a:outerShdw blurRad="88900" dist="25400" dir="5400000" algn="t" rotWithShape="0">
                    <a:srgbClr val="0B4FA1">
                      <a:lumMod val="50000"/>
                      <a:alpha val="10000"/>
                    </a:srgbClr>
                  </a:outerShdw>
                </a:effectLst>
                <a:latin typeface="Times New Roman" panose="02020603050405020304" pitchFamily="18" charset="0"/>
                <a:ea typeface="微软雅黑" panose="020B0503020204020204" pitchFamily="34" charset="-122"/>
                <a:cs typeface="Times New Roman" panose="02020603050405020304" pitchFamily="18" charset="0"/>
              </a:rPr>
              <a:t>Thesis Proposal</a:t>
            </a:r>
            <a:endParaRPr lang="en-US" altLang="zh-CN" sz="4400" b="1" dirty="0">
              <a:solidFill>
                <a:schemeClr val="bg1"/>
              </a:solidFill>
              <a:effectLst>
                <a:outerShdw blurRad="88900" dist="25400" dir="5400000" algn="t" rotWithShape="0">
                  <a:srgbClr val="0B4FA1">
                    <a:lumMod val="50000"/>
                    <a:alpha val="10000"/>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0" name="矩形: 圆角 9"/>
          <p:cNvSpPr/>
          <p:nvPr/>
        </p:nvSpPr>
        <p:spPr>
          <a:xfrm>
            <a:off x="5431912" y="3573115"/>
            <a:ext cx="2541783" cy="501045"/>
          </a:xfrm>
          <a:prstGeom prst="roundRect">
            <a:avLst>
              <a:gd name="adj" fmla="val 0"/>
            </a:avLst>
          </a:prstGeom>
          <a:gradFill>
            <a:gsLst>
              <a:gs pos="0">
                <a:schemeClr val="accent1">
                  <a:alpha val="0"/>
                </a:schemeClr>
              </a:gs>
              <a:gs pos="100000">
                <a:schemeClr val="accent1">
                  <a:alpha val="15000"/>
                </a:schemeClr>
              </a:gs>
            </a:gsLst>
            <a:lin ang="10800000" scaled="0"/>
          </a:gra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dirty="0">
              <a:ln>
                <a:noFill/>
              </a:ln>
              <a:solidFill>
                <a:prstClr val="white"/>
              </a:solidFill>
              <a:effectLst/>
              <a:uLnTx/>
              <a:uFillTx/>
              <a:latin typeface="DIN"/>
              <a:ea typeface="思源黑体 CN Medium"/>
              <a:cs typeface="+mn-cs"/>
            </a:endParaRPr>
          </a:p>
        </p:txBody>
      </p:sp>
      <p:sp>
        <p:nvSpPr>
          <p:cNvPr id="12" name="矩形: 圆角 11"/>
          <p:cNvSpPr/>
          <p:nvPr/>
        </p:nvSpPr>
        <p:spPr>
          <a:xfrm>
            <a:off x="4356100" y="3535680"/>
            <a:ext cx="1600598" cy="510957"/>
          </a:xfrm>
          <a:prstGeom prst="roundRect">
            <a:avLst>
              <a:gd name="adj" fmla="val 50000"/>
            </a:avLst>
          </a:prstGeom>
          <a:solidFill>
            <a:schemeClr val="accent1"/>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dirty="0">
              <a:ln>
                <a:noFill/>
              </a:ln>
              <a:solidFill>
                <a:srgbClr val="158BDB"/>
              </a:solidFill>
              <a:effectLst/>
              <a:uLnTx/>
              <a:uFillTx/>
              <a:latin typeface="DIN"/>
              <a:ea typeface="思源黑体 CN Medium"/>
              <a:cs typeface="+mn-cs"/>
            </a:endParaRPr>
          </a:p>
        </p:txBody>
      </p:sp>
      <p:sp>
        <p:nvSpPr>
          <p:cNvPr id="13" name="文本框 12"/>
          <p:cNvSpPr txBox="1"/>
          <p:nvPr/>
        </p:nvSpPr>
        <p:spPr>
          <a:xfrm>
            <a:off x="4448511" y="3539497"/>
            <a:ext cx="1415772" cy="461665"/>
          </a:xfrm>
          <a:prstGeom prst="rect">
            <a:avLst/>
          </a:prstGeom>
          <a:noFill/>
        </p:spPr>
        <p:txBody>
          <a:bodyPr wrap="none">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dirty="0">
                <a:ln>
                  <a:noFill/>
                </a:ln>
                <a:solidFill>
                  <a:prstClr val="white"/>
                </a:solidFill>
                <a:effectLst/>
                <a:uLnTx/>
                <a:uFillTx/>
                <a:latin typeface="思源黑体 CN Bold"/>
                <a:ea typeface="思源黑体 CN Bold"/>
              </a:rPr>
              <a:t>项目</a:t>
            </a:r>
            <a:r>
              <a:rPr lang="zh-CN" altLang="en-US" sz="2400" kern="0" dirty="0">
                <a:solidFill>
                  <a:prstClr val="white"/>
                </a:solidFill>
                <a:latin typeface="思源黑体 CN Bold"/>
                <a:ea typeface="思源黑体 CN Bold"/>
              </a:rPr>
              <a:t>组长</a:t>
            </a:r>
            <a:endParaRPr kumimoji="0" lang="zh-CN" altLang="en-US" sz="2400" b="0" i="0" u="none" strike="noStrike" kern="0" cap="none" spc="0" normalizeH="0" baseline="0" noProof="0" dirty="0">
              <a:ln>
                <a:noFill/>
              </a:ln>
              <a:solidFill>
                <a:prstClr val="white"/>
              </a:solidFill>
              <a:effectLst/>
              <a:uLnTx/>
              <a:uFillTx/>
              <a:latin typeface="思源黑体 CN Bold"/>
              <a:ea typeface="思源黑体 CN Bold"/>
            </a:endParaRPr>
          </a:p>
        </p:txBody>
      </p:sp>
      <p:sp>
        <p:nvSpPr>
          <p:cNvPr id="14" name="文本框 13"/>
          <p:cNvSpPr txBox="1"/>
          <p:nvPr/>
        </p:nvSpPr>
        <p:spPr>
          <a:xfrm>
            <a:off x="5902960" y="3582170"/>
            <a:ext cx="1199366" cy="461665"/>
          </a:xfrm>
          <a:prstGeom prst="rect">
            <a:avLst/>
          </a:prstGeom>
          <a:noFill/>
        </p:spPr>
        <p:txBody>
          <a:bodyPr wrap="none">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2400" b="0" i="0" u="none" strike="noStrike" kern="0" cap="none" spc="0" normalizeH="0" baseline="0" noProof="0" dirty="0">
                <a:ln>
                  <a:noFill/>
                </a:ln>
                <a:solidFill>
                  <a:schemeClr val="accent1"/>
                </a:solidFill>
                <a:effectLst/>
                <a:uLnTx/>
                <a:uFillTx/>
                <a:latin typeface="思源黑体 CN Bold"/>
                <a:ea typeface="思源黑体 CN Bold"/>
              </a:rPr>
              <a:t> </a:t>
            </a:r>
            <a:r>
              <a:rPr kumimoji="0" lang="zh-CN" altLang="en-US" sz="2400" b="0" i="0" u="none" strike="noStrike" kern="0" cap="none" spc="0" normalizeH="0" baseline="0" noProof="0" dirty="0">
                <a:ln>
                  <a:noFill/>
                </a:ln>
                <a:solidFill>
                  <a:schemeClr val="accent1"/>
                </a:solidFill>
                <a:effectLst/>
                <a:uLnTx/>
                <a:uFillTx/>
                <a:latin typeface="思源黑体 CN Bold"/>
                <a:ea typeface="思源黑体 CN Bold"/>
              </a:rPr>
              <a:t>姚康晨</a:t>
            </a:r>
            <a:endParaRPr kumimoji="0" lang="zh-CN" altLang="en-US" sz="2400" b="0" i="0" u="none" strike="noStrike" kern="0" cap="none" spc="0" normalizeH="0" baseline="0" noProof="0" dirty="0">
              <a:ln>
                <a:noFill/>
              </a:ln>
              <a:solidFill>
                <a:schemeClr val="accent1"/>
              </a:solidFill>
              <a:effectLst/>
              <a:uLnTx/>
              <a:uFillTx/>
              <a:latin typeface="思源黑体 CN Bold"/>
              <a:ea typeface="思源黑体 CN Bold"/>
            </a:endParaRPr>
          </a:p>
        </p:txBody>
      </p:sp>
      <p:sp>
        <p:nvSpPr>
          <p:cNvPr id="31" name="矩形: 圆角 30"/>
          <p:cNvSpPr/>
          <p:nvPr/>
        </p:nvSpPr>
        <p:spPr>
          <a:xfrm>
            <a:off x="5304155" y="4213860"/>
            <a:ext cx="2541905" cy="501015"/>
          </a:xfrm>
          <a:prstGeom prst="roundRect">
            <a:avLst>
              <a:gd name="adj" fmla="val 0"/>
            </a:avLst>
          </a:prstGeom>
          <a:gradFill>
            <a:gsLst>
              <a:gs pos="0">
                <a:schemeClr val="accent1">
                  <a:alpha val="0"/>
                </a:schemeClr>
              </a:gs>
              <a:gs pos="100000">
                <a:schemeClr val="accent1">
                  <a:alpha val="15000"/>
                </a:schemeClr>
              </a:gs>
            </a:gsLst>
            <a:lin ang="10800000" scaled="0"/>
          </a:gradFill>
          <a:ln w="19050" cap="flat" cmpd="sng" algn="ctr">
            <a:noFill/>
            <a:prstDash val="solid"/>
            <a:miter lim="800000"/>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dirty="0">
              <a:ln>
                <a:noFill/>
              </a:ln>
              <a:solidFill>
                <a:prstClr val="white"/>
              </a:solidFill>
              <a:effectLst/>
              <a:uLnTx/>
              <a:uFillTx/>
              <a:latin typeface="DIN"/>
              <a:ea typeface="思源黑体 CN Medium"/>
              <a:cs typeface="+mn-cs"/>
            </a:endParaRPr>
          </a:p>
        </p:txBody>
      </p:sp>
      <p:sp>
        <p:nvSpPr>
          <p:cNvPr id="33" name="矩形: 圆角 32"/>
          <p:cNvSpPr/>
          <p:nvPr/>
        </p:nvSpPr>
        <p:spPr>
          <a:xfrm>
            <a:off x="4345940" y="4208780"/>
            <a:ext cx="1600835" cy="511175"/>
          </a:xfrm>
          <a:prstGeom prst="roundRect">
            <a:avLst>
              <a:gd name="adj" fmla="val 50000"/>
            </a:avLst>
          </a:prstGeom>
          <a:solidFill>
            <a:schemeClr val="accent1"/>
          </a:solidFill>
          <a:ln w="19050" cap="flat" cmpd="sng" algn="ctr">
            <a:noFill/>
            <a:prstDash val="solid"/>
            <a:miter lim="800000"/>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dirty="0">
              <a:ln>
                <a:noFill/>
              </a:ln>
              <a:solidFill>
                <a:srgbClr val="158BDB"/>
              </a:solidFill>
              <a:effectLst/>
              <a:uLnTx/>
              <a:uFillTx/>
              <a:latin typeface="DIN"/>
              <a:ea typeface="思源黑体 CN Medium"/>
              <a:cs typeface="+mn-cs"/>
            </a:endParaRPr>
          </a:p>
        </p:txBody>
      </p:sp>
      <p:sp>
        <p:nvSpPr>
          <p:cNvPr id="17" name="矩形: 圆角 16"/>
          <p:cNvSpPr/>
          <p:nvPr/>
        </p:nvSpPr>
        <p:spPr>
          <a:xfrm>
            <a:off x="4345940" y="4848577"/>
            <a:ext cx="1600835" cy="511175"/>
          </a:xfrm>
          <a:prstGeom prst="roundRect">
            <a:avLst>
              <a:gd name="adj" fmla="val 50000"/>
            </a:avLst>
          </a:prstGeom>
          <a:solidFill>
            <a:schemeClr val="accent1"/>
          </a:solidFill>
          <a:ln w="19050" cap="flat" cmpd="sng" algn="ctr">
            <a:noFill/>
            <a:prstDash val="solid"/>
            <a:miter lim="800000"/>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dirty="0">
              <a:ln>
                <a:noFill/>
              </a:ln>
              <a:solidFill>
                <a:srgbClr val="158BDB"/>
              </a:solidFill>
              <a:effectLst/>
              <a:uLnTx/>
              <a:uFillTx/>
              <a:latin typeface="DIN"/>
              <a:ea typeface="思源黑体 CN Medium"/>
              <a:cs typeface="+mn-cs"/>
            </a:endParaRPr>
          </a:p>
        </p:txBody>
      </p:sp>
      <p:sp>
        <p:nvSpPr>
          <p:cNvPr id="34" name="文本框 12"/>
          <p:cNvSpPr txBox="1"/>
          <p:nvPr/>
        </p:nvSpPr>
        <p:spPr>
          <a:xfrm>
            <a:off x="4444049" y="4897413"/>
            <a:ext cx="1402080" cy="460375"/>
          </a:xfrm>
          <a:prstGeom prst="rect">
            <a:avLst/>
          </a:prstGeom>
          <a:noFill/>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dirty="0">
                <a:ln>
                  <a:noFill/>
                </a:ln>
                <a:solidFill>
                  <a:prstClr val="white"/>
                </a:solidFill>
                <a:effectLst/>
                <a:uLnTx/>
                <a:uFillTx/>
                <a:latin typeface="思源黑体 CN Bold"/>
                <a:ea typeface="思源黑体 CN Bold"/>
              </a:rPr>
              <a:t>汇报日期</a:t>
            </a:r>
            <a:endParaRPr kumimoji="0" lang="zh-CN" altLang="en-US" sz="2400" b="0" i="0" u="none" strike="noStrike" kern="0" cap="none" spc="0" normalizeH="0" baseline="0" noProof="0" dirty="0">
              <a:ln>
                <a:noFill/>
              </a:ln>
              <a:solidFill>
                <a:prstClr val="white"/>
              </a:solidFill>
              <a:effectLst/>
              <a:uLnTx/>
              <a:uFillTx/>
              <a:latin typeface="思源黑体 CN Bold"/>
              <a:ea typeface="思源黑体 CN Bold"/>
            </a:endParaRPr>
          </a:p>
        </p:txBody>
      </p:sp>
      <p:sp>
        <p:nvSpPr>
          <p:cNvPr id="24" name="矩形: 圆角 23"/>
          <p:cNvSpPr/>
          <p:nvPr/>
        </p:nvSpPr>
        <p:spPr>
          <a:xfrm>
            <a:off x="5588972" y="4860895"/>
            <a:ext cx="2541905" cy="501015"/>
          </a:xfrm>
          <a:prstGeom prst="roundRect">
            <a:avLst>
              <a:gd name="adj" fmla="val 0"/>
            </a:avLst>
          </a:prstGeom>
          <a:gradFill>
            <a:gsLst>
              <a:gs pos="0">
                <a:schemeClr val="accent1">
                  <a:alpha val="0"/>
                </a:schemeClr>
              </a:gs>
              <a:gs pos="100000">
                <a:schemeClr val="accent1">
                  <a:alpha val="15000"/>
                </a:schemeClr>
              </a:gs>
            </a:gsLst>
            <a:lin ang="10800000" scaled="0"/>
          </a:gradFill>
          <a:ln w="19050" cap="flat" cmpd="sng" algn="ctr">
            <a:noFill/>
            <a:prstDash val="solid"/>
            <a:miter lim="800000"/>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dirty="0">
              <a:ln>
                <a:noFill/>
              </a:ln>
              <a:solidFill>
                <a:prstClr val="white"/>
              </a:solidFill>
              <a:effectLst/>
              <a:uLnTx/>
              <a:uFillTx/>
              <a:latin typeface="DIN"/>
              <a:ea typeface="思源黑体 CN Medium"/>
              <a:cs typeface="+mn-cs"/>
            </a:endParaRPr>
          </a:p>
        </p:txBody>
      </p:sp>
      <p:sp>
        <p:nvSpPr>
          <p:cNvPr id="35" name="文本框 13"/>
          <p:cNvSpPr txBox="1"/>
          <p:nvPr/>
        </p:nvSpPr>
        <p:spPr>
          <a:xfrm>
            <a:off x="5633421" y="4872391"/>
            <a:ext cx="2453005" cy="460375"/>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r>
              <a:rPr lang="en-US" altLang="zh-CN" sz="2400" kern="0" dirty="0">
                <a:solidFill>
                  <a:schemeClr val="accent1"/>
                </a:solidFill>
                <a:latin typeface="思源黑体 CN Bold"/>
                <a:ea typeface="思源黑体 CN Bold"/>
              </a:rPr>
              <a:t>2026.3.14</a:t>
            </a:r>
            <a:endParaRPr kumimoji="0" lang="en-US" altLang="zh-CN" sz="2400" b="0" i="0" u="none" strike="noStrike" kern="0" cap="none" spc="0" normalizeH="0" baseline="0" noProof="0" dirty="0">
              <a:ln>
                <a:noFill/>
              </a:ln>
              <a:solidFill>
                <a:schemeClr val="accent1"/>
              </a:solidFill>
              <a:effectLst/>
              <a:uLnTx/>
              <a:uFillTx/>
              <a:latin typeface="思源黑体 CN Bold"/>
              <a:ea typeface="思源黑体 CN Bold"/>
            </a:endParaRPr>
          </a:p>
        </p:txBody>
      </p:sp>
      <p:sp>
        <p:nvSpPr>
          <p:cNvPr id="20" name="文本框 12"/>
          <p:cNvSpPr txBox="1"/>
          <p:nvPr/>
        </p:nvSpPr>
        <p:spPr>
          <a:xfrm>
            <a:off x="4414026" y="4239618"/>
            <a:ext cx="1415772" cy="461665"/>
          </a:xfrm>
          <a:prstGeom prst="rect">
            <a:avLst/>
          </a:prstGeom>
          <a:noFill/>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r>
              <a:rPr lang="zh-CN" altLang="en-US" sz="2400" kern="0" dirty="0">
                <a:solidFill>
                  <a:prstClr val="white"/>
                </a:solidFill>
                <a:latin typeface="思源黑体 CN Bold"/>
                <a:ea typeface="思源黑体 CN Bold"/>
              </a:rPr>
              <a:t>项目成员</a:t>
            </a:r>
            <a:endParaRPr kumimoji="0" lang="zh-CN" altLang="en-US" sz="2400" b="0" i="0" u="none" strike="noStrike" kern="0" cap="none" spc="0" normalizeH="0" baseline="0" noProof="0" dirty="0">
              <a:ln>
                <a:noFill/>
              </a:ln>
              <a:solidFill>
                <a:prstClr val="white"/>
              </a:solidFill>
              <a:effectLst/>
              <a:uLnTx/>
              <a:uFillTx/>
              <a:latin typeface="思源黑体 CN Bold"/>
              <a:ea typeface="思源黑体 CN Bold"/>
            </a:endParaRPr>
          </a:p>
        </p:txBody>
      </p:sp>
      <p:pic>
        <p:nvPicPr>
          <p:cNvPr id="27" name="图片 2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182014" y="102721"/>
            <a:ext cx="1800318" cy="540096"/>
          </a:xfrm>
          <a:prstGeom prst="rect">
            <a:avLst/>
          </a:prstGeom>
        </p:spPr>
      </p:pic>
      <p:sp>
        <p:nvSpPr>
          <p:cNvPr id="2" name="文本框 13"/>
          <p:cNvSpPr txBox="1"/>
          <p:nvPr/>
        </p:nvSpPr>
        <p:spPr>
          <a:xfrm>
            <a:off x="5956939" y="4221663"/>
            <a:ext cx="4381832" cy="461665"/>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defRPr/>
            </a:pPr>
            <a:r>
              <a:rPr lang="zh-CN" altLang="en-US" sz="2400" kern="0" dirty="0">
                <a:solidFill>
                  <a:schemeClr val="accent1"/>
                </a:solidFill>
                <a:latin typeface="思源黑体 CN Bold"/>
                <a:ea typeface="思源黑体 CN Bold"/>
              </a:rPr>
              <a:t>金振宇 王明睿 赵禺赫 罗子轩 </a:t>
            </a:r>
            <a:endParaRPr kumimoji="0" lang="en-US" altLang="zh-CN" sz="2400" b="0" i="0" u="none" strike="noStrike" kern="0" cap="none" spc="0" normalizeH="0" baseline="0" noProof="0" dirty="0">
              <a:ln>
                <a:noFill/>
              </a:ln>
              <a:solidFill>
                <a:schemeClr val="accent1"/>
              </a:solidFill>
              <a:effectLst/>
              <a:uLnTx/>
              <a:uFillTx/>
              <a:latin typeface="思源黑体 CN Bold"/>
              <a:ea typeface="思源黑体 CN Bo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图片 3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12560"/>
            <a:ext cx="12192000" cy="6832879"/>
          </a:xfrm>
          <a:prstGeom prst="rect">
            <a:avLst/>
          </a:prstGeom>
        </p:spPr>
      </p:pic>
      <p:pic>
        <p:nvPicPr>
          <p:cNvPr id="8" name="图片 7" descr="碗里面&#10;&#10;中度可信度描述已自动生成"/>
          <p:cNvPicPr>
            <a:picLocks noChangeAspect="1"/>
          </p:cNvPicPr>
          <p:nvPr/>
        </p:nvPicPr>
        <p:blipFill rotWithShape="1">
          <a:blip r:embed="rId2">
            <a:alphaModFix amt="20000"/>
            <a:extLst>
              <a:ext uri="{28A0092B-C50C-407E-A947-70E740481C1C}">
                <a14:useLocalDpi xmlns:a14="http://schemas.microsoft.com/office/drawing/2010/main" val="0"/>
              </a:ext>
            </a:extLst>
          </a:blip>
          <a:srcRect t="-1" b="36137"/>
          <a:stretch>
            <a:fillRect/>
          </a:stretch>
        </p:blipFill>
        <p:spPr>
          <a:xfrm>
            <a:off x="0" y="-1"/>
            <a:ext cx="12192000" cy="4949371"/>
          </a:xfrm>
          <a:prstGeom prst="rect">
            <a:avLst/>
          </a:prstGeom>
        </p:spPr>
      </p:pic>
      <p:sp>
        <p:nvSpPr>
          <p:cNvPr id="38" name="矩形 37"/>
          <p:cNvSpPr/>
          <p:nvPr/>
        </p:nvSpPr>
        <p:spPr>
          <a:xfrm>
            <a:off x="635" y="-22860"/>
            <a:ext cx="12192000" cy="6868160"/>
          </a:xfrm>
          <a:prstGeom prst="rect">
            <a:avLst/>
          </a:prstGeom>
          <a:gradFill>
            <a:gsLst>
              <a:gs pos="0">
                <a:schemeClr val="bg1">
                  <a:alpha val="85000"/>
                </a:schemeClr>
              </a:gs>
              <a:gs pos="47000">
                <a:schemeClr val="bg1"/>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2" name="Picture 8"/>
          <p:cNvPicPr>
            <a:picLocks noChangeAspect="1"/>
          </p:cNvPicPr>
          <p:nvPr/>
        </p:nvPicPr>
        <p:blipFill>
          <a:blip r:embed="rId3">
            <a:alphaModFix amt="79000"/>
          </a:blip>
          <a:stretch>
            <a:fillRect/>
          </a:stretch>
        </p:blipFill>
        <p:spPr>
          <a:xfrm rot="10800000" flipH="1">
            <a:off x="-26670" y="-22860"/>
            <a:ext cx="12212320" cy="4164965"/>
          </a:xfrm>
          <a:prstGeom prst="rect">
            <a:avLst/>
          </a:prstGeom>
        </p:spPr>
      </p:pic>
      <p:grpSp>
        <p:nvGrpSpPr>
          <p:cNvPr id="4" name="组合 3"/>
          <p:cNvGrpSpPr/>
          <p:nvPr/>
        </p:nvGrpSpPr>
        <p:grpSpPr>
          <a:xfrm>
            <a:off x="5715" y="612140"/>
            <a:ext cx="12192000" cy="828040"/>
            <a:chOff x="0" y="1645923"/>
            <a:chExt cx="12192000" cy="1649771"/>
          </a:xfrm>
        </p:grpSpPr>
        <p:pic>
          <p:nvPicPr>
            <p:cNvPr id="3" name="图片 2"/>
            <p:cNvPicPr>
              <a:picLocks noChangeAspect="1" noChangeArrowheads="1"/>
            </p:cNvPicPr>
            <p:nvPr/>
          </p:nvPicPr>
          <p:blipFill>
            <a:blip r:embed="rId4" cstate="print">
              <a:extLst>
                <a:ext uri="{28A0092B-C50C-407E-A947-70E740481C1C}">
                  <a14:useLocalDpi xmlns:a14="http://schemas.microsoft.com/office/drawing/2010/main" val="0"/>
                </a:ext>
              </a:extLst>
            </a:blip>
            <a:srcRect t="25972" b="41251"/>
            <a:stretch>
              <a:fillRect/>
            </a:stretch>
          </p:blipFill>
          <p:spPr bwMode="auto">
            <a:xfrm>
              <a:off x="0" y="1645923"/>
              <a:ext cx="12192000" cy="16497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文本框 5"/>
            <p:cNvSpPr txBox="1"/>
            <p:nvPr/>
          </p:nvSpPr>
          <p:spPr>
            <a:xfrm>
              <a:off x="1366520" y="1691643"/>
              <a:ext cx="9488805" cy="830997"/>
            </a:xfrm>
            <a:prstGeom prst="rect">
              <a:avLst/>
            </a:prstGeom>
            <a:noFill/>
          </p:spPr>
          <p:txBody>
            <a:bodyPr wrap="square">
              <a:spAutoFit/>
            </a:bodyPr>
            <a:lstStyle/>
            <a:p>
              <a:pPr lvl="0" algn="dist" defTabSz="457200">
                <a:defRPr/>
              </a:pPr>
              <a:endParaRPr kumimoji="0" lang="zh-CN" altLang="en-US" sz="4800" b="1" i="0" u="none" strike="noStrike" kern="0" cap="none" spc="300" normalizeH="0" baseline="0" noProof="0" dirty="0">
                <a:ln>
                  <a:noFill/>
                </a:ln>
                <a:solidFill>
                  <a:schemeClr val="bg1"/>
                </a:solidFill>
                <a:effectLst>
                  <a:outerShdw blurRad="50800" dist="25400" dir="5400000" algn="t" rotWithShape="0">
                    <a:srgbClr val="0B4FA1">
                      <a:lumMod val="50000"/>
                      <a:alpha val="15000"/>
                    </a:srgbClr>
                  </a:outerShdw>
                </a:effectLst>
                <a:uLnTx/>
                <a:uFillTx/>
                <a:latin typeface="微软雅黑" panose="020B0503020204020204" pitchFamily="34" charset="-122"/>
                <a:ea typeface="微软雅黑" panose="020B0503020204020204" pitchFamily="34" charset="-122"/>
              </a:endParaRPr>
            </a:p>
          </p:txBody>
        </p:sp>
      </p:grpSp>
      <p:sp>
        <p:nvSpPr>
          <p:cNvPr id="5" name="文本框 4"/>
          <p:cNvSpPr txBox="1"/>
          <p:nvPr/>
        </p:nvSpPr>
        <p:spPr>
          <a:xfrm>
            <a:off x="196130" y="634804"/>
            <a:ext cx="2324735" cy="768350"/>
          </a:xfrm>
          <a:prstGeom prst="rect">
            <a:avLst/>
          </a:prstGeom>
          <a:noFill/>
        </p:spPr>
        <p:txBody>
          <a:bodyPr wrap="none">
            <a:spAutoFit/>
          </a:bodyPr>
          <a:lstStyle/>
          <a:p>
            <a:pPr algn="ctr" defTabSz="457200"/>
            <a:r>
              <a:rPr lang="en-US" altLang="zh-CN" sz="4400" b="1" dirty="0">
                <a:solidFill>
                  <a:schemeClr val="bg1"/>
                </a:solidFill>
                <a:effectLst>
                  <a:outerShdw blurRad="88900" dist="25400" dir="5400000" algn="t" rotWithShape="0">
                    <a:srgbClr val="0B4FA1">
                      <a:lumMod val="50000"/>
                      <a:alpha val="10000"/>
                    </a:srgbClr>
                  </a:outerShdw>
                </a:effectLst>
                <a:latin typeface="Times New Roman" panose="02020603050405020304" pitchFamily="18" charset="0"/>
                <a:ea typeface="微软雅黑" panose="020B0503020204020204" pitchFamily="34" charset="-122"/>
                <a:cs typeface="Times New Roman" panose="02020603050405020304" pitchFamily="18" charset="0"/>
              </a:rPr>
              <a:t>Contract</a:t>
            </a:r>
            <a:endParaRPr lang="en-US" altLang="zh-CN" sz="4400" b="1" dirty="0">
              <a:solidFill>
                <a:schemeClr val="bg1"/>
              </a:solidFill>
              <a:effectLst>
                <a:outerShdw blurRad="88900" dist="25400" dir="5400000" algn="t" rotWithShape="0">
                  <a:srgbClr val="0B4FA1">
                    <a:lumMod val="50000"/>
                    <a:alpha val="10000"/>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0" name="矩形: 圆角 9"/>
          <p:cNvSpPr/>
          <p:nvPr/>
        </p:nvSpPr>
        <p:spPr>
          <a:xfrm>
            <a:off x="5715" y="1440180"/>
            <a:ext cx="12180570" cy="5405120"/>
          </a:xfrm>
          <a:prstGeom prst="roundRect">
            <a:avLst>
              <a:gd name="adj" fmla="val 0"/>
            </a:avLst>
          </a:prstGeom>
          <a:gradFill>
            <a:gsLst>
              <a:gs pos="0">
                <a:schemeClr val="accent1">
                  <a:alpha val="0"/>
                </a:schemeClr>
              </a:gs>
              <a:gs pos="100000">
                <a:schemeClr val="accent1">
                  <a:alpha val="15000"/>
                </a:schemeClr>
              </a:gs>
            </a:gsLst>
            <a:lin ang="10800000" scaled="0"/>
          </a:gra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dirty="0">
              <a:ln>
                <a:noFill/>
              </a:ln>
              <a:solidFill>
                <a:prstClr val="white"/>
              </a:solidFill>
              <a:effectLst/>
              <a:uLnTx/>
              <a:uFillTx/>
              <a:latin typeface="DIN"/>
              <a:ea typeface="思源黑体 CN Medium"/>
              <a:cs typeface="+mn-cs"/>
            </a:endParaRPr>
          </a:p>
        </p:txBody>
      </p:sp>
      <p:sp>
        <p:nvSpPr>
          <p:cNvPr id="2" name="文本框 13"/>
          <p:cNvSpPr txBox="1"/>
          <p:nvPr/>
        </p:nvSpPr>
        <p:spPr>
          <a:xfrm>
            <a:off x="196215" y="1842770"/>
            <a:ext cx="11786235" cy="4391660"/>
          </a:xfrm>
          <a:prstGeom prst="rect">
            <a:avLst/>
          </a:prstGeom>
          <a:noFill/>
        </p:spPr>
        <p:txBody>
          <a:bodyPr wrap="square">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57200" lvl="0" indent="-457200" algn="l">
              <a:buFont typeface="+mj-lt"/>
              <a:buAutoNum type="arabicPeriod"/>
              <a:defRPr/>
            </a:pPr>
            <a:r>
              <a:rPr kumimoji="0" lang="en-US" altLang="zh-CN" sz="3200" b="0" i="0" u="none" strike="noStrike" kern="0" cap="none" spc="0" normalizeH="0" baseline="0" noProof="0" dirty="0">
                <a:ln>
                  <a:noFill/>
                </a:ln>
                <a:solidFill>
                  <a:schemeClr val="accent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Project Background and Topic Selection</a:t>
            </a:r>
            <a:endParaRPr kumimoji="0" lang="en-US" altLang="zh-CN" sz="3200" b="0" i="0" u="none" strike="noStrike" kern="0" cap="none" spc="0" normalizeH="0" baseline="0" noProof="0" dirty="0">
              <a:ln>
                <a:noFill/>
              </a:ln>
              <a:solidFill>
                <a:schemeClr val="accent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457200" lvl="0" indent="-457200" algn="l">
              <a:buFont typeface="+mj-lt"/>
              <a:buAutoNum type="arabicPeriod"/>
              <a:defRPr/>
            </a:pPr>
            <a:r>
              <a:rPr lang="pt-BR" altLang="zh-CN" sz="3200"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sym typeface="+mn-ea"/>
              </a:rPr>
              <a:t>Structure</a:t>
            </a:r>
            <a:endParaRPr kumimoji="0" lang="en-US" altLang="zh-CN" sz="3200" i="0" u="none" strike="noStrike" kern="0" cap="none" spc="0" normalizeH="0" baseline="0" noProof="0" dirty="0">
              <a:ln>
                <a:noFill/>
              </a:ln>
              <a:solidFill>
                <a:schemeClr val="accent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457200" lvl="0" indent="-457200" algn="l">
              <a:buFont typeface="+mj-lt"/>
              <a:buAutoNum type="arabicPeriod"/>
              <a:defRPr/>
            </a:pPr>
            <a:r>
              <a:rPr kumimoji="0" lang="en-US" altLang="zh-CN" sz="3200" b="0" i="0" u="none" strike="noStrike" kern="0" cap="none" spc="0" normalizeH="0" baseline="0" noProof="0" dirty="0">
                <a:ln>
                  <a:noFill/>
                </a:ln>
                <a:solidFill>
                  <a:schemeClr val="accent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Control</a:t>
            </a:r>
            <a:endParaRPr kumimoji="0" lang="en-US" altLang="zh-CN" sz="3200" b="0" i="0" u="none" strike="noStrike" kern="0" cap="none" spc="0" normalizeH="0" baseline="0" noProof="0" dirty="0">
              <a:ln>
                <a:noFill/>
              </a:ln>
              <a:solidFill>
                <a:schemeClr val="accent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457200" lvl="0" indent="-457200" algn="l">
              <a:buFont typeface="+mj-lt"/>
              <a:buAutoNum type="arabicPeriod"/>
              <a:defRPr/>
            </a:pPr>
            <a:r>
              <a:rPr kumimoji="0" lang="en-US" altLang="zh-CN" sz="3200" b="0" i="0" u="none" strike="noStrike" kern="0" cap="none" spc="0" normalizeH="0" baseline="0" noProof="0" dirty="0">
                <a:ln>
                  <a:noFill/>
                </a:ln>
                <a:solidFill>
                  <a:schemeClr val="accent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Electronic</a:t>
            </a:r>
            <a:endParaRPr kumimoji="0" lang="en-US" altLang="zh-CN" sz="3200" b="0" i="0" u="none" strike="noStrike" kern="0" cap="none" spc="0" normalizeH="0" baseline="0" noProof="0" dirty="0">
              <a:ln>
                <a:noFill/>
              </a:ln>
              <a:solidFill>
                <a:schemeClr val="accent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457200" lvl="0" indent="-457200" algn="l">
              <a:buFont typeface="+mj-lt"/>
              <a:buAutoNum type="arabicPeriod"/>
              <a:defRPr/>
            </a:pPr>
            <a:r>
              <a:rPr kumimoji="0" lang="en-US" altLang="zh-CN" sz="3200" b="0" i="0" u="none" strike="noStrike" kern="0" cap="none" spc="0" normalizeH="0" baseline="0" noProof="0" dirty="0">
                <a:ln>
                  <a:noFill/>
                </a:ln>
                <a:solidFill>
                  <a:schemeClr val="accent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Vision</a:t>
            </a:r>
            <a:endParaRPr kumimoji="0" lang="en-US" altLang="zh-CN" sz="3200" b="0" i="0" u="none" strike="noStrike" kern="0" cap="none" spc="0" normalizeH="0" baseline="0" noProof="0" dirty="0">
              <a:ln>
                <a:noFill/>
              </a:ln>
              <a:solidFill>
                <a:schemeClr val="accent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457200" lvl="0" indent="-457200" algn="l">
              <a:buFont typeface="+mj-lt"/>
              <a:buAutoNum type="arabicPeriod"/>
              <a:defRPr/>
            </a:pPr>
            <a:r>
              <a:rPr kumimoji="0" lang="en-US" altLang="zh-CN" sz="3200" b="0" i="0" u="none" strike="noStrike" kern="0" cap="none" spc="0" normalizeH="0" baseline="0" noProof="0" dirty="0">
                <a:ln>
                  <a:noFill/>
                </a:ln>
                <a:solidFill>
                  <a:schemeClr val="accent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Software</a:t>
            </a:r>
            <a:endParaRPr kumimoji="0" lang="en-US" altLang="zh-CN" sz="3200" b="0" i="0" u="none" strike="noStrike" kern="0" cap="none" spc="0" normalizeH="0" baseline="0" noProof="0" dirty="0">
              <a:ln>
                <a:noFill/>
              </a:ln>
              <a:solidFill>
                <a:schemeClr val="accent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457200" lvl="0" indent="-457200" algn="l">
              <a:buFont typeface="+mj-lt"/>
              <a:buAutoNum type="arabicPeriod"/>
              <a:defRPr/>
            </a:pPr>
            <a:r>
              <a:rPr kumimoji="0" lang="en-US" altLang="zh-CN" sz="3200" b="0" i="0" u="none" strike="noStrike" kern="0" cap="none" spc="0" normalizeH="0" baseline="0" noProof="0" dirty="0">
                <a:ln>
                  <a:noFill/>
                </a:ln>
                <a:solidFill>
                  <a:schemeClr val="accent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Budget</a:t>
            </a:r>
            <a:endParaRPr kumimoji="0" lang="en-US" altLang="zh-CN" sz="3200" b="0" i="0" u="none" strike="noStrike" kern="0" cap="none" spc="0" normalizeH="0" baseline="0" noProof="0" dirty="0">
              <a:ln>
                <a:noFill/>
              </a:ln>
              <a:solidFill>
                <a:schemeClr val="accent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457200" lvl="0" indent="-457200" algn="l">
              <a:buFont typeface="+mj-lt"/>
              <a:buAutoNum type="arabicPeriod"/>
              <a:defRPr/>
            </a:pPr>
            <a:r>
              <a:rPr kumimoji="0" lang="en-US" altLang="zh-CN" sz="3200" b="0" i="0" u="none" strike="noStrike" kern="0" cap="none" spc="0" normalizeH="0" baseline="0" noProof="0" dirty="0">
                <a:ln>
                  <a:noFill/>
                </a:ln>
                <a:solidFill>
                  <a:schemeClr val="accent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Summary</a:t>
            </a:r>
            <a:endParaRPr kumimoji="0" lang="en-US" altLang="zh-CN" sz="3200" b="0" i="0" u="none" strike="noStrike" kern="0" cap="none" spc="0" normalizeH="0" baseline="0" noProof="0" dirty="0">
              <a:ln>
                <a:noFill/>
              </a:ln>
              <a:solidFill>
                <a:schemeClr val="accent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27" name="图片 2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182014" y="102721"/>
            <a:ext cx="1800318" cy="54009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 name="图片 32"/>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182014" y="102721"/>
            <a:ext cx="1800318" cy="540096"/>
          </a:xfrm>
          <a:prstGeom prst="rect">
            <a:avLst/>
          </a:prstGeom>
        </p:spPr>
      </p:pic>
      <p:sp>
        <p:nvSpPr>
          <p:cNvPr id="10" name="文本框 40"/>
          <p:cNvSpPr txBox="1"/>
          <p:nvPr/>
        </p:nvSpPr>
        <p:spPr>
          <a:xfrm>
            <a:off x="442469" y="25378"/>
            <a:ext cx="7395210" cy="522605"/>
          </a:xfrm>
          <a:prstGeom prst="rect">
            <a:avLst/>
          </a:prstGeom>
          <a:noFill/>
        </p:spPr>
        <p:txBody>
          <a:bodyPr wrap="non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altLang="zh-CN" sz="34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Project Background and Topic Selection</a:t>
            </a:r>
            <a:endParaRPr lang="en-US" altLang="zh-CN" sz="34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endParaRPr>
          </a:p>
        </p:txBody>
      </p:sp>
      <p:cxnSp>
        <p:nvCxnSpPr>
          <p:cNvPr id="26" name="PA-直接连接符 17"/>
          <p:cNvCxnSpPr/>
          <p:nvPr>
            <p:custDataLst>
              <p:tags r:id="rId2"/>
            </p:custDataLst>
          </p:nvPr>
        </p:nvCxnSpPr>
        <p:spPr>
          <a:xfrm>
            <a:off x="442468" y="580780"/>
            <a:ext cx="11307064" cy="0"/>
          </a:xfrm>
          <a:prstGeom prst="line">
            <a:avLst/>
          </a:prstGeom>
          <a:gradFill flip="none" rotWithShape="1">
            <a:gsLst>
              <a:gs pos="0">
                <a:srgbClr val="E6564F"/>
              </a:gs>
              <a:gs pos="70000">
                <a:srgbClr val="D12A22"/>
              </a:gs>
            </a:gsLst>
            <a:lin ang="5400000" scaled="1"/>
            <a:tileRect/>
          </a:gradFill>
          <a:ln w="19050" cap="flat" cmpd="sng" algn="ctr">
            <a:gradFill>
              <a:gsLst>
                <a:gs pos="30000">
                  <a:schemeClr val="accent1"/>
                </a:gs>
                <a:gs pos="100000">
                  <a:schemeClr val="accent6">
                    <a:lumMod val="0"/>
                    <a:lumOff val="100000"/>
                  </a:schemeClr>
                </a:gs>
              </a:gsLst>
              <a:lin ang="0" scaled="0"/>
            </a:gradFill>
            <a:prstDash val="solid"/>
            <a:miter lim="800000"/>
          </a:ln>
          <a:effectLst/>
        </p:spPr>
      </p:cxnSp>
      <p:sp>
        <p:nvSpPr>
          <p:cNvPr id="13" name="文本框 12"/>
          <p:cNvSpPr txBox="1"/>
          <p:nvPr/>
        </p:nvSpPr>
        <p:spPr>
          <a:xfrm>
            <a:off x="442595" y="706120"/>
            <a:ext cx="5634355" cy="460375"/>
          </a:xfrm>
          <a:prstGeom prst="rect">
            <a:avLst/>
          </a:prstGeom>
          <a:noFill/>
        </p:spPr>
        <p:txBody>
          <a:bodyPr wrap="square" rtlCol="0">
            <a:spAutoFit/>
          </a:bodyPr>
          <a:p>
            <a:r>
              <a:rPr lang="en-US" altLang="zh-CN" sz="2400" b="1">
                <a:latin typeface="Times New Roman" panose="02020603050405020304" pitchFamily="18" charset="0"/>
                <a:cs typeface="Times New Roman" panose="02020603050405020304" pitchFamily="18" charset="0"/>
              </a:rPr>
              <a:t>Market Background &amp; Industry Needs</a:t>
            </a:r>
            <a:endParaRPr lang="en-US" altLang="zh-CN" sz="2400" b="1">
              <a:latin typeface="Times New Roman" panose="02020603050405020304" pitchFamily="18" charset="0"/>
              <a:cs typeface="Times New Roman" panose="02020603050405020304" pitchFamily="18" charset="0"/>
            </a:endParaRPr>
          </a:p>
        </p:txBody>
      </p:sp>
      <p:sp>
        <p:nvSpPr>
          <p:cNvPr id="14" name="文本框 13"/>
          <p:cNvSpPr txBox="1"/>
          <p:nvPr/>
        </p:nvSpPr>
        <p:spPr>
          <a:xfrm>
            <a:off x="483235" y="1247140"/>
            <a:ext cx="5770880" cy="645160"/>
          </a:xfrm>
          <a:prstGeom prst="rect">
            <a:avLst/>
          </a:prstGeom>
          <a:noFill/>
        </p:spPr>
        <p:txBody>
          <a:bodyPr wrap="square" rtlCol="0">
            <a:spAutoFit/>
          </a:bodyPr>
          <a:p>
            <a:r>
              <a:rPr lang="en-US" altLang="zh-CN">
                <a:latin typeface="Times New Roman" panose="02020603050405020304" pitchFamily="18" charset="0"/>
                <a:cs typeface="Times New Roman" panose="02020603050405020304" pitchFamily="18" charset="0"/>
              </a:rPr>
              <a:t>The demand for agile maneuvering has surged, while traditional chassis have encountered bottlenecks.</a:t>
            </a:r>
            <a:endParaRPr lang="en-US" altLang="zh-CN">
              <a:latin typeface="Times New Roman" panose="02020603050405020304" pitchFamily="18" charset="0"/>
              <a:cs typeface="Times New Roman" panose="02020603050405020304" pitchFamily="18" charset="0"/>
            </a:endParaRPr>
          </a:p>
        </p:txBody>
      </p:sp>
      <p:sp>
        <p:nvSpPr>
          <p:cNvPr id="15" name="文本框 14"/>
          <p:cNvSpPr txBox="1"/>
          <p:nvPr/>
        </p:nvSpPr>
        <p:spPr>
          <a:xfrm>
            <a:off x="483235" y="2085975"/>
            <a:ext cx="5490210" cy="4523105"/>
          </a:xfrm>
          <a:prstGeom prst="rect">
            <a:avLst/>
          </a:prstGeom>
          <a:noFill/>
        </p:spPr>
        <p:txBody>
          <a:bodyPr wrap="square" rtlCol="0">
            <a:spAutoFit/>
          </a:bodyPr>
          <a:p>
            <a:r>
              <a:rPr lang="en-US" altLang="zh-CN" b="1">
                <a:solidFill>
                  <a:srgbClr val="2B52B7"/>
                </a:solidFill>
                <a:latin typeface="Times New Roman" panose="02020603050405020304" pitchFamily="18" charset="0"/>
                <a:cs typeface="Times New Roman" panose="02020603050405020304" pitchFamily="18" charset="0"/>
              </a:rPr>
              <a:t>Macro Demand:</a:t>
            </a:r>
            <a:r>
              <a:rPr lang="en-US" altLang="zh-CN">
                <a:latin typeface="Times New Roman" panose="02020603050405020304" pitchFamily="18" charset="0"/>
                <a:cs typeface="Times New Roman" panose="02020603050405020304" pitchFamily="18" charset="0"/>
              </a:rPr>
              <a:t> In complex scenarios such as intelligent manufacturing, warehouse logistics, and disaster area reconnaissance, robots need to shuttle and track targets with high precision in narrow, unstructured spaces.</a:t>
            </a:r>
            <a:endParaRPr lang="en-US" altLang="zh-CN">
              <a:latin typeface="Times New Roman" panose="02020603050405020304" pitchFamily="18" charset="0"/>
              <a:cs typeface="Times New Roman" panose="02020603050405020304" pitchFamily="18" charset="0"/>
            </a:endParaRPr>
          </a:p>
          <a:p>
            <a:endParaRPr lang="en-US" altLang="zh-CN" b="1">
              <a:solidFill>
                <a:srgbClr val="2B52B7"/>
              </a:solidFill>
              <a:latin typeface="Times New Roman" panose="02020603050405020304" pitchFamily="18" charset="0"/>
              <a:cs typeface="Times New Roman" panose="02020603050405020304" pitchFamily="18" charset="0"/>
            </a:endParaRPr>
          </a:p>
          <a:p>
            <a:r>
              <a:rPr lang="en-US" altLang="zh-CN" b="1">
                <a:solidFill>
                  <a:srgbClr val="2B52B7"/>
                </a:solidFill>
                <a:latin typeface="Times New Roman" panose="02020603050405020304" pitchFamily="18" charset="0"/>
                <a:cs typeface="Times New Roman" panose="02020603050405020304" pitchFamily="18" charset="0"/>
              </a:rPr>
              <a:t>Existing problems:</a:t>
            </a:r>
            <a:r>
              <a:rPr lang="en-US" altLang="zh-CN">
                <a:latin typeface="Times New Roman" panose="02020603050405020304" pitchFamily="18" charset="0"/>
                <a:cs typeface="Times New Roman" panose="02020603050405020304" pitchFamily="18" charset="0"/>
              </a:rPr>
              <a:t> Traditional differential-drive chassis suffer from large turning radius and limited maneuverability. Existing omnidirectional Mecanum-wheel chassis improve mobility, but severe vibration and slippage often occur in practice due to rigid contact.</a:t>
            </a:r>
            <a:endParaRPr lang="en-US" altLang="zh-CN">
              <a:latin typeface="Times New Roman" panose="02020603050405020304" pitchFamily="18" charset="0"/>
              <a:cs typeface="Times New Roman" panose="02020603050405020304" pitchFamily="18" charset="0"/>
            </a:endParaRPr>
          </a:p>
          <a:p>
            <a:endParaRPr lang="en-US" altLang="zh-CN">
              <a:latin typeface="Times New Roman" panose="02020603050405020304" pitchFamily="18" charset="0"/>
              <a:cs typeface="Times New Roman" panose="02020603050405020304" pitchFamily="18" charset="0"/>
            </a:endParaRPr>
          </a:p>
          <a:p>
            <a:r>
              <a:rPr lang="en-US" altLang="zh-CN" b="1">
                <a:solidFill>
                  <a:srgbClr val="2B52B7"/>
                </a:solidFill>
                <a:latin typeface="Times New Roman" panose="02020603050405020304" pitchFamily="18" charset="0"/>
                <a:cs typeface="Times New Roman" panose="02020603050405020304" pitchFamily="18" charset="0"/>
              </a:rPr>
              <a:t>Industry Needs:</a:t>
            </a:r>
            <a:r>
              <a:rPr lang="en-US" altLang="zh-CN">
                <a:latin typeface="Times New Roman" panose="02020603050405020304" pitchFamily="18" charset="0"/>
                <a:cs typeface="Times New Roman" panose="02020603050405020304" pitchFamily="18" charset="0"/>
              </a:rPr>
              <a:t> There is an urgent need for a mobile platform with both extreme </a:t>
            </a:r>
            <a:r>
              <a:rPr lang="en-US" altLang="zh-CN" b="1">
                <a:latin typeface="Times New Roman" panose="02020603050405020304" pitchFamily="18" charset="0"/>
                <a:cs typeface="Times New Roman" panose="02020603050405020304" pitchFamily="18" charset="0"/>
              </a:rPr>
              <a:t>maneuverability</a:t>
            </a:r>
            <a:r>
              <a:rPr lang="en-US" altLang="zh-CN">
                <a:latin typeface="Times New Roman" panose="02020603050405020304" pitchFamily="18" charset="0"/>
                <a:cs typeface="Times New Roman" panose="02020603050405020304" pitchFamily="18" charset="0"/>
              </a:rPr>
              <a:t> and high </a:t>
            </a:r>
            <a:r>
              <a:rPr lang="en-US" altLang="zh-CN" b="1">
                <a:latin typeface="Times New Roman" panose="02020603050405020304" pitchFamily="18" charset="0"/>
                <a:cs typeface="Times New Roman" panose="02020603050405020304" pitchFamily="18" charset="0"/>
              </a:rPr>
              <a:t>all-terrain stability</a:t>
            </a:r>
            <a:r>
              <a:rPr lang="en-US" altLang="zh-CN">
                <a:latin typeface="Times New Roman" panose="02020603050405020304" pitchFamily="18" charset="0"/>
                <a:cs typeface="Times New Roman" panose="02020603050405020304" pitchFamily="18" charset="0"/>
              </a:rPr>
              <a:t> to serve as a reliable carrier for visual tracking and robotic arm operation.</a:t>
            </a:r>
            <a:endParaRPr lang="en-US" altLang="zh-CN">
              <a:latin typeface="Times New Roman" panose="02020603050405020304" pitchFamily="18" charset="0"/>
              <a:cs typeface="Times New Roman" panose="02020603050405020304" pitchFamily="18" charset="0"/>
            </a:endParaRPr>
          </a:p>
        </p:txBody>
      </p:sp>
      <p:pic>
        <p:nvPicPr>
          <p:cNvPr id="16" name="图片 15"/>
          <p:cNvPicPr>
            <a:picLocks noChangeAspect="1"/>
          </p:cNvPicPr>
          <p:nvPr/>
        </p:nvPicPr>
        <p:blipFill>
          <a:blip r:embed="rId3"/>
          <a:stretch>
            <a:fillRect/>
          </a:stretch>
        </p:blipFill>
        <p:spPr>
          <a:xfrm>
            <a:off x="6134100" y="645795"/>
            <a:ext cx="6049010" cy="619823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 name="图片 32"/>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182014" y="102721"/>
            <a:ext cx="1800318" cy="540096"/>
          </a:xfrm>
          <a:prstGeom prst="rect">
            <a:avLst/>
          </a:prstGeom>
        </p:spPr>
      </p:pic>
      <p:sp>
        <p:nvSpPr>
          <p:cNvPr id="10" name="文本框 40"/>
          <p:cNvSpPr txBox="1"/>
          <p:nvPr/>
        </p:nvSpPr>
        <p:spPr>
          <a:xfrm>
            <a:off x="442469" y="25378"/>
            <a:ext cx="7395210" cy="522605"/>
          </a:xfrm>
          <a:prstGeom prst="rect">
            <a:avLst/>
          </a:prstGeom>
          <a:noFill/>
        </p:spPr>
        <p:txBody>
          <a:bodyPr wrap="non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altLang="zh-CN" sz="34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Project Background and Topic Selection</a:t>
            </a:r>
            <a:endParaRPr lang="en-US" altLang="zh-CN" sz="34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endParaRPr>
          </a:p>
        </p:txBody>
      </p:sp>
      <p:cxnSp>
        <p:nvCxnSpPr>
          <p:cNvPr id="26" name="PA-直接连接符 17"/>
          <p:cNvCxnSpPr/>
          <p:nvPr>
            <p:custDataLst>
              <p:tags r:id="rId2"/>
            </p:custDataLst>
          </p:nvPr>
        </p:nvCxnSpPr>
        <p:spPr>
          <a:xfrm>
            <a:off x="442468" y="580780"/>
            <a:ext cx="11307064" cy="0"/>
          </a:xfrm>
          <a:prstGeom prst="line">
            <a:avLst/>
          </a:prstGeom>
          <a:gradFill flip="none" rotWithShape="1">
            <a:gsLst>
              <a:gs pos="0">
                <a:srgbClr val="E6564F"/>
              </a:gs>
              <a:gs pos="70000">
                <a:srgbClr val="D12A22"/>
              </a:gs>
            </a:gsLst>
            <a:lin ang="5400000" scaled="1"/>
            <a:tileRect/>
          </a:gradFill>
          <a:ln w="19050" cap="flat" cmpd="sng" algn="ctr">
            <a:gradFill>
              <a:gsLst>
                <a:gs pos="30000">
                  <a:schemeClr val="accent1"/>
                </a:gs>
                <a:gs pos="100000">
                  <a:schemeClr val="accent6">
                    <a:lumMod val="0"/>
                    <a:lumOff val="100000"/>
                  </a:schemeClr>
                </a:gs>
              </a:gsLst>
              <a:lin ang="0" scaled="0"/>
            </a:gradFill>
            <a:prstDash val="solid"/>
            <a:miter lim="800000"/>
          </a:ln>
          <a:effectLst/>
        </p:spPr>
      </p:cxnSp>
      <p:sp>
        <p:nvSpPr>
          <p:cNvPr id="13" name="文本框 12"/>
          <p:cNvSpPr txBox="1"/>
          <p:nvPr/>
        </p:nvSpPr>
        <p:spPr>
          <a:xfrm>
            <a:off x="372745" y="706120"/>
            <a:ext cx="5861050" cy="460375"/>
          </a:xfrm>
          <a:prstGeom prst="rect">
            <a:avLst/>
          </a:prstGeom>
          <a:noFill/>
        </p:spPr>
        <p:txBody>
          <a:bodyPr wrap="square" rtlCol="0">
            <a:spAutoFit/>
          </a:bodyPr>
          <a:p>
            <a:r>
              <a:rPr lang="en-US" altLang="zh-CN" sz="2400" b="1">
                <a:latin typeface="Times New Roman" panose="02020603050405020304" pitchFamily="18" charset="0"/>
                <a:cs typeface="Times New Roman" panose="02020603050405020304" pitchFamily="18" charset="0"/>
              </a:rPr>
              <a:t>Literature Review &amp; Technical Pain Points</a:t>
            </a:r>
            <a:endParaRPr lang="en-US" altLang="zh-CN" sz="2400" b="1">
              <a:latin typeface="Times New Roman" panose="02020603050405020304" pitchFamily="18" charset="0"/>
              <a:cs typeface="Times New Roman" panose="02020603050405020304" pitchFamily="18" charset="0"/>
            </a:endParaRPr>
          </a:p>
        </p:txBody>
      </p:sp>
      <p:sp>
        <p:nvSpPr>
          <p:cNvPr id="2" name="文本框 1"/>
          <p:cNvSpPr txBox="1"/>
          <p:nvPr/>
        </p:nvSpPr>
        <p:spPr>
          <a:xfrm>
            <a:off x="372745" y="1291590"/>
            <a:ext cx="4720590" cy="5631180"/>
          </a:xfrm>
          <a:prstGeom prst="rect">
            <a:avLst/>
          </a:prstGeom>
          <a:noFill/>
        </p:spPr>
        <p:txBody>
          <a:bodyPr wrap="square" rtlCol="0">
            <a:spAutoFit/>
          </a:bodyPr>
          <a:p>
            <a:r>
              <a:rPr lang="en-US" altLang="zh-CN" b="1">
                <a:solidFill>
                  <a:srgbClr val="2B52B7"/>
                </a:solidFill>
                <a:latin typeface="Times New Roman" panose="02020603050405020304" pitchFamily="18" charset="0"/>
                <a:cs typeface="Times New Roman" panose="02020603050405020304" pitchFamily="18" charset="0"/>
                <a:sym typeface="+mn-ea"/>
              </a:rPr>
              <a:t>Technical Pain Points</a:t>
            </a:r>
            <a:endParaRPr lang="en-US" altLang="zh-CN" b="1">
              <a:solidFill>
                <a:srgbClr val="2B52B7"/>
              </a:solidFill>
              <a:latin typeface="Times New Roman" panose="02020603050405020304" pitchFamily="18" charset="0"/>
              <a:cs typeface="Times New Roman" panose="02020603050405020304" pitchFamily="18" charset="0"/>
            </a:endParaRPr>
          </a:p>
          <a:p>
            <a:endParaRPr lang="en-US" altLang="zh-CN" b="1">
              <a:latin typeface="Times New Roman" panose="02020603050405020304" pitchFamily="18" charset="0"/>
              <a:cs typeface="Times New Roman" panose="02020603050405020304" pitchFamily="18" charset="0"/>
            </a:endParaRPr>
          </a:p>
          <a:p>
            <a:r>
              <a:rPr lang="en-US" altLang="zh-CN" b="1">
                <a:latin typeface="Times New Roman" panose="02020603050405020304" pitchFamily="18" charset="0"/>
                <a:cs typeface="Times New Roman" panose="02020603050405020304" pitchFamily="18" charset="0"/>
              </a:rPr>
              <a:t>Chassis Vibration and Lack of Suspension:</a:t>
            </a:r>
            <a:r>
              <a:rPr lang="en-US" altLang="zh-CN">
                <a:latin typeface="Times New Roman" panose="02020603050405020304" pitchFamily="18" charset="0"/>
                <a:cs typeface="Times New Roman" panose="02020603050405020304" pitchFamily="18" charset="0"/>
              </a:rPr>
              <a:t> Intermittent contact of Mecanum wheel rollers causes periodic vibration, and systems without independent suspension lose grip on uneven roads (Ref. 1, 2).</a:t>
            </a:r>
            <a:endParaRPr lang="en-US" altLang="zh-CN">
              <a:latin typeface="Times New Roman" panose="02020603050405020304" pitchFamily="18" charset="0"/>
              <a:cs typeface="Times New Roman" panose="02020603050405020304" pitchFamily="18" charset="0"/>
            </a:endParaRPr>
          </a:p>
          <a:p>
            <a:endParaRPr lang="en-US" altLang="zh-CN">
              <a:latin typeface="Times New Roman" panose="02020603050405020304" pitchFamily="18" charset="0"/>
              <a:cs typeface="Times New Roman" panose="02020603050405020304" pitchFamily="18" charset="0"/>
            </a:endParaRPr>
          </a:p>
          <a:p>
            <a:r>
              <a:rPr lang="en-US" altLang="zh-CN" b="1">
                <a:latin typeface="Times New Roman" panose="02020603050405020304" pitchFamily="18" charset="0"/>
                <a:cs typeface="Times New Roman" panose="02020603050405020304" pitchFamily="18" charset="0"/>
              </a:rPr>
              <a:t>Nonlinear Slip and Trajectory Drift: </a:t>
            </a:r>
            <a:r>
              <a:rPr lang="en-US" altLang="zh-CN">
                <a:latin typeface="Times New Roman" panose="02020603050405020304" pitchFamily="18" charset="0"/>
                <a:cs typeface="Times New Roman" panose="02020603050405020304" pitchFamily="18" charset="0"/>
              </a:rPr>
              <a:t>Skidding makes ideal kinematic matrices ineffective for accurate dead reckoning, and traditional single closed-loop PID easily leads to trajectory deviation in high-speed response (Ref. 3, 4).</a:t>
            </a:r>
            <a:endParaRPr lang="en-US" altLang="zh-CN">
              <a:latin typeface="Times New Roman" panose="02020603050405020304" pitchFamily="18" charset="0"/>
              <a:cs typeface="Times New Roman" panose="02020603050405020304" pitchFamily="18" charset="0"/>
            </a:endParaRPr>
          </a:p>
          <a:p>
            <a:endParaRPr lang="en-US" altLang="zh-CN">
              <a:latin typeface="Times New Roman" panose="02020603050405020304" pitchFamily="18" charset="0"/>
              <a:cs typeface="Times New Roman" panose="02020603050405020304" pitchFamily="18" charset="0"/>
            </a:endParaRPr>
          </a:p>
          <a:p>
            <a:r>
              <a:rPr lang="en-US" altLang="zh-CN" b="1">
                <a:latin typeface="Times New Roman" panose="02020603050405020304" pitchFamily="18" charset="0"/>
                <a:cs typeface="Times New Roman" panose="02020603050405020304" pitchFamily="18" charset="0"/>
              </a:rPr>
              <a:t>Separation of Computing Power and Control: </a:t>
            </a:r>
            <a:r>
              <a:rPr lang="en-US" altLang="zh-CN">
                <a:latin typeface="Times New Roman" panose="02020603050405020304" pitchFamily="18" charset="0"/>
                <a:cs typeface="Times New Roman" panose="02020603050405020304" pitchFamily="18" charset="0"/>
              </a:rPr>
              <a:t>Fragmented "upper computer + lower controller" solutions lack bottom-level high-density integration, resulting in system delay between sensor fusion and motor response (Ref. 5).</a:t>
            </a:r>
            <a:endParaRPr lang="en-US" altLang="zh-CN">
              <a:latin typeface="Times New Roman" panose="02020603050405020304" pitchFamily="18" charset="0"/>
              <a:cs typeface="Times New Roman" panose="02020603050405020304" pitchFamily="18" charset="0"/>
            </a:endParaRPr>
          </a:p>
          <a:p>
            <a:endParaRPr lang="en-US" altLang="zh-CN">
              <a:latin typeface="Times New Roman" panose="02020603050405020304" pitchFamily="18" charset="0"/>
              <a:cs typeface="Times New Roman" panose="02020603050405020304" pitchFamily="18" charset="0"/>
            </a:endParaRPr>
          </a:p>
        </p:txBody>
      </p:sp>
      <p:pic>
        <p:nvPicPr>
          <p:cNvPr id="7" name="图片 6" descr="图示&#10;&#10;AI 生成的内容可能不正确。"/>
          <p:cNvPicPr>
            <a:picLocks noChangeAspect="1"/>
          </p:cNvPicPr>
          <p:nvPr/>
        </p:nvPicPr>
        <p:blipFill>
          <a:blip r:embed="rId3"/>
          <a:stretch>
            <a:fillRect/>
          </a:stretch>
        </p:blipFill>
        <p:spPr>
          <a:xfrm>
            <a:off x="6303645" y="1304925"/>
            <a:ext cx="3803015" cy="2249170"/>
          </a:xfrm>
          <a:prstGeom prst="rect">
            <a:avLst/>
          </a:prstGeom>
        </p:spPr>
      </p:pic>
      <p:sp>
        <p:nvSpPr>
          <p:cNvPr id="8" name="文本框 7"/>
          <p:cNvSpPr txBox="1"/>
          <p:nvPr/>
        </p:nvSpPr>
        <p:spPr>
          <a:xfrm>
            <a:off x="6249035" y="3693160"/>
            <a:ext cx="4064000" cy="460375"/>
          </a:xfrm>
          <a:prstGeom prst="rect">
            <a:avLst/>
          </a:prstGeom>
          <a:noFill/>
        </p:spPr>
        <p:txBody>
          <a:bodyPr wrap="square" rtlCol="0">
            <a:spAutoFit/>
          </a:bodyPr>
          <a:p>
            <a:r>
              <a:rPr lang="en-US" altLang="zh-CN" sz="2400" b="1">
                <a:latin typeface="Times New Roman" panose="02020603050405020304" pitchFamily="18" charset="0"/>
                <a:cs typeface="Times New Roman" panose="02020603050405020304" pitchFamily="18" charset="0"/>
              </a:rPr>
              <a:t>Reference</a:t>
            </a:r>
            <a:endParaRPr lang="en-US" altLang="zh-CN" sz="2400" b="1">
              <a:latin typeface="Times New Roman" panose="02020603050405020304" pitchFamily="18" charset="0"/>
              <a:cs typeface="Times New Roman" panose="02020603050405020304" pitchFamily="18" charset="0"/>
            </a:endParaRPr>
          </a:p>
        </p:txBody>
      </p:sp>
      <p:sp>
        <p:nvSpPr>
          <p:cNvPr id="9" name="文本框 8"/>
          <p:cNvSpPr txBox="1"/>
          <p:nvPr/>
        </p:nvSpPr>
        <p:spPr>
          <a:xfrm>
            <a:off x="5221605" y="4259580"/>
            <a:ext cx="7070090" cy="2245360"/>
          </a:xfrm>
          <a:prstGeom prst="rect">
            <a:avLst/>
          </a:prstGeom>
          <a:noFill/>
        </p:spPr>
        <p:txBody>
          <a:bodyPr wrap="square" rtlCol="0">
            <a:spAutoFit/>
          </a:bodyPr>
          <a:p>
            <a:r>
              <a:rPr lang="en-US" altLang="zh-CN" sz="1400">
                <a:latin typeface="Times New Roman" panose="02020603050405020304" pitchFamily="18" charset="0"/>
                <a:cs typeface="Times New Roman" panose="02020603050405020304" pitchFamily="18" charset="0"/>
              </a:rPr>
              <a:t>1. Oh, S. et al. (2021). "Vibration Reduction Control of Omnidirectional Mobile Robot with Lift Mechanism." IEEE International Conference on Control, Automation and Systems (ICCAS).</a:t>
            </a:r>
            <a:endParaRPr lang="en-US" altLang="zh-CN" sz="1400">
              <a:latin typeface="Times New Roman" panose="02020603050405020304" pitchFamily="18" charset="0"/>
              <a:cs typeface="Times New Roman" panose="02020603050405020304" pitchFamily="18" charset="0"/>
            </a:endParaRPr>
          </a:p>
          <a:p>
            <a:r>
              <a:rPr lang="en-US" altLang="zh-CN" sz="1400">
                <a:latin typeface="Times New Roman" panose="02020603050405020304" pitchFamily="18" charset="0"/>
                <a:cs typeface="Times New Roman" panose="02020603050405020304" pitchFamily="18" charset="0"/>
              </a:rPr>
              <a:t>2. Chen, Y. et al. (2024). "Systematic Review of Mecanum and Omni Wheel Technologies for Motor Impairments." MDPI Applied Sciences.</a:t>
            </a:r>
            <a:endParaRPr lang="en-US" altLang="zh-CN" sz="1400">
              <a:latin typeface="Times New Roman" panose="02020603050405020304" pitchFamily="18" charset="0"/>
              <a:cs typeface="Times New Roman" panose="02020603050405020304" pitchFamily="18" charset="0"/>
            </a:endParaRPr>
          </a:p>
          <a:p>
            <a:r>
              <a:rPr lang="en-US" altLang="zh-CN" sz="1400">
                <a:latin typeface="Times New Roman" panose="02020603050405020304" pitchFamily="18" charset="0"/>
                <a:cs typeface="Times New Roman" panose="02020603050405020304" pitchFamily="18" charset="0"/>
              </a:rPr>
              <a:t>3. Wang, H. et al. (2019). "Trajectory tracking for omnidirectional mecanum robot with longitudinal slipping." MATEC Web of Conferences.</a:t>
            </a:r>
            <a:endParaRPr lang="en-US" altLang="zh-CN" sz="1400">
              <a:latin typeface="Times New Roman" panose="02020603050405020304" pitchFamily="18" charset="0"/>
              <a:cs typeface="Times New Roman" panose="02020603050405020304" pitchFamily="18" charset="0"/>
            </a:endParaRPr>
          </a:p>
          <a:p>
            <a:r>
              <a:rPr lang="en-US" altLang="zh-CN" sz="1400">
                <a:latin typeface="Times New Roman" panose="02020603050405020304" pitchFamily="18" charset="0"/>
                <a:cs typeface="Times New Roman" panose="02020603050405020304" pitchFamily="18" charset="0"/>
              </a:rPr>
              <a:t>4. Li, X. et al. (2018). "Highly Maneuverable Ground Reconnaissance Robot Based on Machine Learning." IEEE International Conference on Robotics and Biomimetics (ROBIO).</a:t>
            </a:r>
            <a:endParaRPr lang="en-US" altLang="zh-CN" sz="1400">
              <a:latin typeface="Times New Roman" panose="02020603050405020304" pitchFamily="18" charset="0"/>
              <a:cs typeface="Times New Roman" panose="02020603050405020304" pitchFamily="18" charset="0"/>
            </a:endParaRPr>
          </a:p>
          <a:p>
            <a:r>
              <a:rPr lang="en-US" altLang="zh-CN" sz="1400">
                <a:latin typeface="Times New Roman" panose="02020603050405020304" pitchFamily="18" charset="0"/>
                <a:cs typeface="Times New Roman" panose="02020603050405020304" pitchFamily="18" charset="0"/>
              </a:rPr>
              <a:t>5. Zhang, M. et al. (2020). "Design of Inspection Robot for Spherical Tank Based on Mecanum Wheel." IEEE International Conference on Mechatronics and Automation (ICMA).</a:t>
            </a:r>
            <a:endParaRPr lang="en-US" altLang="zh-CN" sz="140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 name="图片 32"/>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182014" y="102721"/>
            <a:ext cx="1800318" cy="540096"/>
          </a:xfrm>
          <a:prstGeom prst="rect">
            <a:avLst/>
          </a:prstGeom>
        </p:spPr>
      </p:pic>
      <p:sp>
        <p:nvSpPr>
          <p:cNvPr id="10" name="文本框 40"/>
          <p:cNvSpPr txBox="1"/>
          <p:nvPr/>
        </p:nvSpPr>
        <p:spPr>
          <a:xfrm>
            <a:off x="442469" y="25378"/>
            <a:ext cx="7395210" cy="522605"/>
          </a:xfrm>
          <a:prstGeom prst="rect">
            <a:avLst/>
          </a:prstGeom>
          <a:noFill/>
        </p:spPr>
        <p:txBody>
          <a:bodyPr wrap="non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altLang="zh-CN" sz="34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Project Background and Topic Selection</a:t>
            </a:r>
            <a:endParaRPr lang="en-US" altLang="zh-CN" sz="34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endParaRPr>
          </a:p>
        </p:txBody>
      </p:sp>
      <p:cxnSp>
        <p:nvCxnSpPr>
          <p:cNvPr id="26" name="PA-直接连接符 17"/>
          <p:cNvCxnSpPr/>
          <p:nvPr>
            <p:custDataLst>
              <p:tags r:id="rId2"/>
            </p:custDataLst>
          </p:nvPr>
        </p:nvCxnSpPr>
        <p:spPr>
          <a:xfrm>
            <a:off x="442468" y="580780"/>
            <a:ext cx="11307064" cy="0"/>
          </a:xfrm>
          <a:prstGeom prst="line">
            <a:avLst/>
          </a:prstGeom>
          <a:gradFill flip="none" rotWithShape="1">
            <a:gsLst>
              <a:gs pos="0">
                <a:srgbClr val="E6564F"/>
              </a:gs>
              <a:gs pos="70000">
                <a:srgbClr val="D12A22"/>
              </a:gs>
            </a:gsLst>
            <a:lin ang="5400000" scaled="1"/>
            <a:tileRect/>
          </a:gradFill>
          <a:ln w="19050" cap="flat" cmpd="sng" algn="ctr">
            <a:gradFill>
              <a:gsLst>
                <a:gs pos="30000">
                  <a:schemeClr val="accent1"/>
                </a:gs>
                <a:gs pos="100000">
                  <a:schemeClr val="accent6">
                    <a:lumMod val="0"/>
                    <a:lumOff val="100000"/>
                  </a:schemeClr>
                </a:gs>
              </a:gsLst>
              <a:lin ang="0" scaled="0"/>
            </a:gradFill>
            <a:prstDash val="solid"/>
            <a:miter lim="800000"/>
          </a:ln>
          <a:effectLst/>
        </p:spPr>
      </p:cxnSp>
      <p:sp>
        <p:nvSpPr>
          <p:cNvPr id="13" name="文本框 12"/>
          <p:cNvSpPr txBox="1"/>
          <p:nvPr/>
        </p:nvSpPr>
        <p:spPr>
          <a:xfrm>
            <a:off x="442595" y="706120"/>
            <a:ext cx="2378710" cy="521970"/>
          </a:xfrm>
          <a:prstGeom prst="rect">
            <a:avLst/>
          </a:prstGeom>
          <a:noFill/>
        </p:spPr>
        <p:txBody>
          <a:bodyPr wrap="square" rtlCol="0">
            <a:spAutoFit/>
          </a:bodyPr>
          <a:p>
            <a:r>
              <a:rPr lang="en-US" altLang="zh-CN" sz="2800" b="1">
                <a:latin typeface="Times New Roman" panose="02020603050405020304" pitchFamily="18" charset="0"/>
                <a:cs typeface="Times New Roman" panose="02020603050405020304" pitchFamily="18" charset="0"/>
              </a:rPr>
              <a:t>Our Work</a:t>
            </a:r>
            <a:endParaRPr lang="en-US" altLang="zh-CN" sz="2800" b="1">
              <a:latin typeface="Times New Roman" panose="02020603050405020304" pitchFamily="18" charset="0"/>
              <a:cs typeface="Times New Roman" panose="02020603050405020304" pitchFamily="18" charset="0"/>
            </a:endParaRPr>
          </a:p>
        </p:txBody>
      </p:sp>
      <p:sp>
        <p:nvSpPr>
          <p:cNvPr id="2" name="文本框 1"/>
          <p:cNvSpPr txBox="1"/>
          <p:nvPr/>
        </p:nvSpPr>
        <p:spPr>
          <a:xfrm>
            <a:off x="5115560" y="5520055"/>
            <a:ext cx="7076440" cy="1198880"/>
          </a:xfrm>
          <a:prstGeom prst="rect">
            <a:avLst/>
          </a:prstGeom>
          <a:noFill/>
        </p:spPr>
        <p:txBody>
          <a:bodyPr wrap="square" rtlCol="0">
            <a:spAutoFit/>
          </a:bodyPr>
          <a:p>
            <a:r>
              <a:rPr lang="en-US" altLang="zh-CN" b="1">
                <a:solidFill>
                  <a:srgbClr val="C00000"/>
                </a:solidFill>
                <a:latin typeface="Times New Roman" panose="02020603050405020304" pitchFamily="18" charset="0"/>
                <a:cs typeface="Times New Roman" panose="02020603050405020304" pitchFamily="18" charset="0"/>
              </a:rPr>
              <a:t> Control &amp; Perception Layer: </a:t>
            </a:r>
            <a:r>
              <a:rPr lang="en-US" altLang="zh-CN">
                <a:latin typeface="Times New Roman" panose="02020603050405020304" pitchFamily="18" charset="0"/>
                <a:cs typeface="Times New Roman" panose="02020603050405020304" pitchFamily="18" charset="0"/>
              </a:rPr>
              <a:t>Cascade PID motor closed-loop + encoder dead reckoning + ultrasonic polar radar + YOLO visual tracking. Data of each subsystem is deeply fused at high frequency, with every part affecting the whole system.</a:t>
            </a:r>
            <a:endParaRPr lang="en-US" altLang="zh-CN">
              <a:latin typeface="Times New Roman" panose="02020603050405020304" pitchFamily="18" charset="0"/>
              <a:cs typeface="Times New Roman" panose="02020603050405020304" pitchFamily="18" charset="0"/>
            </a:endParaRPr>
          </a:p>
        </p:txBody>
      </p:sp>
      <p:sp>
        <p:nvSpPr>
          <p:cNvPr id="3" name="文本框 2"/>
          <p:cNvSpPr txBox="1"/>
          <p:nvPr/>
        </p:nvSpPr>
        <p:spPr>
          <a:xfrm>
            <a:off x="442595" y="1359535"/>
            <a:ext cx="11336655" cy="398780"/>
          </a:xfrm>
          <a:prstGeom prst="rect">
            <a:avLst/>
          </a:prstGeom>
          <a:noFill/>
        </p:spPr>
        <p:txBody>
          <a:bodyPr wrap="square" rtlCol="0">
            <a:spAutoFit/>
          </a:bodyPr>
          <a:p>
            <a:r>
              <a:rPr lang="en-US" altLang="zh-CN" sz="2000" b="1">
                <a:solidFill>
                  <a:srgbClr val="C00000"/>
                </a:solidFill>
                <a:latin typeface="Times New Roman" panose="02020603050405020304" pitchFamily="18" charset="0"/>
                <a:cs typeface="Times New Roman" panose="02020603050405020304" pitchFamily="18" charset="0"/>
                <a:sym typeface="+mn-ea"/>
              </a:rPr>
              <a:t>We are not "assembling" a small car, but building a highly coupled complex robot system from scratch.</a:t>
            </a:r>
            <a:endParaRPr lang="en-US" altLang="zh-CN" sz="2000" b="1">
              <a:solidFill>
                <a:srgbClr val="C00000"/>
              </a:solidFill>
              <a:latin typeface="Times New Roman" panose="02020603050405020304" pitchFamily="18" charset="0"/>
              <a:cs typeface="Times New Roman" panose="02020603050405020304" pitchFamily="18" charset="0"/>
              <a:sym typeface="+mn-ea"/>
            </a:endParaRPr>
          </a:p>
        </p:txBody>
      </p:sp>
      <p:sp>
        <p:nvSpPr>
          <p:cNvPr id="4" name="文本框 3"/>
          <p:cNvSpPr txBox="1"/>
          <p:nvPr/>
        </p:nvSpPr>
        <p:spPr>
          <a:xfrm>
            <a:off x="442595" y="1926590"/>
            <a:ext cx="4064000" cy="398780"/>
          </a:xfrm>
          <a:prstGeom prst="rect">
            <a:avLst/>
          </a:prstGeom>
          <a:noFill/>
        </p:spPr>
        <p:txBody>
          <a:bodyPr wrap="square" rtlCol="0">
            <a:spAutoFit/>
          </a:bodyPr>
          <a:p>
            <a:r>
              <a:rPr lang="en-US" altLang="zh-CN" sz="2000" b="1">
                <a:solidFill>
                  <a:srgbClr val="2B52B7"/>
                </a:solidFill>
                <a:latin typeface="Times New Roman" panose="02020603050405020304" pitchFamily="18" charset="0"/>
                <a:cs typeface="Times New Roman" panose="02020603050405020304" pitchFamily="18" charset="0"/>
                <a:sym typeface="+mn-ea"/>
              </a:rPr>
              <a:t>System Closed-Loop:</a:t>
            </a:r>
            <a:endParaRPr lang="en-US" altLang="zh-CN" sz="2000" b="1">
              <a:solidFill>
                <a:srgbClr val="2B52B7"/>
              </a:solidFill>
              <a:latin typeface="Times New Roman" panose="02020603050405020304" pitchFamily="18" charset="0"/>
              <a:cs typeface="Times New Roman" panose="02020603050405020304" pitchFamily="18" charset="0"/>
              <a:sym typeface="+mn-ea"/>
            </a:endParaRPr>
          </a:p>
        </p:txBody>
      </p:sp>
      <p:sp>
        <p:nvSpPr>
          <p:cNvPr id="5" name="文本框 4"/>
          <p:cNvSpPr txBox="1"/>
          <p:nvPr/>
        </p:nvSpPr>
        <p:spPr>
          <a:xfrm>
            <a:off x="2332355" y="2693035"/>
            <a:ext cx="5880735" cy="645160"/>
          </a:xfrm>
          <a:prstGeom prst="rect">
            <a:avLst/>
          </a:prstGeom>
          <a:noFill/>
        </p:spPr>
        <p:txBody>
          <a:bodyPr wrap="square" rtlCol="0">
            <a:spAutoFit/>
          </a:bodyPr>
          <a:p>
            <a:r>
              <a:rPr lang="en-US" altLang="zh-CN" b="1">
                <a:solidFill>
                  <a:srgbClr val="C00000"/>
                </a:solidFill>
                <a:latin typeface="Times New Roman" panose="02020603050405020304" pitchFamily="18" charset="0"/>
                <a:cs typeface="Times New Roman" panose="02020603050405020304" pitchFamily="18" charset="0"/>
                <a:sym typeface="+mn-ea"/>
              </a:rPr>
              <a:t>Mechanical Layer: </a:t>
            </a:r>
            <a:r>
              <a:rPr lang="en-US" altLang="zh-CN">
                <a:latin typeface="Times New Roman" panose="02020603050405020304" pitchFamily="18" charset="0"/>
                <a:cs typeface="Times New Roman" panose="02020603050405020304" pitchFamily="18" charset="0"/>
                <a:sym typeface="+mn-ea"/>
              </a:rPr>
              <a:t>Passive compliance for road adaptability via independent spring-damper suspension.</a:t>
            </a:r>
            <a:endParaRPr lang="zh-CN" altLang="en-US"/>
          </a:p>
        </p:txBody>
      </p:sp>
      <p:pic>
        <p:nvPicPr>
          <p:cNvPr id="8" name="图片 7" descr="图示&#10;&#10;AI 生成的内容可能不正确。"/>
          <p:cNvPicPr>
            <a:picLocks noChangeAspect="1"/>
          </p:cNvPicPr>
          <p:nvPr/>
        </p:nvPicPr>
        <p:blipFill>
          <a:blip r:embed="rId3"/>
          <a:srcRect l="3598" r="53999"/>
          <a:stretch>
            <a:fillRect/>
          </a:stretch>
        </p:blipFill>
        <p:spPr>
          <a:xfrm>
            <a:off x="543560" y="2400935"/>
            <a:ext cx="1370965" cy="1639570"/>
          </a:xfrm>
          <a:prstGeom prst="rect">
            <a:avLst/>
          </a:prstGeom>
        </p:spPr>
      </p:pic>
      <p:pic>
        <p:nvPicPr>
          <p:cNvPr id="12" name="图片 11"/>
          <p:cNvPicPr>
            <a:picLocks noChangeAspect="1"/>
          </p:cNvPicPr>
          <p:nvPr/>
        </p:nvPicPr>
        <p:blipFill>
          <a:blip r:embed="rId4"/>
          <a:stretch>
            <a:fillRect/>
          </a:stretch>
        </p:blipFill>
        <p:spPr>
          <a:xfrm>
            <a:off x="385445" y="4040505"/>
            <a:ext cx="1889125" cy="1229360"/>
          </a:xfrm>
          <a:prstGeom prst="rect">
            <a:avLst/>
          </a:prstGeom>
        </p:spPr>
      </p:pic>
      <p:sp>
        <p:nvSpPr>
          <p:cNvPr id="7" name="文本框 6"/>
          <p:cNvSpPr txBox="1"/>
          <p:nvPr/>
        </p:nvSpPr>
        <p:spPr>
          <a:xfrm>
            <a:off x="2332355" y="4189095"/>
            <a:ext cx="6294120" cy="645160"/>
          </a:xfrm>
          <a:prstGeom prst="rect">
            <a:avLst/>
          </a:prstGeom>
          <a:noFill/>
        </p:spPr>
        <p:txBody>
          <a:bodyPr wrap="square" rtlCol="0">
            <a:spAutoFit/>
          </a:bodyPr>
          <a:p>
            <a:r>
              <a:rPr lang="en-US" altLang="zh-CN" b="1">
                <a:solidFill>
                  <a:srgbClr val="C00000"/>
                </a:solidFill>
                <a:latin typeface="Times New Roman" panose="02020603050405020304" pitchFamily="18" charset="0"/>
                <a:cs typeface="Times New Roman" panose="02020603050405020304" pitchFamily="18" charset="0"/>
                <a:sym typeface="+mn-ea"/>
              </a:rPr>
              <a:t>Hardware Layer: </a:t>
            </a:r>
            <a:r>
              <a:rPr lang="en-US" altLang="zh-CN">
                <a:latin typeface="Times New Roman" panose="02020603050405020304" pitchFamily="18" charset="0"/>
                <a:cs typeface="Times New Roman" panose="02020603050405020304" pitchFamily="18" charset="0"/>
                <a:sym typeface="+mn-ea"/>
              </a:rPr>
              <a:t>STM32H7 550MHz core for extreme space compression and ultra-low latency at the bottom board level.</a:t>
            </a:r>
            <a:endParaRPr lang="zh-CN" altLang="en-US"/>
          </a:p>
        </p:txBody>
      </p:sp>
      <p:pic>
        <p:nvPicPr>
          <p:cNvPr id="11" name="图片 10"/>
          <p:cNvPicPr>
            <a:picLocks noChangeAspect="1"/>
          </p:cNvPicPr>
          <p:nvPr/>
        </p:nvPicPr>
        <p:blipFill>
          <a:blip r:embed="rId5"/>
          <a:stretch>
            <a:fillRect/>
          </a:stretch>
        </p:blipFill>
        <p:spPr>
          <a:xfrm>
            <a:off x="385445" y="5382895"/>
            <a:ext cx="4551045" cy="138493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 name="图片 32"/>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182014" y="102721"/>
            <a:ext cx="1800318" cy="540096"/>
          </a:xfrm>
          <a:prstGeom prst="rect">
            <a:avLst/>
          </a:prstGeom>
        </p:spPr>
      </p:pic>
      <p:sp>
        <p:nvSpPr>
          <p:cNvPr id="10" name="文本框 40"/>
          <p:cNvSpPr txBox="1"/>
          <p:nvPr/>
        </p:nvSpPr>
        <p:spPr>
          <a:xfrm>
            <a:off x="442469" y="25378"/>
            <a:ext cx="7395210" cy="522605"/>
          </a:xfrm>
          <a:prstGeom prst="rect">
            <a:avLst/>
          </a:prstGeom>
          <a:noFill/>
        </p:spPr>
        <p:txBody>
          <a:bodyPr wrap="non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altLang="zh-CN" sz="34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Project Background and Topic Selection</a:t>
            </a:r>
            <a:endParaRPr lang="en-US" altLang="zh-CN" sz="34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endParaRPr>
          </a:p>
        </p:txBody>
      </p:sp>
      <p:cxnSp>
        <p:nvCxnSpPr>
          <p:cNvPr id="26" name="PA-直接连接符 17"/>
          <p:cNvCxnSpPr/>
          <p:nvPr>
            <p:custDataLst>
              <p:tags r:id="rId2"/>
            </p:custDataLst>
          </p:nvPr>
        </p:nvCxnSpPr>
        <p:spPr>
          <a:xfrm>
            <a:off x="442468" y="580780"/>
            <a:ext cx="11307064" cy="0"/>
          </a:xfrm>
          <a:prstGeom prst="line">
            <a:avLst/>
          </a:prstGeom>
          <a:gradFill flip="none" rotWithShape="1">
            <a:gsLst>
              <a:gs pos="0">
                <a:srgbClr val="E6564F"/>
              </a:gs>
              <a:gs pos="70000">
                <a:srgbClr val="D12A22"/>
              </a:gs>
            </a:gsLst>
            <a:lin ang="5400000" scaled="1"/>
            <a:tileRect/>
          </a:gradFill>
          <a:ln w="19050" cap="flat" cmpd="sng" algn="ctr">
            <a:gradFill>
              <a:gsLst>
                <a:gs pos="30000">
                  <a:schemeClr val="accent1"/>
                </a:gs>
                <a:gs pos="100000">
                  <a:schemeClr val="accent6">
                    <a:lumMod val="0"/>
                    <a:lumOff val="100000"/>
                  </a:schemeClr>
                </a:gs>
              </a:gsLst>
              <a:lin ang="0" scaled="0"/>
            </a:gradFill>
            <a:prstDash val="solid"/>
            <a:miter lim="800000"/>
          </a:ln>
          <a:effectLst/>
        </p:spPr>
      </p:cxnSp>
      <p:sp>
        <p:nvSpPr>
          <p:cNvPr id="13" name="文本框 12"/>
          <p:cNvSpPr txBox="1"/>
          <p:nvPr/>
        </p:nvSpPr>
        <p:spPr>
          <a:xfrm>
            <a:off x="442595" y="706120"/>
            <a:ext cx="6634480" cy="460375"/>
          </a:xfrm>
          <a:prstGeom prst="rect">
            <a:avLst/>
          </a:prstGeom>
          <a:noFill/>
        </p:spPr>
        <p:txBody>
          <a:bodyPr wrap="square" rtlCol="0">
            <a:spAutoFit/>
          </a:bodyPr>
          <a:p>
            <a:r>
              <a:rPr lang="en-US" altLang="zh-CN" sz="2400" b="1">
                <a:latin typeface="Times New Roman" panose="02020603050405020304" pitchFamily="18" charset="0"/>
                <a:cs typeface="Times New Roman" panose="02020603050405020304" pitchFamily="18" charset="0"/>
              </a:rPr>
              <a:t>Objectives </a:t>
            </a:r>
            <a:endParaRPr lang="en-US" altLang="zh-CN" sz="2400" b="1">
              <a:latin typeface="Times New Roman" panose="02020603050405020304" pitchFamily="18" charset="0"/>
              <a:cs typeface="Times New Roman" panose="02020603050405020304" pitchFamily="18" charset="0"/>
            </a:endParaRPr>
          </a:p>
        </p:txBody>
      </p:sp>
      <p:sp>
        <p:nvSpPr>
          <p:cNvPr id="15" name="文本框 14"/>
          <p:cNvSpPr txBox="1"/>
          <p:nvPr/>
        </p:nvSpPr>
        <p:spPr>
          <a:xfrm>
            <a:off x="442595" y="1275080"/>
            <a:ext cx="11071860" cy="706755"/>
          </a:xfrm>
          <a:prstGeom prst="rect">
            <a:avLst/>
          </a:prstGeom>
          <a:noFill/>
        </p:spPr>
        <p:txBody>
          <a:bodyPr wrap="square" rtlCol="0">
            <a:spAutoFit/>
          </a:bodyPr>
          <a:p>
            <a:r>
              <a:rPr lang="en-US" altLang="zh-CN" sz="2000">
                <a:solidFill>
                  <a:schemeClr val="tx1"/>
                </a:solidFill>
                <a:latin typeface="Times New Roman" panose="02020603050405020304" pitchFamily="18" charset="0"/>
                <a:cs typeface="Times New Roman" panose="02020603050405020304" pitchFamily="18" charset="0"/>
              </a:rPr>
              <a:t>Design and verify a highly stable omnidirectional mobile platform with a modular hierarchical architecture, low center of gravity, and a 2-DOF tracking gimbal.</a:t>
            </a:r>
            <a:endParaRPr lang="en-US" altLang="zh-CN" sz="2000">
              <a:solidFill>
                <a:schemeClr val="tx1"/>
              </a:solidFill>
              <a:latin typeface="Times New Roman" panose="02020603050405020304" pitchFamily="18" charset="0"/>
              <a:cs typeface="Times New Roman" panose="02020603050405020304" pitchFamily="18" charset="0"/>
            </a:endParaRPr>
          </a:p>
        </p:txBody>
      </p:sp>
      <p:sp>
        <p:nvSpPr>
          <p:cNvPr id="16" name="文本框 15"/>
          <p:cNvSpPr txBox="1"/>
          <p:nvPr/>
        </p:nvSpPr>
        <p:spPr>
          <a:xfrm>
            <a:off x="442595" y="2054225"/>
            <a:ext cx="1978025" cy="460375"/>
          </a:xfrm>
          <a:prstGeom prst="rect">
            <a:avLst/>
          </a:prstGeom>
          <a:noFill/>
        </p:spPr>
        <p:txBody>
          <a:bodyPr wrap="square" rtlCol="0" anchor="t">
            <a:spAutoFit/>
          </a:bodyPr>
          <a:p>
            <a:r>
              <a:rPr lang="en-US" altLang="zh-CN" sz="2400" b="1">
                <a:latin typeface="Times New Roman" panose="02020603050405020304" pitchFamily="18" charset="0"/>
                <a:cs typeface="Times New Roman" panose="02020603050405020304" pitchFamily="18" charset="0"/>
                <a:sym typeface="+mn-ea"/>
              </a:rPr>
              <a:t>Challenges</a:t>
            </a:r>
            <a:endParaRPr lang="en-US" altLang="zh-CN" sz="2400" b="1">
              <a:latin typeface="Times New Roman" panose="02020603050405020304" pitchFamily="18" charset="0"/>
              <a:cs typeface="Times New Roman" panose="02020603050405020304" pitchFamily="18" charset="0"/>
              <a:sym typeface="+mn-ea"/>
            </a:endParaRPr>
          </a:p>
        </p:txBody>
      </p:sp>
      <p:sp>
        <p:nvSpPr>
          <p:cNvPr id="17" name="文本框 16"/>
          <p:cNvSpPr txBox="1"/>
          <p:nvPr/>
        </p:nvSpPr>
        <p:spPr>
          <a:xfrm>
            <a:off x="442595" y="2586990"/>
            <a:ext cx="11351260" cy="1014730"/>
          </a:xfrm>
          <a:prstGeom prst="rect">
            <a:avLst/>
          </a:prstGeom>
          <a:noFill/>
        </p:spPr>
        <p:txBody>
          <a:bodyPr wrap="square" rtlCol="0">
            <a:spAutoFit/>
          </a:bodyPr>
          <a:p>
            <a:pPr marL="342900" indent="-342900">
              <a:buFont typeface="+mj-lt"/>
              <a:buAutoNum type="arabicPeriod"/>
            </a:pPr>
            <a:r>
              <a:rPr lang="en-US" altLang="zh-CN" sz="2000">
                <a:latin typeface="Times New Roman" panose="02020603050405020304" pitchFamily="18" charset="0"/>
                <a:cs typeface="Times New Roman" panose="02020603050405020304" pitchFamily="18" charset="0"/>
              </a:rPr>
              <a:t>Parameter Matching and Tuning of Independent Suspension System in Narrow Space.</a:t>
            </a:r>
            <a:endParaRPr lang="en-US" altLang="zh-CN" sz="2000">
              <a:latin typeface="Times New Roman" panose="02020603050405020304" pitchFamily="18" charset="0"/>
              <a:cs typeface="Times New Roman" panose="02020603050405020304" pitchFamily="18" charset="0"/>
            </a:endParaRPr>
          </a:p>
          <a:p>
            <a:pPr marL="342900" indent="-342900">
              <a:buFont typeface="+mj-lt"/>
              <a:buAutoNum type="arabicPeriod"/>
            </a:pPr>
            <a:r>
              <a:rPr lang="en-US" altLang="zh-CN" sz="2000">
                <a:latin typeface="Times New Roman" panose="02020603050405020304" pitchFamily="18" charset="0"/>
                <a:cs typeface="Times New Roman" panose="02020603050405020304" pitchFamily="18" charset="0"/>
              </a:rPr>
              <a:t>Multi-Motor Cooperative Closed-Loop and Dead Reckoning Error Handling of Mecanum Wheel Chassis.</a:t>
            </a:r>
            <a:endParaRPr lang="en-US" altLang="zh-CN" sz="2000">
              <a:latin typeface="Times New Roman" panose="02020603050405020304" pitchFamily="18" charset="0"/>
              <a:cs typeface="Times New Roman" panose="02020603050405020304" pitchFamily="18" charset="0"/>
            </a:endParaRPr>
          </a:p>
          <a:p>
            <a:pPr marL="342900" indent="-342900">
              <a:buFont typeface="+mj-lt"/>
              <a:buAutoNum type="arabicPeriod"/>
            </a:pPr>
            <a:r>
              <a:rPr lang="en-US" altLang="zh-CN" sz="2000">
                <a:latin typeface="Times New Roman" panose="02020603050405020304" pitchFamily="18" charset="0"/>
                <a:cs typeface="Times New Roman" panose="02020603050405020304" pitchFamily="18" charset="0"/>
              </a:rPr>
              <a:t>Efficient Data Communication and Task Scheduling of Heterogeneous Software and Hardware Systems.</a:t>
            </a:r>
            <a:endParaRPr lang="en-US" altLang="zh-CN" sz="2000">
              <a:latin typeface="Times New Roman" panose="02020603050405020304" pitchFamily="18" charset="0"/>
              <a:cs typeface="Times New Roman" panose="02020603050405020304" pitchFamily="18" charset="0"/>
            </a:endParaRPr>
          </a:p>
        </p:txBody>
      </p:sp>
      <p:pic>
        <p:nvPicPr>
          <p:cNvPr id="18" name="图片 17"/>
          <p:cNvPicPr>
            <a:picLocks noChangeAspect="1"/>
          </p:cNvPicPr>
          <p:nvPr/>
        </p:nvPicPr>
        <p:blipFill>
          <a:blip r:embed="rId3"/>
          <a:stretch>
            <a:fillRect/>
          </a:stretch>
        </p:blipFill>
        <p:spPr>
          <a:xfrm>
            <a:off x="0" y="3896360"/>
            <a:ext cx="12192000" cy="2961640"/>
          </a:xfrm>
          <a:prstGeom prst="rect">
            <a:avLst/>
          </a:prstGeom>
        </p:spPr>
      </p:pic>
      <p:sp>
        <p:nvSpPr>
          <p:cNvPr id="19" name="文本框 18"/>
          <p:cNvSpPr txBox="1"/>
          <p:nvPr/>
        </p:nvSpPr>
        <p:spPr>
          <a:xfrm>
            <a:off x="442595" y="3987800"/>
            <a:ext cx="4064000" cy="460375"/>
          </a:xfrm>
          <a:prstGeom prst="rect">
            <a:avLst/>
          </a:prstGeom>
          <a:noFill/>
        </p:spPr>
        <p:txBody>
          <a:bodyPr wrap="square" rtlCol="0">
            <a:spAutoFit/>
          </a:bodyPr>
          <a:p>
            <a:r>
              <a:rPr lang="en-US" altLang="zh-CN" sz="2400" b="1">
                <a:latin typeface="Times New Roman" panose="02020603050405020304" pitchFamily="18" charset="0"/>
                <a:cs typeface="Times New Roman" panose="02020603050405020304" pitchFamily="18" charset="0"/>
              </a:rPr>
              <a:t>Task Division</a:t>
            </a:r>
            <a:endParaRPr lang="zh-CN" altLang="en-US" sz="2400" b="1">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 name="图片 32"/>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182014" y="102721"/>
            <a:ext cx="1800318" cy="540096"/>
          </a:xfrm>
          <a:prstGeom prst="rect">
            <a:avLst/>
          </a:prstGeom>
        </p:spPr>
      </p:pic>
      <p:sp>
        <p:nvSpPr>
          <p:cNvPr id="6" name="文本框 5"/>
          <p:cNvSpPr txBox="1"/>
          <p:nvPr/>
        </p:nvSpPr>
        <p:spPr>
          <a:xfrm>
            <a:off x="6438265" y="2780665"/>
            <a:ext cx="5186045" cy="3415030"/>
          </a:xfrm>
          <a:prstGeom prst="rect">
            <a:avLst/>
          </a:prstGeom>
          <a:noFill/>
        </p:spPr>
        <p:txBody>
          <a:bodyPr wrap="square">
            <a:spAutoFit/>
          </a:bodyPr>
          <a:lstStyle/>
          <a:p>
            <a:pPr indent="0">
              <a:buFont typeface="Arial" panose="020B0604020202020204" pitchFamily="34" charset="0"/>
              <a:buNone/>
            </a:pPr>
            <a:r>
              <a:rPr lang="en-US" altLang="zh-CN" b="1" dirty="0">
                <a:solidFill>
                  <a:srgbClr val="2B52B7"/>
                </a:solidFill>
                <a:latin typeface="Times New Roman" panose="02020603050405020304" pitchFamily="18" charset="0"/>
                <a:cs typeface="Times New Roman" panose="02020603050405020304" pitchFamily="18" charset="0"/>
              </a:rPr>
              <a:t>Modular Layered Architecture:</a:t>
            </a:r>
            <a:r>
              <a:rPr lang="en-US" altLang="zh-CN" dirty="0">
                <a:solidFill>
                  <a:srgbClr val="2B52B7"/>
                </a:solidFill>
                <a:latin typeface="Times New Roman" panose="02020603050405020304" pitchFamily="18" charset="0"/>
                <a:cs typeface="Times New Roman" panose="02020603050405020304" pitchFamily="18" charset="0"/>
              </a:rPr>
              <a:t> </a:t>
            </a:r>
            <a:endParaRPr lang="en-US" altLang="zh-CN" dirty="0">
              <a:solidFill>
                <a:srgbClr val="2B52B7"/>
              </a:solidFill>
              <a:latin typeface="Times New Roman" panose="02020603050405020304" pitchFamily="18" charset="0"/>
              <a:cs typeface="Times New Roman" panose="02020603050405020304" pitchFamily="18" charset="0"/>
            </a:endParaRPr>
          </a:p>
          <a:p>
            <a:pPr indent="0">
              <a:buFont typeface="Arial" panose="020B0604020202020204" pitchFamily="34" charset="0"/>
              <a:buNone/>
            </a:pPr>
            <a:r>
              <a:rPr lang="en-US" altLang="zh-CN" dirty="0">
                <a:latin typeface="Times New Roman" panose="02020603050405020304" pitchFamily="18" charset="0"/>
                <a:cs typeface="Times New Roman" panose="02020603050405020304" pitchFamily="18" charset="0"/>
              </a:rPr>
              <a:t>Segregates the chassis, control circuits, and tracking pan-tilt layers. </a:t>
            </a:r>
            <a:endParaRPr lang="en-US" altLang="zh-CN" dirty="0">
              <a:latin typeface="Times New Roman" panose="02020603050405020304" pitchFamily="18" charset="0"/>
              <a:cs typeface="Times New Roman" panose="02020603050405020304" pitchFamily="18" charset="0"/>
            </a:endParaRPr>
          </a:p>
          <a:p>
            <a:pPr indent="0">
              <a:buFont typeface="Arial" panose="020B0604020202020204" pitchFamily="34" charset="0"/>
              <a:buNone/>
            </a:pPr>
            <a:r>
              <a:rPr lang="en-US" altLang="zh-CN" dirty="0">
                <a:latin typeface="Times New Roman" panose="02020603050405020304" pitchFamily="18" charset="0"/>
                <a:cs typeface="Times New Roman" panose="02020603050405020304" pitchFamily="18" charset="0"/>
              </a:rPr>
              <a:t>Ensures streamlined hardware debugging and scalable future expansion.</a:t>
            </a:r>
            <a:endParaRPr lang="en-US" altLang="zh-CN" dirty="0">
              <a:latin typeface="Times New Roman" panose="02020603050405020304" pitchFamily="18" charset="0"/>
              <a:cs typeface="Times New Roman" panose="02020603050405020304" pitchFamily="18" charset="0"/>
            </a:endParaRPr>
          </a:p>
          <a:p>
            <a:pPr indent="0">
              <a:buFont typeface="Arial" panose="020B0604020202020204" pitchFamily="34" charset="0"/>
              <a:buNone/>
            </a:pPr>
            <a:endParaRPr lang="en-US" altLang="zh-CN" dirty="0">
              <a:latin typeface="Times New Roman" panose="02020603050405020304" pitchFamily="18" charset="0"/>
              <a:cs typeface="Times New Roman" panose="02020603050405020304" pitchFamily="18" charset="0"/>
            </a:endParaRPr>
          </a:p>
          <a:p>
            <a:pPr indent="0">
              <a:buFont typeface="Arial" panose="020B0604020202020204" pitchFamily="34" charset="0"/>
              <a:buNone/>
            </a:pPr>
            <a:r>
              <a:rPr lang="en-US" altLang="zh-CN" b="1" dirty="0">
                <a:solidFill>
                  <a:srgbClr val="2B52B7"/>
                </a:solidFill>
                <a:latin typeface="Times New Roman" panose="02020603050405020304" pitchFamily="18" charset="0"/>
                <a:cs typeface="Times New Roman" panose="02020603050405020304" pitchFamily="18" charset="0"/>
              </a:rPr>
              <a:t>Optimized Spatial Layout:</a:t>
            </a:r>
            <a:r>
              <a:rPr lang="en-US" altLang="zh-CN" dirty="0">
                <a:solidFill>
                  <a:srgbClr val="2B52B7"/>
                </a:solidFill>
                <a:latin typeface="Times New Roman" panose="02020603050405020304" pitchFamily="18" charset="0"/>
                <a:cs typeface="Times New Roman" panose="02020603050405020304" pitchFamily="18" charset="0"/>
              </a:rPr>
              <a:t> </a:t>
            </a:r>
            <a:endParaRPr lang="en-US" altLang="zh-CN" dirty="0">
              <a:solidFill>
                <a:srgbClr val="2B52B7"/>
              </a:solidFill>
              <a:latin typeface="Times New Roman" panose="02020603050405020304" pitchFamily="18" charset="0"/>
              <a:cs typeface="Times New Roman" panose="02020603050405020304" pitchFamily="18" charset="0"/>
            </a:endParaRPr>
          </a:p>
          <a:p>
            <a:pPr indent="0">
              <a:buFont typeface="Arial" panose="020B0604020202020204" pitchFamily="34" charset="0"/>
              <a:buNone/>
            </a:pPr>
            <a:r>
              <a:rPr lang="en-US" altLang="zh-CN" dirty="0">
                <a:latin typeface="Times New Roman" panose="02020603050405020304" pitchFamily="18" charset="0"/>
                <a:cs typeface="Times New Roman" panose="02020603050405020304" pitchFamily="18" charset="0"/>
              </a:rPr>
              <a:t>Features a low center of gravity by placing batteries and heavy masses at the base, maximizing kinematic stability. </a:t>
            </a:r>
            <a:endParaRPr lang="en-US" altLang="zh-CN" dirty="0">
              <a:latin typeface="Times New Roman" panose="02020603050405020304" pitchFamily="18" charset="0"/>
              <a:cs typeface="Times New Roman" panose="02020603050405020304" pitchFamily="18" charset="0"/>
            </a:endParaRPr>
          </a:p>
          <a:p>
            <a:pPr indent="0">
              <a:buFont typeface="Arial" panose="020B0604020202020204" pitchFamily="34" charset="0"/>
              <a:buNone/>
            </a:pPr>
            <a:r>
              <a:rPr lang="en-US" altLang="zh-CN" dirty="0">
                <a:latin typeface="Times New Roman" panose="02020603050405020304" pitchFamily="18" charset="0"/>
                <a:cs typeface="Times New Roman" panose="02020603050405020304" pitchFamily="18" charset="0"/>
              </a:rPr>
              <a:t>Ample upper-layer spacing ensures optimal heat dissipation for the control boards.</a:t>
            </a:r>
            <a:endParaRPr lang="en-US" altLang="zh-CN" dirty="0">
              <a:latin typeface="Times New Roman" panose="02020603050405020304" pitchFamily="18" charset="0"/>
              <a:cs typeface="Times New Roman" panose="02020603050405020304" pitchFamily="18" charset="0"/>
            </a:endParaRPr>
          </a:p>
        </p:txBody>
      </p:sp>
      <p:pic>
        <p:nvPicPr>
          <p:cNvPr id="9" name="图片 8" descr="图片包含 桌子, 蛋糕, 乐高&#10;&#10;AI 生成的内容可能不正确。"/>
          <p:cNvPicPr>
            <a:picLocks noChangeAspect="1"/>
          </p:cNvPicPr>
          <p:nvPr/>
        </p:nvPicPr>
        <p:blipFill>
          <a:blip r:embed="rId2"/>
          <a:stretch>
            <a:fillRect/>
          </a:stretch>
        </p:blipFill>
        <p:spPr>
          <a:xfrm>
            <a:off x="396240" y="2835910"/>
            <a:ext cx="5661025" cy="3359785"/>
          </a:xfrm>
          <a:prstGeom prst="rect">
            <a:avLst/>
          </a:prstGeom>
        </p:spPr>
      </p:pic>
      <p:sp>
        <p:nvSpPr>
          <p:cNvPr id="10" name="文本框 40"/>
          <p:cNvSpPr txBox="1"/>
          <p:nvPr/>
        </p:nvSpPr>
        <p:spPr>
          <a:xfrm>
            <a:off x="442469" y="25378"/>
            <a:ext cx="1785874" cy="523220"/>
          </a:xfrm>
          <a:prstGeom prst="rect">
            <a:avLst/>
          </a:prstGeom>
          <a:noFill/>
        </p:spPr>
        <p:txBody>
          <a:bodyPr wrap="non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pt-BR" altLang="zh-CN" sz="34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Structure</a:t>
            </a:r>
            <a:endParaRPr lang="zh-CN" altLang="en-US" sz="34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endParaRPr>
          </a:p>
        </p:txBody>
      </p:sp>
      <p:cxnSp>
        <p:nvCxnSpPr>
          <p:cNvPr id="26" name="PA-直接连接符 17"/>
          <p:cNvCxnSpPr/>
          <p:nvPr>
            <p:custDataLst>
              <p:tags r:id="rId3"/>
            </p:custDataLst>
          </p:nvPr>
        </p:nvCxnSpPr>
        <p:spPr>
          <a:xfrm>
            <a:off x="442468" y="580780"/>
            <a:ext cx="11307064" cy="0"/>
          </a:xfrm>
          <a:prstGeom prst="line">
            <a:avLst/>
          </a:prstGeom>
          <a:gradFill flip="none" rotWithShape="1">
            <a:gsLst>
              <a:gs pos="0">
                <a:srgbClr val="E6564F"/>
              </a:gs>
              <a:gs pos="70000">
                <a:srgbClr val="D12A22"/>
              </a:gs>
            </a:gsLst>
            <a:lin ang="5400000" scaled="1"/>
            <a:tileRect/>
          </a:gradFill>
          <a:ln w="19050" cap="flat" cmpd="sng" algn="ctr">
            <a:gradFill>
              <a:gsLst>
                <a:gs pos="30000">
                  <a:schemeClr val="accent1"/>
                </a:gs>
                <a:gs pos="100000">
                  <a:schemeClr val="accent6">
                    <a:lumMod val="0"/>
                    <a:lumOff val="100000"/>
                  </a:schemeClr>
                </a:gs>
              </a:gsLst>
              <a:lin ang="0" scaled="0"/>
            </a:gradFill>
            <a:prstDash val="solid"/>
            <a:miter lim="800000"/>
          </a:ln>
          <a:effectLst/>
        </p:spPr>
      </p:cxnSp>
      <p:sp>
        <p:nvSpPr>
          <p:cNvPr id="42" name="文本框 41"/>
          <p:cNvSpPr txBox="1"/>
          <p:nvPr/>
        </p:nvSpPr>
        <p:spPr>
          <a:xfrm>
            <a:off x="442595" y="2164080"/>
            <a:ext cx="3624580" cy="460375"/>
          </a:xfrm>
          <a:prstGeom prst="rect">
            <a:avLst/>
          </a:prstGeom>
          <a:noFill/>
        </p:spPr>
        <p:txBody>
          <a:bodyPr wrap="square">
            <a:spAutoFit/>
          </a:bodyPr>
          <a:lstStyle/>
          <a:p>
            <a:r>
              <a:rPr lang="pt-BR" altLang="zh-CN" sz="2400" b="1" dirty="0">
                <a:latin typeface="Times New Roman" panose="02020603050405020304" pitchFamily="18" charset="0"/>
                <a:ea typeface="微软雅黑" panose="020B0503020204020204" pitchFamily="34" charset="-122"/>
                <a:cs typeface="Times New Roman" panose="02020603050405020304" pitchFamily="18" charset="0"/>
              </a:rPr>
              <a:t>Overall Structural Design</a:t>
            </a:r>
            <a:endParaRPr lang="zh-CN" altLang="en-US" sz="2400" b="1" dirty="0">
              <a:latin typeface="Times New Roman" panose="02020603050405020304" pitchFamily="18" charset="0"/>
              <a:cs typeface="Times New Roman" panose="02020603050405020304" pitchFamily="18" charset="0"/>
            </a:endParaRPr>
          </a:p>
        </p:txBody>
      </p:sp>
      <p:sp>
        <p:nvSpPr>
          <p:cNvPr id="3" name="文本框 2"/>
          <p:cNvSpPr txBox="1"/>
          <p:nvPr/>
        </p:nvSpPr>
        <p:spPr>
          <a:xfrm>
            <a:off x="396240" y="680085"/>
            <a:ext cx="4064000" cy="460375"/>
          </a:xfrm>
          <a:prstGeom prst="rect">
            <a:avLst/>
          </a:prstGeom>
          <a:noFill/>
        </p:spPr>
        <p:txBody>
          <a:bodyPr wrap="square" rtlCol="0">
            <a:spAutoFit/>
          </a:bodyPr>
          <a:p>
            <a:r>
              <a:rPr lang="en-US" altLang="zh-CN" sz="2400" b="1">
                <a:solidFill>
                  <a:srgbClr val="FF0000"/>
                </a:solidFill>
                <a:latin typeface="Times New Roman" panose="02020603050405020304" pitchFamily="18" charset="0"/>
                <a:cs typeface="Times New Roman" panose="02020603050405020304" pitchFamily="18" charset="0"/>
              </a:rPr>
              <a:t>Core objective</a:t>
            </a:r>
            <a:endParaRPr lang="en-US" altLang="zh-CN" sz="2400" b="1">
              <a:solidFill>
                <a:srgbClr val="FF0000"/>
              </a:solidFill>
              <a:latin typeface="Times New Roman" panose="02020603050405020304" pitchFamily="18" charset="0"/>
              <a:cs typeface="Times New Roman" panose="02020603050405020304" pitchFamily="18" charset="0"/>
            </a:endParaRPr>
          </a:p>
        </p:txBody>
      </p:sp>
      <p:sp>
        <p:nvSpPr>
          <p:cNvPr id="4" name="文本框 3"/>
          <p:cNvSpPr txBox="1"/>
          <p:nvPr/>
        </p:nvSpPr>
        <p:spPr>
          <a:xfrm>
            <a:off x="396240" y="1157605"/>
            <a:ext cx="6290945" cy="922020"/>
          </a:xfrm>
          <a:prstGeom prst="rect">
            <a:avLst/>
          </a:prstGeom>
          <a:noFill/>
        </p:spPr>
        <p:txBody>
          <a:bodyPr wrap="square" rtlCol="0">
            <a:spAutoFit/>
          </a:bodyPr>
          <a:p>
            <a:r>
              <a:rPr lang="en-US" altLang="zh-CN">
                <a:latin typeface="Times New Roman" panose="02020603050405020304" pitchFamily="18" charset="0"/>
                <a:cs typeface="Times New Roman" panose="02020603050405020304" pitchFamily="18" charset="0"/>
              </a:rPr>
              <a:t>Design and build a modular, high-stability, lightweight Mecanum-wheel mobile platform integrated with a 2-DOF gimbal to provide a reliable motion and execution carrier for tracking robots.</a:t>
            </a:r>
            <a:endParaRPr lang="en-US" altLang="zh-CN">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 name="图片 32"/>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182014" y="102721"/>
            <a:ext cx="1800318" cy="540096"/>
          </a:xfrm>
          <a:prstGeom prst="rect">
            <a:avLst/>
          </a:prstGeom>
        </p:spPr>
      </p:pic>
      <p:sp>
        <p:nvSpPr>
          <p:cNvPr id="10" name="文本框 40"/>
          <p:cNvSpPr txBox="1"/>
          <p:nvPr/>
        </p:nvSpPr>
        <p:spPr>
          <a:xfrm>
            <a:off x="442469" y="25378"/>
            <a:ext cx="1785874" cy="523220"/>
          </a:xfrm>
          <a:prstGeom prst="rect">
            <a:avLst/>
          </a:prstGeom>
          <a:noFill/>
        </p:spPr>
        <p:txBody>
          <a:bodyPr wrap="non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pt-BR" altLang="zh-CN" sz="34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Structure</a:t>
            </a:r>
            <a:endParaRPr lang="zh-CN" altLang="en-US" sz="34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endParaRPr>
          </a:p>
        </p:txBody>
      </p:sp>
      <p:cxnSp>
        <p:nvCxnSpPr>
          <p:cNvPr id="26" name="PA-直接连接符 17"/>
          <p:cNvCxnSpPr/>
          <p:nvPr>
            <p:custDataLst>
              <p:tags r:id="rId2"/>
            </p:custDataLst>
          </p:nvPr>
        </p:nvCxnSpPr>
        <p:spPr>
          <a:xfrm>
            <a:off x="442468" y="580780"/>
            <a:ext cx="11307064" cy="0"/>
          </a:xfrm>
          <a:prstGeom prst="line">
            <a:avLst/>
          </a:prstGeom>
          <a:gradFill flip="none" rotWithShape="1">
            <a:gsLst>
              <a:gs pos="0">
                <a:srgbClr val="E6564F"/>
              </a:gs>
              <a:gs pos="70000">
                <a:srgbClr val="D12A22"/>
              </a:gs>
            </a:gsLst>
            <a:lin ang="5400000" scaled="1"/>
            <a:tileRect/>
          </a:gradFill>
          <a:ln w="19050" cap="flat" cmpd="sng" algn="ctr">
            <a:gradFill>
              <a:gsLst>
                <a:gs pos="30000">
                  <a:schemeClr val="accent1"/>
                </a:gs>
                <a:gs pos="100000">
                  <a:schemeClr val="accent6">
                    <a:lumMod val="0"/>
                    <a:lumOff val="100000"/>
                  </a:schemeClr>
                </a:gs>
              </a:gsLst>
              <a:lin ang="0" scaled="0"/>
            </a:gradFill>
            <a:prstDash val="solid"/>
            <a:miter lim="800000"/>
          </a:ln>
          <a:effectLst/>
        </p:spPr>
      </p:cxnSp>
      <p:sp>
        <p:nvSpPr>
          <p:cNvPr id="7" name="文本框 6"/>
          <p:cNvSpPr txBox="1"/>
          <p:nvPr/>
        </p:nvSpPr>
        <p:spPr>
          <a:xfrm>
            <a:off x="211455" y="710565"/>
            <a:ext cx="4064000" cy="460375"/>
          </a:xfrm>
          <a:prstGeom prst="rect">
            <a:avLst/>
          </a:prstGeom>
          <a:noFill/>
        </p:spPr>
        <p:txBody>
          <a:bodyPr wrap="square" rtlCol="0">
            <a:spAutoFit/>
          </a:bodyPr>
          <a:p>
            <a:r>
              <a:rPr lang="pt-BR" altLang="zh-CN" sz="2400" b="1" dirty="0">
                <a:latin typeface="Times New Roman" panose="02020603050405020304" pitchFamily="18" charset="0"/>
                <a:ea typeface="微软雅黑" panose="020B0503020204020204" pitchFamily="34" charset="-122"/>
                <a:cs typeface="Times New Roman" panose="02020603050405020304" pitchFamily="18" charset="0"/>
                <a:sym typeface="+mn-ea"/>
              </a:rPr>
              <a:t>Core Mechanical Modules</a:t>
            </a:r>
            <a:endParaRPr lang="zh-CN" altLang="en-US" sz="2400"/>
          </a:p>
        </p:txBody>
      </p:sp>
      <p:pic>
        <p:nvPicPr>
          <p:cNvPr id="5" name="图片 4" descr="日程表&#10;&#10;AI 生成的内容可能不正确。"/>
          <p:cNvPicPr>
            <a:picLocks noChangeAspect="1"/>
          </p:cNvPicPr>
          <p:nvPr/>
        </p:nvPicPr>
        <p:blipFill>
          <a:blip r:embed="rId3"/>
          <a:stretch>
            <a:fillRect/>
          </a:stretch>
        </p:blipFill>
        <p:spPr>
          <a:xfrm>
            <a:off x="5598795" y="581025"/>
            <a:ext cx="6287135" cy="3183890"/>
          </a:xfrm>
          <a:prstGeom prst="rect">
            <a:avLst/>
          </a:prstGeom>
        </p:spPr>
      </p:pic>
      <p:sp>
        <p:nvSpPr>
          <p:cNvPr id="2" name="文本框 1"/>
          <p:cNvSpPr txBox="1"/>
          <p:nvPr/>
        </p:nvSpPr>
        <p:spPr>
          <a:xfrm>
            <a:off x="231775" y="1188085"/>
            <a:ext cx="4064000" cy="368300"/>
          </a:xfrm>
          <a:prstGeom prst="rect">
            <a:avLst/>
          </a:prstGeom>
          <a:noFill/>
        </p:spPr>
        <p:txBody>
          <a:bodyPr wrap="square" rtlCol="0">
            <a:spAutoFit/>
          </a:bodyPr>
          <a:p>
            <a:r>
              <a:rPr lang="en-US" altLang="zh-CN" b="1" dirty="0">
                <a:solidFill>
                  <a:srgbClr val="2B52B7"/>
                </a:solidFill>
                <a:latin typeface="Times New Roman" panose="02020603050405020304" pitchFamily="18" charset="0"/>
                <a:cs typeface="Times New Roman" panose="02020603050405020304" pitchFamily="18" charset="0"/>
                <a:sym typeface="+mn-ea"/>
              </a:rPr>
              <a:t>Omnidirectional Chassis</a:t>
            </a:r>
            <a:endParaRPr lang="en-US" altLang="zh-CN">
              <a:latin typeface="Times New Roman" panose="02020603050405020304" pitchFamily="18" charset="0"/>
              <a:cs typeface="Times New Roman" panose="02020603050405020304" pitchFamily="18" charset="0"/>
            </a:endParaRPr>
          </a:p>
        </p:txBody>
      </p:sp>
      <p:pic>
        <p:nvPicPr>
          <p:cNvPr id="29" name="图片 28" descr="卡通人物&#10;&#10;AI 生成的内容可能不正确。"/>
          <p:cNvPicPr>
            <a:picLocks noChangeAspect="1"/>
          </p:cNvPicPr>
          <p:nvPr/>
        </p:nvPicPr>
        <p:blipFill>
          <a:blip r:embed="rId4"/>
          <a:stretch>
            <a:fillRect/>
          </a:stretch>
        </p:blipFill>
        <p:spPr>
          <a:xfrm>
            <a:off x="231775" y="1556385"/>
            <a:ext cx="1367155" cy="1316990"/>
          </a:xfrm>
          <a:prstGeom prst="rect">
            <a:avLst/>
          </a:prstGeom>
        </p:spPr>
      </p:pic>
      <p:pic>
        <p:nvPicPr>
          <p:cNvPr id="8" name="图片 7" descr="图示&#10;&#10;AI 生成的内容可能不正确。"/>
          <p:cNvPicPr>
            <a:picLocks noChangeAspect="1"/>
          </p:cNvPicPr>
          <p:nvPr/>
        </p:nvPicPr>
        <p:blipFill>
          <a:blip r:embed="rId5"/>
          <a:srcRect l="3598" r="53999"/>
          <a:stretch>
            <a:fillRect/>
          </a:stretch>
        </p:blipFill>
        <p:spPr>
          <a:xfrm>
            <a:off x="222885" y="2827020"/>
            <a:ext cx="1370965" cy="1639570"/>
          </a:xfrm>
          <a:prstGeom prst="rect">
            <a:avLst/>
          </a:prstGeom>
        </p:spPr>
      </p:pic>
      <p:sp>
        <p:nvSpPr>
          <p:cNvPr id="11" name="文本框 10"/>
          <p:cNvSpPr txBox="1"/>
          <p:nvPr/>
        </p:nvSpPr>
        <p:spPr>
          <a:xfrm>
            <a:off x="1582420" y="1680210"/>
            <a:ext cx="3750945" cy="922020"/>
          </a:xfrm>
          <a:prstGeom prst="rect">
            <a:avLst/>
          </a:prstGeom>
          <a:noFill/>
        </p:spPr>
        <p:txBody>
          <a:bodyPr wrap="square" rtlCol="0">
            <a:spAutoFit/>
          </a:bodyPr>
          <a:p>
            <a:r>
              <a:rPr lang="en-US" altLang="zh-CN">
                <a:latin typeface="Times New Roman" panose="02020603050405020304" pitchFamily="18" charset="0"/>
                <a:cs typeface="Times New Roman" panose="02020603050405020304" pitchFamily="18" charset="0"/>
              </a:rPr>
              <a:t>Adopt</a:t>
            </a:r>
            <a:r>
              <a:rPr lang="en-US" altLang="zh-CN" b="1">
                <a:solidFill>
                  <a:srgbClr val="FF0000"/>
                </a:solidFill>
                <a:latin typeface="Times New Roman" panose="02020603050405020304" pitchFamily="18" charset="0"/>
                <a:cs typeface="Times New Roman" panose="02020603050405020304" pitchFamily="18" charset="0"/>
              </a:rPr>
              <a:t> Mecanum wheels</a:t>
            </a:r>
            <a:r>
              <a:rPr lang="en-US" altLang="zh-CN">
                <a:latin typeface="Times New Roman" panose="02020603050405020304" pitchFamily="18" charset="0"/>
                <a:cs typeface="Times New Roman" panose="02020603050405020304" pitchFamily="18" charset="0"/>
              </a:rPr>
              <a:t> to achieve zero-radius turning and meet real-time tracking requirements.</a:t>
            </a:r>
            <a:endParaRPr lang="en-US" altLang="zh-CN">
              <a:latin typeface="Times New Roman" panose="02020603050405020304" pitchFamily="18" charset="0"/>
              <a:cs typeface="Times New Roman" panose="02020603050405020304" pitchFamily="18" charset="0"/>
            </a:endParaRPr>
          </a:p>
        </p:txBody>
      </p:sp>
      <p:sp>
        <p:nvSpPr>
          <p:cNvPr id="12" name="文本框 11"/>
          <p:cNvSpPr txBox="1"/>
          <p:nvPr/>
        </p:nvSpPr>
        <p:spPr>
          <a:xfrm>
            <a:off x="1593850" y="2978785"/>
            <a:ext cx="3677285" cy="1476375"/>
          </a:xfrm>
          <a:prstGeom prst="rect">
            <a:avLst/>
          </a:prstGeom>
          <a:noFill/>
        </p:spPr>
        <p:txBody>
          <a:bodyPr wrap="square" rtlCol="0">
            <a:spAutoFit/>
          </a:bodyPr>
          <a:p>
            <a:r>
              <a:rPr lang="en-US" altLang="zh-CN">
                <a:latin typeface="Times New Roman" panose="02020603050405020304" pitchFamily="18" charset="0"/>
                <a:cs typeface="Times New Roman" panose="02020603050405020304" pitchFamily="18" charset="0"/>
              </a:rPr>
              <a:t>Design </a:t>
            </a:r>
            <a:r>
              <a:rPr lang="en-US" altLang="zh-CN" b="1">
                <a:solidFill>
                  <a:srgbClr val="FF0000"/>
                </a:solidFill>
                <a:latin typeface="Times New Roman" panose="02020603050405020304" pitchFamily="18" charset="0"/>
                <a:cs typeface="Times New Roman" panose="02020603050405020304" pitchFamily="18" charset="0"/>
              </a:rPr>
              <a:t>independent spring-damper suspension</a:t>
            </a:r>
            <a:r>
              <a:rPr lang="en-US" altLang="zh-CN">
                <a:latin typeface="Times New Roman" panose="02020603050405020304" pitchFamily="18" charset="0"/>
                <a:cs typeface="Times New Roman" panose="02020603050405020304" pitchFamily="18" charset="0"/>
              </a:rPr>
              <a:t> for each wheel to solve the problem of simultaneous four-wheel contact and improve adaptability on uneven roads.</a:t>
            </a:r>
            <a:endParaRPr lang="en-US" altLang="zh-CN">
              <a:latin typeface="Times New Roman" panose="02020603050405020304" pitchFamily="18" charset="0"/>
              <a:cs typeface="Times New Roman" panose="02020603050405020304" pitchFamily="18" charset="0"/>
            </a:endParaRPr>
          </a:p>
        </p:txBody>
      </p:sp>
      <p:sp>
        <p:nvSpPr>
          <p:cNvPr id="13" name="文本框 12"/>
          <p:cNvSpPr txBox="1"/>
          <p:nvPr/>
        </p:nvSpPr>
        <p:spPr>
          <a:xfrm>
            <a:off x="233045" y="4549775"/>
            <a:ext cx="4062730" cy="368300"/>
          </a:xfrm>
          <a:prstGeom prst="rect">
            <a:avLst/>
          </a:prstGeom>
          <a:noFill/>
        </p:spPr>
        <p:txBody>
          <a:bodyPr wrap="square" rtlCol="0">
            <a:spAutoFit/>
          </a:bodyPr>
          <a:p>
            <a:r>
              <a:rPr lang="en-US" altLang="zh-CN" b="1" dirty="0">
                <a:solidFill>
                  <a:srgbClr val="2B52B7"/>
                </a:solidFill>
                <a:latin typeface="Times New Roman" panose="02020603050405020304" pitchFamily="18" charset="0"/>
                <a:cs typeface="Times New Roman" panose="02020603050405020304" pitchFamily="18" charset="0"/>
                <a:sym typeface="+mn-ea"/>
              </a:rPr>
              <a:t>2-DOF Tracking Pan-Tilt</a:t>
            </a:r>
            <a:r>
              <a:rPr lang="en-US" altLang="zh-CN" b="1" dirty="0">
                <a:latin typeface="Times New Roman" panose="02020603050405020304" pitchFamily="18" charset="0"/>
                <a:cs typeface="Times New Roman" panose="02020603050405020304" pitchFamily="18" charset="0"/>
                <a:sym typeface="+mn-ea"/>
              </a:rPr>
              <a:t> </a:t>
            </a:r>
            <a:endParaRPr lang="zh-CN" altLang="en-US"/>
          </a:p>
        </p:txBody>
      </p:sp>
      <p:pic>
        <p:nvPicPr>
          <p:cNvPr id="35" name="图片 34" descr="图片包含 游戏机, 桌子&#10;&#10;AI 生成的内容可能不正确。"/>
          <p:cNvPicPr>
            <a:picLocks noChangeAspect="1"/>
          </p:cNvPicPr>
          <p:nvPr>
            <p:custDataLst>
              <p:tags r:id="rId6"/>
            </p:custDataLst>
          </p:nvPr>
        </p:nvPicPr>
        <p:blipFill>
          <a:blip r:embed="rId7"/>
          <a:stretch>
            <a:fillRect/>
          </a:stretch>
        </p:blipFill>
        <p:spPr>
          <a:xfrm>
            <a:off x="231775" y="5001260"/>
            <a:ext cx="1687195" cy="1473200"/>
          </a:xfrm>
          <a:prstGeom prst="rect">
            <a:avLst/>
          </a:prstGeom>
        </p:spPr>
      </p:pic>
      <p:sp>
        <p:nvSpPr>
          <p:cNvPr id="14" name="文本框 13"/>
          <p:cNvSpPr txBox="1"/>
          <p:nvPr/>
        </p:nvSpPr>
        <p:spPr>
          <a:xfrm>
            <a:off x="1918970" y="5088255"/>
            <a:ext cx="3549015" cy="922020"/>
          </a:xfrm>
          <a:prstGeom prst="rect">
            <a:avLst/>
          </a:prstGeom>
          <a:noFill/>
        </p:spPr>
        <p:txBody>
          <a:bodyPr wrap="square" rtlCol="0">
            <a:spAutoFit/>
          </a:bodyPr>
          <a:p>
            <a:r>
              <a:rPr lang="en-US" altLang="zh-CN">
                <a:latin typeface="Times New Roman" panose="02020603050405020304" pitchFamily="18" charset="0"/>
                <a:cs typeface="Times New Roman" panose="02020603050405020304" pitchFamily="18" charset="0"/>
              </a:rPr>
              <a:t>Lightweight disc structure, driven by dual servos, achieves fast and omnidirectional target locking.</a:t>
            </a:r>
            <a:endParaRPr lang="en-US" altLang="zh-CN">
              <a:latin typeface="Times New Roman" panose="02020603050405020304" pitchFamily="18" charset="0"/>
              <a:cs typeface="Times New Roman" panose="02020603050405020304" pitchFamily="18" charset="0"/>
            </a:endParaRPr>
          </a:p>
        </p:txBody>
      </p:sp>
      <p:cxnSp>
        <p:nvCxnSpPr>
          <p:cNvPr id="43" name="直接连接符 42"/>
          <p:cNvCxnSpPr/>
          <p:nvPr/>
        </p:nvCxnSpPr>
        <p:spPr>
          <a:xfrm flipH="1" flipV="1">
            <a:off x="5257332" y="581273"/>
            <a:ext cx="23495" cy="6210935"/>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flipH="1">
            <a:off x="5257332" y="3831203"/>
            <a:ext cx="6939280" cy="42545"/>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6" name="文本框 15"/>
          <p:cNvSpPr txBox="1"/>
          <p:nvPr/>
        </p:nvSpPr>
        <p:spPr>
          <a:xfrm>
            <a:off x="5282565" y="3865245"/>
            <a:ext cx="6779895" cy="398780"/>
          </a:xfrm>
          <a:prstGeom prst="rect">
            <a:avLst/>
          </a:prstGeom>
          <a:noFill/>
        </p:spPr>
        <p:txBody>
          <a:bodyPr wrap="square" rtlCol="0">
            <a:spAutoFit/>
          </a:bodyPr>
          <a:p>
            <a:r>
              <a:rPr lang="en-US" altLang="zh-CN" sz="2000" b="1">
                <a:latin typeface="Times New Roman" panose="02020603050405020304" pitchFamily="18" charset="0"/>
                <a:cs typeface="Times New Roman" panose="02020603050405020304" pitchFamily="18" charset="0"/>
              </a:rPr>
              <a:t>Theoretical modeling and parameter optimization</a:t>
            </a:r>
            <a:endParaRPr lang="en-US" altLang="zh-CN" sz="2000" b="1">
              <a:latin typeface="Times New Roman" panose="02020603050405020304" pitchFamily="18" charset="0"/>
              <a:cs typeface="Times New Roman" panose="02020603050405020304" pitchFamily="18" charset="0"/>
            </a:endParaRPr>
          </a:p>
        </p:txBody>
      </p:sp>
      <p:sp>
        <p:nvSpPr>
          <p:cNvPr id="22" name="文本框 21"/>
          <p:cNvSpPr txBox="1"/>
          <p:nvPr/>
        </p:nvSpPr>
        <p:spPr>
          <a:xfrm>
            <a:off x="5318125" y="4220210"/>
            <a:ext cx="6833235" cy="521970"/>
          </a:xfrm>
          <a:prstGeom prst="rect">
            <a:avLst/>
          </a:prstGeom>
          <a:noFill/>
        </p:spPr>
        <p:txBody>
          <a:bodyPr wrap="square">
            <a:spAutoFit/>
          </a:bodyPr>
          <a:lstStyle/>
          <a:p>
            <a:r>
              <a:rPr lang="en-US" altLang="zh-CN" sz="1400" b="1" dirty="0">
                <a:latin typeface="Times New Roman" panose="02020603050405020304" pitchFamily="18" charset="0"/>
                <a:cs typeface="Times New Roman" panose="02020603050405020304" pitchFamily="18" charset="0"/>
              </a:rPr>
              <a:t>Dynamic Modeling:</a:t>
            </a:r>
            <a:r>
              <a:rPr lang="en-US" altLang="zh-CN" sz="1400" dirty="0">
                <a:latin typeface="Times New Roman" panose="02020603050405020304" pitchFamily="18" charset="0"/>
                <a:cs typeface="Times New Roman" panose="02020603050405020304" pitchFamily="18" charset="0"/>
              </a:rPr>
              <a:t> We model the suspension as a quarter-car linear spring-damper system. The equation of motion is defined as:</a:t>
            </a:r>
            <a:endParaRPr lang="zh-CN" altLang="en-US" sz="1400" dirty="0">
              <a:latin typeface="Times New Roman" panose="02020603050405020304" pitchFamily="18" charset="0"/>
              <a:cs typeface="Times New Roman" panose="02020603050405020304" pitchFamily="18" charset="0"/>
            </a:endParaRPr>
          </a:p>
        </p:txBody>
      </p:sp>
      <p:pic>
        <p:nvPicPr>
          <p:cNvPr id="36" name="图片 35"/>
          <p:cNvPicPr>
            <a:picLocks noChangeAspect="1"/>
          </p:cNvPicPr>
          <p:nvPr/>
        </p:nvPicPr>
        <p:blipFill>
          <a:blip r:embed="rId8"/>
          <a:stretch>
            <a:fillRect/>
          </a:stretch>
        </p:blipFill>
        <p:spPr>
          <a:xfrm>
            <a:off x="7379353" y="4741352"/>
            <a:ext cx="2012721" cy="304329"/>
          </a:xfrm>
          <a:prstGeom prst="rect">
            <a:avLst/>
          </a:prstGeom>
        </p:spPr>
      </p:pic>
      <p:sp>
        <p:nvSpPr>
          <p:cNvPr id="38" name="文本框 37"/>
          <p:cNvSpPr txBox="1"/>
          <p:nvPr/>
        </p:nvSpPr>
        <p:spPr>
          <a:xfrm>
            <a:off x="5827395" y="5001260"/>
            <a:ext cx="5974715" cy="306705"/>
          </a:xfrm>
          <a:prstGeom prst="rect">
            <a:avLst/>
          </a:prstGeom>
          <a:noFill/>
        </p:spPr>
        <p:txBody>
          <a:bodyPr wrap="square">
            <a:spAutoFit/>
          </a:bodyPr>
          <a:lstStyle/>
          <a:p>
            <a:r>
              <a:rPr lang="zh-CN" altLang="en-US" sz="1400" dirty="0">
                <a:latin typeface="Times New Roman" panose="02020603050405020304" pitchFamily="18" charset="0"/>
                <a:cs typeface="Times New Roman" panose="02020603050405020304" pitchFamily="18" charset="0"/>
              </a:rPr>
              <a:t>(Where m is quarter-mass, c is damping coefficient, k is spring stiffness).</a:t>
            </a:r>
            <a:endParaRPr lang="zh-CN" altLang="en-US" sz="1400" dirty="0">
              <a:latin typeface="Times New Roman" panose="02020603050405020304" pitchFamily="18" charset="0"/>
              <a:cs typeface="Times New Roman" panose="02020603050405020304" pitchFamily="18" charset="0"/>
            </a:endParaRPr>
          </a:p>
        </p:txBody>
      </p:sp>
      <p:sp>
        <p:nvSpPr>
          <p:cNvPr id="41" name="文本框 40"/>
          <p:cNvSpPr txBox="1"/>
          <p:nvPr/>
        </p:nvSpPr>
        <p:spPr>
          <a:xfrm>
            <a:off x="5333365" y="5307965"/>
            <a:ext cx="6858635" cy="737235"/>
          </a:xfrm>
          <a:prstGeom prst="rect">
            <a:avLst/>
          </a:prstGeom>
          <a:noFill/>
        </p:spPr>
        <p:txBody>
          <a:bodyPr wrap="square">
            <a:spAutoFit/>
          </a:bodyPr>
          <a:lstStyle/>
          <a:p>
            <a:r>
              <a:rPr lang="zh-CN" altLang="en-US" sz="1400" b="1" dirty="0">
                <a:latin typeface="Times New Roman" panose="02020603050405020304" pitchFamily="18" charset="0"/>
                <a:cs typeface="Times New Roman" panose="02020603050405020304" pitchFamily="18" charset="0"/>
              </a:rPr>
              <a:t>Parameter Optimization: </a:t>
            </a:r>
            <a:r>
              <a:rPr lang="zh-CN" altLang="en-US" sz="1400" dirty="0">
                <a:latin typeface="Times New Roman" panose="02020603050405020304" pitchFamily="18" charset="0"/>
                <a:cs typeface="Times New Roman" panose="02020603050405020304" pitchFamily="18" charset="0"/>
              </a:rPr>
              <a:t>To prevent chassis resonance and optimize target-tracking stability, we calculate the natural frequency </a:t>
            </a:r>
            <a:r>
              <a:rPr lang="el-GR" altLang="zh-CN" sz="1400" dirty="0">
                <a:latin typeface="Times New Roman" panose="02020603050405020304" pitchFamily="18" charset="0"/>
                <a:cs typeface="Times New Roman" panose="02020603050405020304" pitchFamily="18" charset="0"/>
              </a:rPr>
              <a:t>ω</a:t>
            </a:r>
            <a:r>
              <a:rPr lang="en-US" altLang="zh-CN" sz="1400" dirty="0">
                <a:latin typeface="Times New Roman" panose="02020603050405020304" pitchFamily="18" charset="0"/>
                <a:cs typeface="Times New Roman" panose="02020603050405020304" pitchFamily="18" charset="0"/>
              </a:rPr>
              <a:t>n </a:t>
            </a:r>
            <a:r>
              <a:rPr lang="zh-CN" altLang="en-US" sz="1400" dirty="0">
                <a:latin typeface="Times New Roman" panose="02020603050405020304" pitchFamily="18" charset="0"/>
                <a:cs typeface="Times New Roman" panose="02020603050405020304" pitchFamily="18" charset="0"/>
              </a:rPr>
              <a:t>and select springs to achieve an underdamped response:</a:t>
            </a:r>
            <a:endParaRPr lang="zh-CN" altLang="en-US" sz="1400" dirty="0">
              <a:latin typeface="Times New Roman" panose="02020603050405020304" pitchFamily="18" charset="0"/>
              <a:cs typeface="Times New Roman" panose="02020603050405020304" pitchFamily="18" charset="0"/>
            </a:endParaRPr>
          </a:p>
        </p:txBody>
      </p:sp>
      <p:pic>
        <p:nvPicPr>
          <p:cNvPr id="44" name="图片 43" descr="手机屏幕截图&#10;&#10;AI 生成的内容可能不正确。"/>
          <p:cNvPicPr>
            <a:picLocks noChangeAspect="1"/>
          </p:cNvPicPr>
          <p:nvPr/>
        </p:nvPicPr>
        <p:blipFill>
          <a:blip r:embed="rId9"/>
          <a:stretch>
            <a:fillRect/>
          </a:stretch>
        </p:blipFill>
        <p:spPr>
          <a:xfrm>
            <a:off x="7379569" y="5751780"/>
            <a:ext cx="2069655" cy="535256"/>
          </a:xfrm>
          <a:prstGeom prst="rect">
            <a:avLst/>
          </a:prstGeom>
        </p:spPr>
      </p:pic>
      <p:sp>
        <p:nvSpPr>
          <p:cNvPr id="46" name="文本框 45"/>
          <p:cNvSpPr txBox="1"/>
          <p:nvPr/>
        </p:nvSpPr>
        <p:spPr>
          <a:xfrm>
            <a:off x="5334000" y="6280785"/>
            <a:ext cx="6728460" cy="521970"/>
          </a:xfrm>
          <a:prstGeom prst="rect">
            <a:avLst/>
          </a:prstGeom>
          <a:noFill/>
        </p:spPr>
        <p:txBody>
          <a:bodyPr wrap="square">
            <a:spAutoFit/>
          </a:bodyPr>
          <a:lstStyle/>
          <a:p>
            <a:r>
              <a:rPr lang="zh-CN" altLang="en-US" sz="1400" b="1" dirty="0">
                <a:latin typeface="Times New Roman" panose="02020603050405020304" pitchFamily="18" charset="0"/>
                <a:cs typeface="Times New Roman" panose="02020603050405020304" pitchFamily="18" charset="0"/>
              </a:rPr>
              <a:t>Stiffness Selection: </a:t>
            </a:r>
            <a:r>
              <a:rPr lang="zh-CN" altLang="en-US" sz="1400" dirty="0">
                <a:latin typeface="Times New Roman" panose="02020603050405020304" pitchFamily="18" charset="0"/>
                <a:cs typeface="Times New Roman" panose="02020603050405020304" pitchFamily="18" charset="0"/>
              </a:rPr>
              <a:t>Based on a max payload of Wmax and desired deflection δmax, the required stiffness is determined by</a:t>
            </a:r>
            <a:r>
              <a:rPr lang="en-US" altLang="zh-CN" sz="1400" dirty="0">
                <a:latin typeface="Times New Roman" panose="02020603050405020304" pitchFamily="18" charset="0"/>
                <a:cs typeface="Times New Roman" panose="02020603050405020304" pitchFamily="18" charset="0"/>
              </a:rPr>
              <a:t>:</a:t>
            </a:r>
            <a:endParaRPr lang="zh-CN" altLang="en-US" sz="1400" dirty="0">
              <a:latin typeface="Times New Roman" panose="02020603050405020304" pitchFamily="18" charset="0"/>
              <a:cs typeface="Times New Roman" panose="02020603050405020304" pitchFamily="18" charset="0"/>
            </a:endParaRPr>
          </a:p>
        </p:txBody>
      </p:sp>
      <p:pic>
        <p:nvPicPr>
          <p:cNvPr id="48" name="图片 47" descr="文本&#10;&#10;AI 生成的内容可能不正确。"/>
          <p:cNvPicPr>
            <a:picLocks noChangeAspect="1"/>
          </p:cNvPicPr>
          <p:nvPr/>
        </p:nvPicPr>
        <p:blipFill>
          <a:blip r:embed="rId10"/>
          <a:stretch>
            <a:fillRect/>
          </a:stretch>
        </p:blipFill>
        <p:spPr>
          <a:xfrm>
            <a:off x="8010533" y="6503979"/>
            <a:ext cx="807394" cy="35446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 name="图片 32"/>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182014" y="102721"/>
            <a:ext cx="1800318" cy="540096"/>
          </a:xfrm>
          <a:prstGeom prst="rect">
            <a:avLst/>
          </a:prstGeom>
        </p:spPr>
      </p:pic>
      <p:sp>
        <p:nvSpPr>
          <p:cNvPr id="10" name="文本框 40"/>
          <p:cNvSpPr txBox="1"/>
          <p:nvPr/>
        </p:nvSpPr>
        <p:spPr>
          <a:xfrm>
            <a:off x="442469" y="25378"/>
            <a:ext cx="1785874" cy="523220"/>
          </a:xfrm>
          <a:prstGeom prst="rect">
            <a:avLst/>
          </a:prstGeom>
          <a:noFill/>
        </p:spPr>
        <p:txBody>
          <a:bodyPr wrap="non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pt-BR" altLang="zh-CN" sz="34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Structure</a:t>
            </a:r>
            <a:endParaRPr lang="zh-CN" altLang="en-US" sz="34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endParaRPr>
          </a:p>
        </p:txBody>
      </p:sp>
      <p:cxnSp>
        <p:nvCxnSpPr>
          <p:cNvPr id="26" name="PA-直接连接符 17"/>
          <p:cNvCxnSpPr/>
          <p:nvPr>
            <p:custDataLst>
              <p:tags r:id="rId2"/>
            </p:custDataLst>
          </p:nvPr>
        </p:nvCxnSpPr>
        <p:spPr>
          <a:xfrm>
            <a:off x="442468" y="580780"/>
            <a:ext cx="11307064" cy="0"/>
          </a:xfrm>
          <a:prstGeom prst="line">
            <a:avLst/>
          </a:prstGeom>
          <a:gradFill flip="none" rotWithShape="1">
            <a:gsLst>
              <a:gs pos="0">
                <a:srgbClr val="E6564F"/>
              </a:gs>
              <a:gs pos="70000">
                <a:srgbClr val="D12A22"/>
              </a:gs>
            </a:gsLst>
            <a:lin ang="5400000" scaled="1"/>
            <a:tileRect/>
          </a:gradFill>
          <a:ln w="19050" cap="flat" cmpd="sng" algn="ctr">
            <a:gradFill>
              <a:gsLst>
                <a:gs pos="30000">
                  <a:schemeClr val="accent1"/>
                </a:gs>
                <a:gs pos="100000">
                  <a:schemeClr val="accent6">
                    <a:lumMod val="0"/>
                    <a:lumOff val="100000"/>
                  </a:schemeClr>
                </a:gs>
              </a:gsLst>
              <a:lin ang="0" scaled="0"/>
            </a:gradFill>
            <a:prstDash val="solid"/>
            <a:miter lim="800000"/>
          </a:ln>
          <a:effectLst/>
        </p:spPr>
      </p:cxnSp>
      <p:cxnSp>
        <p:nvCxnSpPr>
          <p:cNvPr id="43" name="直接连接符 42"/>
          <p:cNvCxnSpPr/>
          <p:nvPr/>
        </p:nvCxnSpPr>
        <p:spPr>
          <a:xfrm flipH="1">
            <a:off x="11597" y="3640703"/>
            <a:ext cx="12178665" cy="1270"/>
          </a:xfrm>
          <a:prstGeom prst="line">
            <a:avLst/>
          </a:prstGeom>
          <a:ln w="19050"/>
        </p:spPr>
        <p:style>
          <a:lnRef idx="1">
            <a:schemeClr val="accent1"/>
          </a:lnRef>
          <a:fillRef idx="0">
            <a:schemeClr val="accent1"/>
          </a:fillRef>
          <a:effectRef idx="0">
            <a:schemeClr val="accent1"/>
          </a:effectRef>
          <a:fontRef idx="minor">
            <a:schemeClr val="tx1"/>
          </a:fontRef>
        </p:style>
      </p:cxnSp>
      <p:pic>
        <p:nvPicPr>
          <p:cNvPr id="3" name="图片 2"/>
          <p:cNvPicPr>
            <a:picLocks noChangeAspect="1"/>
          </p:cNvPicPr>
          <p:nvPr/>
        </p:nvPicPr>
        <p:blipFill>
          <a:blip r:embed="rId3"/>
          <a:stretch>
            <a:fillRect/>
          </a:stretch>
        </p:blipFill>
        <p:spPr>
          <a:xfrm>
            <a:off x="0" y="4185285"/>
            <a:ext cx="12192000" cy="2672080"/>
          </a:xfrm>
          <a:prstGeom prst="rect">
            <a:avLst/>
          </a:prstGeom>
        </p:spPr>
      </p:pic>
      <p:sp>
        <p:nvSpPr>
          <p:cNvPr id="4" name="文本框 3"/>
          <p:cNvSpPr txBox="1"/>
          <p:nvPr/>
        </p:nvSpPr>
        <p:spPr>
          <a:xfrm>
            <a:off x="389255" y="642620"/>
            <a:ext cx="6905625" cy="460375"/>
          </a:xfrm>
          <a:prstGeom prst="rect">
            <a:avLst/>
          </a:prstGeom>
          <a:noFill/>
        </p:spPr>
        <p:txBody>
          <a:bodyPr wrap="square" rtlCol="0">
            <a:spAutoFit/>
          </a:bodyPr>
          <a:p>
            <a:r>
              <a:rPr lang="en-US" altLang="zh-CN" sz="2400" b="1">
                <a:latin typeface="Times New Roman" panose="02020603050405020304" pitchFamily="18" charset="0"/>
                <a:cs typeface="Times New Roman" panose="02020603050405020304" pitchFamily="18" charset="0"/>
              </a:rPr>
              <a:t>Personal Task Assignment and Progress Schedule</a:t>
            </a:r>
            <a:endParaRPr lang="en-US" altLang="zh-CN" sz="2400" b="1">
              <a:latin typeface="Times New Roman" panose="02020603050405020304" pitchFamily="18" charset="0"/>
              <a:cs typeface="Times New Roman" panose="02020603050405020304" pitchFamily="18" charset="0"/>
            </a:endParaRPr>
          </a:p>
        </p:txBody>
      </p:sp>
      <p:graphicFrame>
        <p:nvGraphicFramePr>
          <p:cNvPr id="6" name="表格 5"/>
          <p:cNvGraphicFramePr/>
          <p:nvPr>
            <p:custDataLst>
              <p:tags r:id="rId4"/>
            </p:custDataLst>
          </p:nvPr>
        </p:nvGraphicFramePr>
        <p:xfrm>
          <a:off x="442595" y="1102995"/>
          <a:ext cx="10621010" cy="2225675"/>
        </p:xfrm>
        <a:graphic>
          <a:graphicData uri="http://schemas.openxmlformats.org/drawingml/2006/table">
            <a:tbl>
              <a:tblPr firstRow="1" bandRow="1">
                <a:tableStyleId>{5C22544A-7EE6-4342-B048-85BDC9FD1C3A}</a:tableStyleId>
              </a:tblPr>
              <a:tblGrid>
                <a:gridCol w="5310505"/>
                <a:gridCol w="5310505"/>
              </a:tblGrid>
              <a:tr h="550545">
                <a:tc>
                  <a:txBody>
                    <a:bodyPr/>
                    <a:p>
                      <a:pPr algn="ctr">
                        <a:buNone/>
                      </a:pPr>
                      <a:r>
                        <a:rPr lang="en-US" altLang="zh-CN" sz="2000">
                          <a:latin typeface="Times New Roman" panose="02020603050405020304" pitchFamily="18" charset="0"/>
                          <a:cs typeface="Times New Roman" panose="02020603050405020304" pitchFamily="18" charset="0"/>
                        </a:rPr>
                        <a:t>Subtasks</a:t>
                      </a:r>
                      <a:endParaRPr lang="en-US" altLang="zh-CN" sz="2000">
                        <a:latin typeface="Times New Roman" panose="02020603050405020304" pitchFamily="18" charset="0"/>
                        <a:cs typeface="Times New Roman" panose="02020603050405020304" pitchFamily="18" charset="0"/>
                      </a:endParaRPr>
                    </a:p>
                  </a:txBody>
                  <a:tcPr anchor="ctr" anchorCtr="0"/>
                </a:tc>
                <a:tc>
                  <a:txBody>
                    <a:bodyPr/>
                    <a:p>
                      <a:pPr algn="ctr">
                        <a:buNone/>
                      </a:pPr>
                      <a:r>
                        <a:rPr lang="en-US" altLang="zh-CN" sz="2000">
                          <a:latin typeface="Times New Roman" panose="02020603050405020304" pitchFamily="18" charset="0"/>
                          <a:cs typeface="Times New Roman" panose="02020603050405020304" pitchFamily="18" charset="0"/>
                        </a:rPr>
                        <a:t>Specific Content</a:t>
                      </a:r>
                      <a:endParaRPr lang="en-US" altLang="zh-CN" sz="2000">
                        <a:latin typeface="Times New Roman" panose="02020603050405020304" pitchFamily="18" charset="0"/>
                        <a:cs typeface="Times New Roman" panose="02020603050405020304" pitchFamily="18" charset="0"/>
                      </a:endParaRPr>
                    </a:p>
                  </a:txBody>
                  <a:tcPr anchor="ctr" anchorCtr="0"/>
                </a:tc>
              </a:tr>
              <a:tr h="550545">
                <a:tc>
                  <a:txBody>
                    <a:bodyPr/>
                    <a:p>
                      <a:pPr>
                        <a:buNone/>
                      </a:pPr>
                      <a:r>
                        <a:rPr lang="en-US" altLang="zh-CN" sz="2000">
                          <a:latin typeface="Times New Roman" panose="02020603050405020304" pitchFamily="18" charset="0"/>
                          <a:cs typeface="Times New Roman" panose="02020603050405020304" pitchFamily="18" charset="0"/>
                        </a:rPr>
                        <a:t>1.1 Modeling Design</a:t>
                      </a:r>
                      <a:endParaRPr lang="en-US" altLang="zh-CN" sz="2000">
                        <a:latin typeface="Times New Roman" panose="02020603050405020304" pitchFamily="18" charset="0"/>
                        <a:cs typeface="Times New Roman" panose="02020603050405020304" pitchFamily="18" charset="0"/>
                      </a:endParaRPr>
                    </a:p>
                  </a:txBody>
                  <a:tcPr anchor="ctr" anchorCtr="0"/>
                </a:tc>
                <a:tc>
                  <a:txBody>
                    <a:bodyPr/>
                    <a:p>
                      <a:pPr>
                        <a:buNone/>
                      </a:pPr>
                      <a:r>
                        <a:rPr lang="en-US" altLang="zh-CN" sz="1400">
                          <a:latin typeface="Times New Roman" panose="02020603050405020304" pitchFamily="18" charset="0"/>
                          <a:cs typeface="Times New Roman" panose="02020603050405020304" pitchFamily="18" charset="0"/>
                        </a:rPr>
                        <a:t>3D modeling of chassis, suspension and gimbal (SolidWorks); </a:t>
                      </a:r>
                      <a:endParaRPr lang="en-US" altLang="zh-CN" sz="1400">
                        <a:latin typeface="Times New Roman" panose="02020603050405020304" pitchFamily="18" charset="0"/>
                        <a:cs typeface="Times New Roman" panose="02020603050405020304" pitchFamily="18" charset="0"/>
                      </a:endParaRPr>
                    </a:p>
                    <a:p>
                      <a:pPr>
                        <a:buNone/>
                      </a:pPr>
                      <a:r>
                        <a:rPr lang="en-US" altLang="zh-CN" sz="1400">
                          <a:latin typeface="Times New Roman" panose="02020603050405020304" pitchFamily="18" charset="0"/>
                          <a:cs typeface="Times New Roman" panose="02020603050405020304" pitchFamily="18" charset="0"/>
                        </a:rPr>
                        <a:t>material selection and preliminary layout</a:t>
                      </a:r>
                      <a:endParaRPr lang="en-US" altLang="zh-CN" sz="1400">
                        <a:latin typeface="Times New Roman" panose="02020603050405020304" pitchFamily="18" charset="0"/>
                        <a:cs typeface="Times New Roman" panose="02020603050405020304" pitchFamily="18" charset="0"/>
                      </a:endParaRPr>
                    </a:p>
                  </a:txBody>
                  <a:tcPr anchor="ctr" anchorCtr="0"/>
                </a:tc>
              </a:tr>
              <a:tr h="550545">
                <a:tc>
                  <a:txBody>
                    <a:bodyPr/>
                    <a:p>
                      <a:pPr>
                        <a:buNone/>
                      </a:pPr>
                      <a:r>
                        <a:rPr lang="en-US" altLang="zh-CN" sz="2000">
                          <a:latin typeface="Times New Roman" panose="02020603050405020304" pitchFamily="18" charset="0"/>
                          <a:cs typeface="Times New Roman" panose="02020603050405020304" pitchFamily="18" charset="0"/>
                        </a:rPr>
                        <a:t>1.2 Simulation</a:t>
                      </a:r>
                      <a:endParaRPr lang="en-US" altLang="zh-CN" sz="2000">
                        <a:latin typeface="Times New Roman" panose="02020603050405020304" pitchFamily="18" charset="0"/>
                        <a:cs typeface="Times New Roman" panose="02020603050405020304" pitchFamily="18" charset="0"/>
                      </a:endParaRPr>
                    </a:p>
                  </a:txBody>
                  <a:tcPr anchor="ctr" anchorCtr="0"/>
                </a:tc>
                <a:tc>
                  <a:txBody>
                    <a:bodyPr/>
                    <a:p>
                      <a:pPr>
                        <a:buNone/>
                      </a:pPr>
                      <a:r>
                        <a:rPr lang="en-US" altLang="zh-CN" sz="1400">
                          <a:latin typeface="Times New Roman" panose="02020603050405020304" pitchFamily="18" charset="0"/>
                          <a:cs typeface="Times New Roman" panose="02020603050405020304" pitchFamily="18" charset="0"/>
                        </a:rPr>
                        <a:t>Dynamic simulation of suspension system (e.g. ANSYS/Simulink); kinematic verification; parameter optimization</a:t>
                      </a:r>
                      <a:endParaRPr lang="en-US" altLang="zh-CN" sz="1400">
                        <a:latin typeface="Times New Roman" panose="02020603050405020304" pitchFamily="18" charset="0"/>
                        <a:cs typeface="Times New Roman" panose="02020603050405020304" pitchFamily="18" charset="0"/>
                      </a:endParaRPr>
                    </a:p>
                  </a:txBody>
                  <a:tcPr anchor="ctr" anchorCtr="0"/>
                </a:tc>
              </a:tr>
              <a:tr h="574040">
                <a:tc>
                  <a:txBody>
                    <a:bodyPr/>
                    <a:p>
                      <a:pPr>
                        <a:buNone/>
                      </a:pPr>
                      <a:r>
                        <a:rPr lang="en-US" altLang="zh-CN" sz="2000">
                          <a:latin typeface="Times New Roman" panose="02020603050405020304" pitchFamily="18" charset="0"/>
                          <a:cs typeface="Times New Roman" panose="02020603050405020304" pitchFamily="18" charset="0"/>
                        </a:rPr>
                        <a:t>1.3 Manufacturing</a:t>
                      </a:r>
                      <a:endParaRPr lang="en-US" altLang="zh-CN" sz="2000">
                        <a:latin typeface="Times New Roman" panose="02020603050405020304" pitchFamily="18" charset="0"/>
                        <a:cs typeface="Times New Roman" panose="02020603050405020304" pitchFamily="18" charset="0"/>
                      </a:endParaRPr>
                    </a:p>
                  </a:txBody>
                  <a:tcPr anchor="ctr" anchorCtr="0"/>
                </a:tc>
                <a:tc>
                  <a:txBody>
                    <a:bodyPr/>
                    <a:p>
                      <a:pPr>
                        <a:buNone/>
                      </a:pPr>
                      <a:r>
                        <a:rPr lang="en-US" altLang="zh-CN" sz="1400">
                          <a:latin typeface="Times New Roman" panose="02020603050405020304" pitchFamily="18" charset="0"/>
                          <a:cs typeface="Times New Roman" panose="02020603050405020304" pitchFamily="18" charset="0"/>
                        </a:rPr>
                        <a:t>CNC machining of main structural parts; 3D printing of brackets; procurement of standard parts; assembly and preliminary debugging</a:t>
                      </a:r>
                      <a:endParaRPr lang="en-US" altLang="zh-CN" sz="1400">
                        <a:latin typeface="Times New Roman" panose="02020603050405020304" pitchFamily="18" charset="0"/>
                        <a:cs typeface="Times New Roman" panose="02020603050405020304" pitchFamily="18" charset="0"/>
                      </a:endParaRPr>
                    </a:p>
                    <a:p>
                      <a:pPr>
                        <a:buNone/>
                      </a:pPr>
                      <a:endParaRPr lang="en-US" altLang="zh-CN" sz="1400">
                        <a:latin typeface="Times New Roman" panose="02020603050405020304" pitchFamily="18" charset="0"/>
                        <a:cs typeface="Times New Roman" panose="02020603050405020304" pitchFamily="18" charset="0"/>
                      </a:endParaRPr>
                    </a:p>
                  </a:txBody>
                  <a:tcPr anchor="ctr" anchorCtr="0"/>
                </a:tc>
              </a:tr>
            </a:tbl>
          </a:graphicData>
        </a:graphic>
      </p:graphicFrame>
      <p:sp>
        <p:nvSpPr>
          <p:cNvPr id="9" name="文本框 8"/>
          <p:cNvSpPr txBox="1"/>
          <p:nvPr/>
        </p:nvSpPr>
        <p:spPr>
          <a:xfrm>
            <a:off x="4746625" y="3651250"/>
            <a:ext cx="3082925" cy="460375"/>
          </a:xfrm>
          <a:prstGeom prst="rect">
            <a:avLst/>
          </a:prstGeom>
          <a:noFill/>
        </p:spPr>
        <p:txBody>
          <a:bodyPr wrap="square" rtlCol="0">
            <a:spAutoFit/>
          </a:bodyPr>
          <a:p>
            <a:r>
              <a:rPr lang="en-US" altLang="zh-CN" sz="2400" b="1">
                <a:solidFill>
                  <a:srgbClr val="FF0000"/>
                </a:solidFill>
                <a:latin typeface="Times New Roman" panose="02020603050405020304" pitchFamily="18" charset="0"/>
                <a:cs typeface="Times New Roman" panose="02020603050405020304" pitchFamily="18" charset="0"/>
                <a:sym typeface="+mn-ea"/>
              </a:rPr>
              <a:t>Progress Schedule</a:t>
            </a:r>
            <a:endParaRPr lang="en-US" altLang="zh-CN" sz="2400" b="1">
              <a:solidFill>
                <a:srgbClr val="FF0000"/>
              </a:solidFill>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PA-直接连接符 17"/>
          <p:cNvCxnSpPr/>
          <p:nvPr>
            <p:custDataLst>
              <p:tags r:id="rId1"/>
            </p:custDataLst>
          </p:nvPr>
        </p:nvCxnSpPr>
        <p:spPr>
          <a:xfrm>
            <a:off x="482600" y="698001"/>
            <a:ext cx="11307064" cy="0"/>
          </a:xfrm>
          <a:prstGeom prst="line">
            <a:avLst/>
          </a:prstGeom>
          <a:gradFill flip="none" rotWithShape="1">
            <a:gsLst>
              <a:gs pos="0">
                <a:srgbClr val="E6564F"/>
              </a:gs>
              <a:gs pos="70000">
                <a:srgbClr val="D12A22"/>
              </a:gs>
            </a:gsLst>
            <a:lin ang="5400000" scaled="1"/>
            <a:tileRect/>
          </a:gradFill>
          <a:ln w="19050" cap="flat" cmpd="sng" algn="ctr">
            <a:gradFill>
              <a:gsLst>
                <a:gs pos="30000">
                  <a:schemeClr val="accent1"/>
                </a:gs>
                <a:gs pos="100000">
                  <a:schemeClr val="accent6">
                    <a:lumMod val="0"/>
                    <a:lumOff val="100000"/>
                  </a:schemeClr>
                </a:gs>
              </a:gsLst>
              <a:lin ang="0" scaled="0"/>
            </a:gradFill>
            <a:prstDash val="solid"/>
            <a:miter lim="800000"/>
          </a:ln>
          <a:effectLst/>
        </p:spPr>
      </p:cxnSp>
      <p:pic>
        <p:nvPicPr>
          <p:cNvPr id="33" name="图片 3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182014" y="102721"/>
            <a:ext cx="1800318" cy="540096"/>
          </a:xfrm>
          <a:prstGeom prst="rect">
            <a:avLst/>
          </a:prstGeom>
        </p:spPr>
      </p:pic>
      <p:sp>
        <p:nvSpPr>
          <p:cNvPr id="2" name="文本框 40"/>
          <p:cNvSpPr txBox="1"/>
          <p:nvPr/>
        </p:nvSpPr>
        <p:spPr>
          <a:xfrm>
            <a:off x="284354" y="53953"/>
            <a:ext cx="1709909" cy="523220"/>
          </a:xfrm>
          <a:prstGeom prst="rect">
            <a:avLst/>
          </a:prstGeom>
          <a:noFill/>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34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Control</a:t>
            </a:r>
            <a:endParaRPr lang="zh-CN" altLang="en-US" sz="34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 name="文本框 2"/>
          <p:cNvSpPr txBox="1"/>
          <p:nvPr/>
        </p:nvSpPr>
        <p:spPr>
          <a:xfrm>
            <a:off x="521285" y="683105"/>
            <a:ext cx="6140772" cy="461665"/>
          </a:xfrm>
          <a:prstGeom prst="rect">
            <a:avLst/>
          </a:prstGeom>
          <a:noFill/>
        </p:spPr>
        <p:txBody>
          <a:bodyPr wrap="square">
            <a:spAutoFit/>
          </a:bodyPr>
          <a:lstStyle/>
          <a:p>
            <a:r>
              <a:rPr lang="en-US" altLang="zh-CN" sz="2400" b="1" dirty="0">
                <a:latin typeface="Times New Roman" panose="02020603050405020304" pitchFamily="18" charset="0"/>
                <a:ea typeface="微软雅黑" panose="020B0503020204020204" pitchFamily="34" charset="-122"/>
                <a:cs typeface="Times New Roman" panose="02020603050405020304" pitchFamily="18" charset="0"/>
              </a:rPr>
              <a:t>Motion control of </a:t>
            </a:r>
            <a:r>
              <a:rPr lang="en-US" altLang="zh-CN" sz="2400" b="1" dirty="0" err="1">
                <a:latin typeface="Times New Roman" panose="02020603050405020304" pitchFamily="18" charset="0"/>
                <a:ea typeface="微软雅黑" panose="020B0503020204020204" pitchFamily="34" charset="-122"/>
                <a:cs typeface="Times New Roman" panose="02020603050405020304" pitchFamily="18" charset="0"/>
              </a:rPr>
              <a:t>Mecanum</a:t>
            </a:r>
            <a:r>
              <a:rPr lang="en-US" altLang="zh-CN" sz="2400" b="1" dirty="0">
                <a:latin typeface="Times New Roman" panose="02020603050405020304" pitchFamily="18" charset="0"/>
                <a:ea typeface="微软雅黑" panose="020B0503020204020204" pitchFamily="34" charset="-122"/>
                <a:cs typeface="Times New Roman" panose="02020603050405020304" pitchFamily="18" charset="0"/>
              </a:rPr>
              <a:t> wheels</a:t>
            </a:r>
            <a:endParaRPr lang="zh-CN" altLang="en-US" sz="2400" b="1" dirty="0">
              <a:latin typeface="Times New Roman" panose="02020603050405020304" pitchFamily="18" charset="0"/>
              <a:cs typeface="Times New Roman" panose="02020603050405020304" pitchFamily="18" charset="0"/>
            </a:endParaRPr>
          </a:p>
        </p:txBody>
      </p:sp>
      <p:pic>
        <p:nvPicPr>
          <p:cNvPr id="6" name="图片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rot="5400000">
            <a:off x="-428343" y="2770742"/>
            <a:ext cx="4338885" cy="2439629"/>
          </a:xfrm>
          <a:prstGeom prst="rect">
            <a:avLst/>
          </a:prstGeom>
        </p:spPr>
      </p:pic>
      <p:sp>
        <p:nvSpPr>
          <p:cNvPr id="7" name="文本框 6"/>
          <p:cNvSpPr txBox="1"/>
          <p:nvPr/>
        </p:nvSpPr>
        <p:spPr>
          <a:xfrm>
            <a:off x="4005944" y="1405615"/>
            <a:ext cx="6940730" cy="706755"/>
          </a:xfrm>
          <a:prstGeom prst="rect">
            <a:avLst/>
          </a:prstGeom>
          <a:noFill/>
        </p:spPr>
        <p:txBody>
          <a:bodyPr wrap="square" rtlCol="0">
            <a:spAutoFit/>
          </a:bodyPr>
          <a:lstStyle/>
          <a:p>
            <a:r>
              <a:rPr lang="en-US" altLang="zh-CN" sz="2000" dirty="0">
                <a:latin typeface="Times New Roman" panose="02020603050405020304" pitchFamily="18" charset="0"/>
                <a:cs typeface="Times New Roman" panose="02020603050405020304" pitchFamily="18" charset="0"/>
              </a:rPr>
              <a:t>In order to control the movement of the AGV in the </a:t>
            </a:r>
            <a:r>
              <a:rPr lang="en-US" altLang="zh-CN" sz="2000" b="1" dirty="0">
                <a:latin typeface="Times New Roman" panose="02020603050405020304" pitchFamily="18" charset="0"/>
                <a:cs typeface="Times New Roman" panose="02020603050405020304" pitchFamily="18" charset="0"/>
              </a:rPr>
              <a:t>3 degrees of freedom</a:t>
            </a:r>
            <a:r>
              <a:rPr lang="en-US" altLang="zh-CN" sz="2000" dirty="0">
                <a:latin typeface="Times New Roman" panose="02020603050405020304" pitchFamily="18" charset="0"/>
                <a:cs typeface="Times New Roman" panose="02020603050405020304" pitchFamily="18" charset="0"/>
              </a:rPr>
              <a:t> on the plane, we need its</a:t>
            </a:r>
            <a:endParaRPr lang="zh-CN" altLang="en-US" sz="2000" dirty="0">
              <a:latin typeface="Times New Roman" panose="02020603050405020304" pitchFamily="18" charset="0"/>
              <a:cs typeface="Times New Roman" panose="02020603050405020304" pitchFamily="18" charset="0"/>
            </a:endParaRPr>
          </a:p>
        </p:txBody>
      </p:sp>
      <p:sp>
        <p:nvSpPr>
          <p:cNvPr id="8" name="文本框 7"/>
          <p:cNvSpPr txBox="1"/>
          <p:nvPr/>
        </p:nvSpPr>
        <p:spPr>
          <a:xfrm>
            <a:off x="3940810" y="2128520"/>
            <a:ext cx="4434205" cy="460375"/>
          </a:xfrm>
          <a:prstGeom prst="rect">
            <a:avLst/>
          </a:prstGeom>
          <a:noFill/>
        </p:spPr>
        <p:txBody>
          <a:bodyPr wrap="square" rtlCol="0">
            <a:spAutoFit/>
          </a:bodyPr>
          <a:lstStyle/>
          <a:p>
            <a:r>
              <a:rPr lang="en-US" altLang="zh-CN" sz="2400" b="1" dirty="0">
                <a:solidFill>
                  <a:srgbClr val="C00000"/>
                </a:solidFill>
                <a:latin typeface="Times New Roman" panose="02020603050405020304" pitchFamily="18" charset="0"/>
                <a:cs typeface="Times New Roman" panose="02020603050405020304" pitchFamily="18" charset="0"/>
              </a:rPr>
              <a:t> inverse kinematics matrix</a:t>
            </a:r>
            <a:endParaRPr lang="en-US" altLang="zh-CN" sz="2400" b="1" dirty="0">
              <a:solidFill>
                <a:srgbClr val="C00000"/>
              </a:solidFill>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9" name="文本框 8"/>
              <p:cNvSpPr txBox="1"/>
              <p:nvPr/>
            </p:nvSpPr>
            <p:spPr>
              <a:xfrm>
                <a:off x="5607833" y="2821114"/>
                <a:ext cx="3589188" cy="1190582"/>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d>
                        <m:dPr>
                          <m:begChr m:val="["/>
                          <m:endChr m:val="]"/>
                          <m:ctrlPr>
                            <a:rPr lang="en-US" altLang="zh-CN" sz="2000" i="1" smtClean="0">
                              <a:latin typeface="Cambria Math" panose="02040503050406030204" pitchFamily="18" charset="0"/>
                            </a:rPr>
                          </m:ctrlPr>
                        </m:dPr>
                        <m:e>
                          <m:m>
                            <m:mPr>
                              <m:mcs>
                                <m:mc>
                                  <m:mcPr>
                                    <m:count m:val="1"/>
                                    <m:mcJc m:val="center"/>
                                  </m:mcPr>
                                </m:mc>
                              </m:mcs>
                              <m:ctrlPr>
                                <a:rPr lang="en-US" altLang="zh-CN" sz="2000" i="1" smtClean="0">
                                  <a:latin typeface="Cambria Math" panose="02040503050406030204" pitchFamily="18" charset="0"/>
                                </a:rPr>
                              </m:ctrlPr>
                            </m:mPr>
                            <m:mr>
                              <m:e>
                                <m:m>
                                  <m:mPr>
                                    <m:mcs>
                                      <m:mc>
                                        <m:mcPr>
                                          <m:count m:val="1"/>
                                          <m:mcJc m:val="center"/>
                                        </m:mcPr>
                                      </m:mc>
                                    </m:mcs>
                                    <m:ctrlPr>
                                      <a:rPr lang="en-US" altLang="zh-CN" sz="2000" i="1" smtClean="0">
                                        <a:latin typeface="Cambria Math" panose="02040503050406030204" pitchFamily="18" charset="0"/>
                                      </a:rPr>
                                    </m:ctrlPr>
                                  </m:mPr>
                                  <m:mr>
                                    <m:e>
                                      <m:acc>
                                        <m:accPr>
                                          <m:chr m:val="̇"/>
                                          <m:ctrlPr>
                                            <a:rPr lang="en-US" altLang="zh-CN" sz="2000" i="1" smtClean="0">
                                              <a:latin typeface="Cambria Math" panose="02040503050406030204" pitchFamily="18" charset="0"/>
                                            </a:rPr>
                                          </m:ctrlPr>
                                        </m:accPr>
                                        <m:e>
                                          <m:sSub>
                                            <m:sSubPr>
                                              <m:ctrlPr>
                                                <a:rPr lang="en-US" altLang="zh-CN" sz="2000" i="1" smtClean="0">
                                                  <a:latin typeface="Cambria Math" panose="02040503050406030204" pitchFamily="18" charset="0"/>
                                                </a:rPr>
                                              </m:ctrlPr>
                                            </m:sSubPr>
                                            <m:e>
                                              <m:r>
                                                <a:rPr lang="en-US" altLang="zh-CN" sz="2000" b="0" i="1" smtClean="0">
                                                  <a:latin typeface="Cambria Math" panose="02040503050406030204" pitchFamily="18" charset="0"/>
                                                </a:rPr>
                                                <m:t>𝑠</m:t>
                                              </m:r>
                                            </m:e>
                                            <m:sub>
                                              <m:r>
                                                <a:rPr lang="en-US" altLang="zh-CN" sz="2000" b="0" i="1" smtClean="0">
                                                  <a:latin typeface="Cambria Math" panose="02040503050406030204" pitchFamily="18" charset="0"/>
                                                </a:rPr>
                                                <m:t>1</m:t>
                                              </m:r>
                                            </m:sub>
                                          </m:sSub>
                                        </m:e>
                                      </m:acc>
                                    </m:e>
                                  </m:mr>
                                  <m:mr>
                                    <m:e>
                                      <m:acc>
                                        <m:accPr>
                                          <m:chr m:val="̇"/>
                                          <m:ctrlPr>
                                            <a:rPr lang="en-US" altLang="zh-CN" sz="2000" i="1" smtClean="0">
                                              <a:latin typeface="Cambria Math" panose="02040503050406030204" pitchFamily="18" charset="0"/>
                                            </a:rPr>
                                          </m:ctrlPr>
                                        </m:accPr>
                                        <m:e>
                                          <m:sSub>
                                            <m:sSubPr>
                                              <m:ctrlPr>
                                                <a:rPr lang="en-US" altLang="zh-CN" sz="2000" i="1" smtClean="0">
                                                  <a:latin typeface="Cambria Math" panose="02040503050406030204" pitchFamily="18" charset="0"/>
                                                </a:rPr>
                                              </m:ctrlPr>
                                            </m:sSubPr>
                                            <m:e>
                                              <m:r>
                                                <a:rPr lang="en-US" altLang="zh-CN" sz="2000" b="0" i="1" smtClean="0">
                                                  <a:latin typeface="Cambria Math" panose="02040503050406030204" pitchFamily="18" charset="0"/>
                                                </a:rPr>
                                                <m:t>𝑠</m:t>
                                              </m:r>
                                            </m:e>
                                            <m:sub>
                                              <m:r>
                                                <a:rPr lang="en-US" altLang="zh-CN" sz="2000" b="0" i="1" smtClean="0">
                                                  <a:latin typeface="Cambria Math" panose="02040503050406030204" pitchFamily="18" charset="0"/>
                                                </a:rPr>
                                                <m:t>2</m:t>
                                              </m:r>
                                            </m:sub>
                                          </m:sSub>
                                        </m:e>
                                      </m:acc>
                                    </m:e>
                                  </m:mr>
                                </m:m>
                              </m:e>
                            </m:mr>
                            <m:mr>
                              <m:e>
                                <m:m>
                                  <m:mPr>
                                    <m:mcs>
                                      <m:mc>
                                        <m:mcPr>
                                          <m:count m:val="1"/>
                                          <m:mcJc m:val="center"/>
                                        </m:mcPr>
                                      </m:mc>
                                    </m:mcs>
                                    <m:ctrlPr>
                                      <a:rPr lang="en-US" altLang="zh-CN" sz="2000" i="1" smtClean="0">
                                        <a:latin typeface="Cambria Math" panose="02040503050406030204" pitchFamily="18" charset="0"/>
                                      </a:rPr>
                                    </m:ctrlPr>
                                  </m:mPr>
                                  <m:mr>
                                    <m:e>
                                      <m:acc>
                                        <m:accPr>
                                          <m:chr m:val="̇"/>
                                          <m:ctrlPr>
                                            <a:rPr lang="en-US" altLang="zh-CN" sz="2000" i="1" smtClean="0">
                                              <a:latin typeface="Cambria Math" panose="02040503050406030204" pitchFamily="18" charset="0"/>
                                            </a:rPr>
                                          </m:ctrlPr>
                                        </m:accPr>
                                        <m:e>
                                          <m:sSub>
                                            <m:sSubPr>
                                              <m:ctrlPr>
                                                <a:rPr lang="en-US" altLang="zh-CN" sz="2000" i="1" smtClean="0">
                                                  <a:latin typeface="Cambria Math" panose="02040503050406030204" pitchFamily="18" charset="0"/>
                                                </a:rPr>
                                              </m:ctrlPr>
                                            </m:sSubPr>
                                            <m:e>
                                              <m:r>
                                                <a:rPr lang="en-US" altLang="zh-CN" sz="2000" b="0" i="1" smtClean="0">
                                                  <a:latin typeface="Cambria Math" panose="02040503050406030204" pitchFamily="18" charset="0"/>
                                                </a:rPr>
                                                <m:t>𝑠</m:t>
                                              </m:r>
                                            </m:e>
                                            <m:sub>
                                              <m:r>
                                                <a:rPr lang="en-US" altLang="zh-CN" sz="2000" b="0" i="1" smtClean="0">
                                                  <a:latin typeface="Cambria Math" panose="02040503050406030204" pitchFamily="18" charset="0"/>
                                                </a:rPr>
                                                <m:t>3</m:t>
                                              </m:r>
                                            </m:sub>
                                          </m:sSub>
                                        </m:e>
                                      </m:acc>
                                    </m:e>
                                  </m:mr>
                                  <m:mr>
                                    <m:e>
                                      <m:acc>
                                        <m:accPr>
                                          <m:chr m:val="̇"/>
                                          <m:ctrlPr>
                                            <a:rPr lang="en-US" altLang="zh-CN" sz="2000" i="1" smtClean="0">
                                              <a:latin typeface="Cambria Math" panose="02040503050406030204" pitchFamily="18" charset="0"/>
                                            </a:rPr>
                                          </m:ctrlPr>
                                        </m:accPr>
                                        <m:e>
                                          <m:sSub>
                                            <m:sSubPr>
                                              <m:ctrlPr>
                                                <a:rPr lang="en-US" altLang="zh-CN" sz="2000" i="1" smtClean="0">
                                                  <a:latin typeface="Cambria Math" panose="02040503050406030204" pitchFamily="18" charset="0"/>
                                                </a:rPr>
                                              </m:ctrlPr>
                                            </m:sSubPr>
                                            <m:e>
                                              <m:r>
                                                <a:rPr lang="en-US" altLang="zh-CN" sz="2000" b="0" i="1" smtClean="0">
                                                  <a:latin typeface="Cambria Math" panose="02040503050406030204" pitchFamily="18" charset="0"/>
                                                </a:rPr>
                                                <m:t>𝑠</m:t>
                                              </m:r>
                                            </m:e>
                                            <m:sub>
                                              <m:r>
                                                <a:rPr lang="en-US" altLang="zh-CN" sz="2000" b="0" i="1" smtClean="0">
                                                  <a:latin typeface="Cambria Math" panose="02040503050406030204" pitchFamily="18" charset="0"/>
                                                </a:rPr>
                                                <m:t>4</m:t>
                                              </m:r>
                                            </m:sub>
                                          </m:sSub>
                                        </m:e>
                                      </m:acc>
                                    </m:e>
                                  </m:mr>
                                </m:m>
                              </m:e>
                            </m:mr>
                          </m:m>
                        </m:e>
                      </m:d>
                      <m:r>
                        <a:rPr lang="en-US" altLang="zh-CN" sz="2000" b="0" i="1" smtClean="0">
                          <a:latin typeface="Cambria Math" panose="02040503050406030204" pitchFamily="18" charset="0"/>
                        </a:rPr>
                        <m:t>=</m:t>
                      </m:r>
                      <m:d>
                        <m:dPr>
                          <m:begChr m:val="["/>
                          <m:endChr m:val="]"/>
                          <m:ctrlPr>
                            <a:rPr lang="en-US" altLang="zh-CN" sz="2000" b="0" i="1" smtClean="0">
                              <a:latin typeface="Cambria Math" panose="02040503050406030204" pitchFamily="18" charset="0"/>
                            </a:rPr>
                          </m:ctrlPr>
                        </m:dPr>
                        <m:e>
                          <m:m>
                            <m:mPr>
                              <m:mcs>
                                <m:mc>
                                  <m:mcPr>
                                    <m:count m:val="1"/>
                                    <m:mcJc m:val="center"/>
                                  </m:mcPr>
                                </m:mc>
                              </m:mcs>
                              <m:ctrlPr>
                                <a:rPr lang="en-US" altLang="zh-CN" sz="2000" b="0" i="1" smtClean="0">
                                  <a:latin typeface="Cambria Math" panose="02040503050406030204" pitchFamily="18" charset="0"/>
                                </a:rPr>
                              </m:ctrlPr>
                            </m:mPr>
                            <m:mr>
                              <m:e>
                                <m:m>
                                  <m:mPr>
                                    <m:mcs>
                                      <m:mc>
                                        <m:mcPr>
                                          <m:count m:val="3"/>
                                          <m:mcJc m:val="center"/>
                                        </m:mcPr>
                                      </m:mc>
                                    </m:mcs>
                                    <m:ctrlPr>
                                      <a:rPr lang="en-US" altLang="zh-CN" sz="2000" b="0" i="1" smtClean="0">
                                        <a:latin typeface="Cambria Math" panose="02040503050406030204" pitchFamily="18" charset="0"/>
                                      </a:rPr>
                                    </m:ctrlPr>
                                  </m:mPr>
                                  <m:mr>
                                    <m:e>
                                      <m:r>
                                        <m:rPr>
                                          <m:brk m:alnAt="7"/>
                                        </m:rPr>
                                        <a:rPr lang="en-US" altLang="zh-CN" sz="2000" b="0" i="1" smtClean="0">
                                          <a:latin typeface="Cambria Math" panose="02040503050406030204" pitchFamily="18" charset="0"/>
                                        </a:rPr>
                                        <m:t>1</m:t>
                                      </m:r>
                                    </m:e>
                                    <m:e>
                                      <m:r>
                                        <a:rPr lang="en-US" altLang="zh-CN" sz="2000" b="0" i="1" smtClean="0">
                                          <a:latin typeface="Cambria Math" panose="02040503050406030204" pitchFamily="18" charset="0"/>
                                        </a:rPr>
                                        <m:t>1</m:t>
                                      </m:r>
                                    </m:e>
                                    <m:e>
                                      <m:r>
                                        <a:rPr lang="en-US" altLang="zh-CN" sz="2000" b="0" i="1" smtClean="0">
                                          <a:latin typeface="Cambria Math" panose="02040503050406030204" pitchFamily="18" charset="0"/>
                                        </a:rPr>
                                        <m:t>𝐿</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𝑊</m:t>
                                      </m:r>
                                    </m:e>
                                  </m:mr>
                                  <m:mr>
                                    <m:e>
                                      <m:r>
                                        <a:rPr lang="en-US" altLang="zh-CN" sz="2000" b="0" i="1" smtClean="0">
                                          <a:latin typeface="Cambria Math" panose="02040503050406030204" pitchFamily="18" charset="0"/>
                                        </a:rPr>
                                        <m:t>1</m:t>
                                      </m:r>
                                    </m:e>
                                    <m:e>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1</m:t>
                                      </m:r>
                                    </m:e>
                                    <m:e>
                                      <m:r>
                                        <a:rPr lang="en-US" altLang="zh-CN" sz="2000" i="1">
                                          <a:latin typeface="Cambria Math" panose="02040503050406030204" pitchFamily="18" charset="0"/>
                                        </a:rPr>
                                        <m:t>𝐿</m:t>
                                      </m:r>
                                      <m:r>
                                        <a:rPr lang="en-US" altLang="zh-CN" sz="2000" i="1">
                                          <a:latin typeface="Cambria Math" panose="02040503050406030204" pitchFamily="18" charset="0"/>
                                        </a:rPr>
                                        <m:t>+</m:t>
                                      </m:r>
                                      <m:r>
                                        <a:rPr lang="en-US" altLang="zh-CN" sz="2000" i="1">
                                          <a:latin typeface="Cambria Math" panose="02040503050406030204" pitchFamily="18" charset="0"/>
                                        </a:rPr>
                                        <m:t>𝑊</m:t>
                                      </m:r>
                                    </m:e>
                                  </m:mr>
                                </m:m>
                              </m:e>
                            </m:mr>
                            <m:mr>
                              <m:e>
                                <m:m>
                                  <m:mPr>
                                    <m:mcs>
                                      <m:mc>
                                        <m:mcPr>
                                          <m:count m:val="3"/>
                                          <m:mcJc m:val="center"/>
                                        </m:mcPr>
                                      </m:mc>
                                    </m:mcs>
                                    <m:ctrlPr>
                                      <a:rPr lang="en-US" altLang="zh-CN" sz="2000" b="0" i="1" smtClean="0">
                                        <a:latin typeface="Cambria Math" panose="02040503050406030204" pitchFamily="18" charset="0"/>
                                      </a:rPr>
                                    </m:ctrlPr>
                                  </m:mPr>
                                  <m:mr>
                                    <m:e>
                                      <m:r>
                                        <m:rPr>
                                          <m:brk m:alnAt="7"/>
                                        </m:rPr>
                                        <a:rPr lang="en-US" altLang="zh-CN" sz="2000" b="0" i="1" smtClean="0">
                                          <a:latin typeface="Cambria Math" panose="02040503050406030204" pitchFamily="18" charset="0"/>
                                        </a:rPr>
                                        <m:t>1</m:t>
                                      </m:r>
                                    </m:e>
                                    <m:e>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1</m:t>
                                      </m:r>
                                    </m:e>
                                    <m:e>
                                      <m:r>
                                        <a:rPr lang="en-US" altLang="zh-CN" sz="2000" b="0" i="1" smtClean="0">
                                          <a:latin typeface="Cambria Math" panose="02040503050406030204" pitchFamily="18" charset="0"/>
                                        </a:rPr>
                                        <m:t>−(</m:t>
                                      </m:r>
                                      <m:r>
                                        <a:rPr lang="en-US" altLang="zh-CN" sz="2000" i="1">
                                          <a:latin typeface="Cambria Math" panose="02040503050406030204" pitchFamily="18" charset="0"/>
                                        </a:rPr>
                                        <m:t>𝐿</m:t>
                                      </m:r>
                                      <m:r>
                                        <a:rPr lang="en-US" altLang="zh-CN" sz="2000" i="1">
                                          <a:latin typeface="Cambria Math" panose="02040503050406030204" pitchFamily="18" charset="0"/>
                                        </a:rPr>
                                        <m:t>+</m:t>
                                      </m:r>
                                      <m:r>
                                        <a:rPr lang="en-US" altLang="zh-CN" sz="2000" i="1">
                                          <a:latin typeface="Cambria Math" panose="02040503050406030204" pitchFamily="18" charset="0"/>
                                        </a:rPr>
                                        <m:t>𝑊</m:t>
                                      </m:r>
                                      <m:r>
                                        <a:rPr lang="en-US" altLang="zh-CN" sz="2000" b="0" i="1" smtClean="0">
                                          <a:latin typeface="Cambria Math" panose="02040503050406030204" pitchFamily="18" charset="0"/>
                                        </a:rPr>
                                        <m:t>)</m:t>
                                      </m:r>
                                    </m:e>
                                  </m:mr>
                                  <m:mr>
                                    <m:e>
                                      <m:r>
                                        <a:rPr lang="en-US" altLang="zh-CN" sz="2000" b="0" i="1" smtClean="0">
                                          <a:latin typeface="Cambria Math" panose="02040503050406030204" pitchFamily="18" charset="0"/>
                                        </a:rPr>
                                        <m:t>1</m:t>
                                      </m:r>
                                    </m:e>
                                    <m:e>
                                      <m:r>
                                        <a:rPr lang="en-US" altLang="zh-CN" sz="2000" b="0" i="1" smtClean="0">
                                          <a:latin typeface="Cambria Math" panose="02040503050406030204" pitchFamily="18" charset="0"/>
                                        </a:rPr>
                                        <m:t>1</m:t>
                                      </m:r>
                                    </m:e>
                                    <m:e>
                                      <m:r>
                                        <a:rPr lang="en-US" altLang="zh-CN" sz="2000" b="0" i="1" smtClean="0">
                                          <a:latin typeface="Cambria Math" panose="02040503050406030204" pitchFamily="18" charset="0"/>
                                        </a:rPr>
                                        <m:t>−(</m:t>
                                      </m:r>
                                      <m:r>
                                        <a:rPr lang="en-US" altLang="zh-CN" sz="2000" i="1">
                                          <a:latin typeface="Cambria Math" panose="02040503050406030204" pitchFamily="18" charset="0"/>
                                        </a:rPr>
                                        <m:t>𝐿</m:t>
                                      </m:r>
                                      <m:r>
                                        <a:rPr lang="en-US" altLang="zh-CN" sz="2000" i="1">
                                          <a:latin typeface="Cambria Math" panose="02040503050406030204" pitchFamily="18" charset="0"/>
                                        </a:rPr>
                                        <m:t>+</m:t>
                                      </m:r>
                                      <m:r>
                                        <a:rPr lang="en-US" altLang="zh-CN" sz="2000" i="1">
                                          <a:latin typeface="Cambria Math" panose="02040503050406030204" pitchFamily="18" charset="0"/>
                                        </a:rPr>
                                        <m:t>𝑊</m:t>
                                      </m:r>
                                      <m:r>
                                        <a:rPr lang="en-US" altLang="zh-CN" sz="2000" b="0" i="1" smtClean="0">
                                          <a:latin typeface="Cambria Math" panose="02040503050406030204" pitchFamily="18" charset="0"/>
                                        </a:rPr>
                                        <m:t>)</m:t>
                                      </m:r>
                                    </m:e>
                                  </m:mr>
                                </m:m>
                              </m:e>
                            </m:mr>
                          </m:m>
                        </m:e>
                      </m:d>
                      <m:d>
                        <m:dPr>
                          <m:begChr m:val="["/>
                          <m:endChr m:val="]"/>
                          <m:ctrlPr>
                            <a:rPr lang="en-US" altLang="zh-CN" sz="2000" b="0" i="1" smtClean="0">
                              <a:latin typeface="Cambria Math" panose="02040503050406030204" pitchFamily="18" charset="0"/>
                            </a:rPr>
                          </m:ctrlPr>
                        </m:dPr>
                        <m:e>
                          <m:m>
                            <m:mPr>
                              <m:mcs>
                                <m:mc>
                                  <m:mcPr>
                                    <m:count m:val="1"/>
                                    <m:mcJc m:val="center"/>
                                  </m:mcPr>
                                </m:mc>
                              </m:mcs>
                              <m:ctrlPr>
                                <a:rPr lang="en-US" altLang="zh-CN" sz="2000" b="0" i="1" smtClean="0">
                                  <a:latin typeface="Cambria Math" panose="02040503050406030204" pitchFamily="18" charset="0"/>
                                </a:rPr>
                              </m:ctrlPr>
                            </m:mPr>
                            <m:mr>
                              <m:e>
                                <m:acc>
                                  <m:accPr>
                                    <m:chr m:val="̇"/>
                                    <m:ctrlPr>
                                      <a:rPr lang="en-US" altLang="zh-CN" sz="2000" b="0" i="1" smtClean="0">
                                        <a:latin typeface="Cambria Math" panose="02040503050406030204" pitchFamily="18" charset="0"/>
                                      </a:rPr>
                                    </m:ctrlPr>
                                  </m:accPr>
                                  <m:e>
                                    <m:r>
                                      <a:rPr lang="en-US" altLang="zh-CN" sz="2000" b="0" i="1" smtClean="0">
                                        <a:latin typeface="Cambria Math" panose="02040503050406030204" pitchFamily="18" charset="0"/>
                                      </a:rPr>
                                      <m:t>𝑥</m:t>
                                    </m:r>
                                  </m:e>
                                </m:acc>
                              </m:e>
                            </m:mr>
                            <m:mr>
                              <m:e>
                                <m:acc>
                                  <m:accPr>
                                    <m:chr m:val="̇"/>
                                    <m:ctrlPr>
                                      <a:rPr lang="en-US" altLang="zh-CN" sz="2000" b="0" i="1" smtClean="0">
                                        <a:latin typeface="Cambria Math" panose="02040503050406030204" pitchFamily="18" charset="0"/>
                                      </a:rPr>
                                    </m:ctrlPr>
                                  </m:accPr>
                                  <m:e>
                                    <m:r>
                                      <a:rPr lang="en-US" altLang="zh-CN" sz="2000" b="0" i="1" smtClean="0">
                                        <a:latin typeface="Cambria Math" panose="02040503050406030204" pitchFamily="18" charset="0"/>
                                      </a:rPr>
                                      <m:t>𝑦</m:t>
                                    </m:r>
                                  </m:e>
                                </m:acc>
                              </m:e>
                            </m:mr>
                            <m:mr>
                              <m:e>
                                <m:acc>
                                  <m:accPr>
                                    <m:chr m:val="̇"/>
                                    <m:ctrlPr>
                                      <a:rPr lang="en-US" altLang="zh-CN" sz="2000" b="0" i="1" smtClean="0">
                                        <a:latin typeface="Cambria Math" panose="02040503050406030204" pitchFamily="18" charset="0"/>
                                      </a:rPr>
                                    </m:ctrlPr>
                                  </m:accPr>
                                  <m:e>
                                    <m:r>
                                      <a:rPr lang="zh-CN" altLang="en-US" sz="2000" i="1">
                                        <a:latin typeface="Cambria Math" panose="02040503050406030204" pitchFamily="18" charset="0"/>
                                      </a:rPr>
                                      <m:t>𝜃</m:t>
                                    </m:r>
                                  </m:e>
                                </m:acc>
                              </m:e>
                            </m:mr>
                          </m:m>
                        </m:e>
                      </m:d>
                    </m:oMath>
                  </m:oMathPara>
                </a14:m>
                <a:endParaRPr lang="zh-CN" altLang="en-US" sz="2000" dirty="0"/>
              </a:p>
            </p:txBody>
          </p:sp>
        </mc:Choice>
        <mc:Fallback>
          <p:sp>
            <p:nvSpPr>
              <p:cNvPr id="9" name="文本框 8"/>
              <p:cNvSpPr txBox="1">
                <a:spLocks noRot="1" noChangeAspect="1" noMove="1" noResize="1" noEditPoints="1" noAdjustHandles="1" noChangeArrowheads="1" noChangeShapeType="1" noTextEdit="1"/>
              </p:cNvSpPr>
              <p:nvPr/>
            </p:nvSpPr>
            <p:spPr>
              <a:xfrm>
                <a:off x="5607833" y="2821114"/>
                <a:ext cx="3589188" cy="1190582"/>
              </a:xfrm>
              <a:prstGeom prst="rect">
                <a:avLst/>
              </a:prstGeom>
              <a:blipFill rotWithShape="1">
                <a:blip r:embed="rId4"/>
                <a:stretch>
                  <a:fillRect l="-4" t="-37" r="-1460" b="34"/>
                </a:stretch>
              </a:blipFill>
            </p:spPr>
            <p:txBody>
              <a:bodyPr/>
              <a:lstStyle/>
              <a:p>
                <a:r>
                  <a:rPr lang="zh-CN" altLang="en-US">
                    <a:noFill/>
                  </a:rPr>
                  <a:t> </a:t>
                </a:r>
              </a:p>
            </p:txBody>
          </p:sp>
        </mc:Fallback>
      </mc:AlternateContent>
      <p:sp>
        <p:nvSpPr>
          <p:cNvPr id="10" name="文本框 9"/>
          <p:cNvSpPr txBox="1"/>
          <p:nvPr/>
        </p:nvSpPr>
        <p:spPr>
          <a:xfrm>
            <a:off x="4005309" y="4244497"/>
            <a:ext cx="5191077" cy="1322070"/>
          </a:xfrm>
          <a:prstGeom prst="rect">
            <a:avLst/>
          </a:prstGeom>
          <a:noFill/>
        </p:spPr>
        <p:txBody>
          <a:bodyPr wrap="square" rtlCol="0">
            <a:spAutoFit/>
          </a:bodyPr>
          <a:lstStyle/>
          <a:p>
            <a:r>
              <a:rPr lang="en-US" altLang="zh-CN" sz="2000" dirty="0">
                <a:latin typeface="Times New Roman" panose="02020603050405020304" pitchFamily="18" charset="0"/>
                <a:cs typeface="Times New Roman" panose="02020603050405020304" pitchFamily="18" charset="0"/>
              </a:rPr>
              <a:t>Through inverse kinematics, we can calculate the </a:t>
            </a:r>
            <a:r>
              <a:rPr lang="en-US" altLang="zh-CN" sz="2000" b="1" dirty="0">
                <a:latin typeface="Times New Roman" panose="02020603050405020304" pitchFamily="18" charset="0"/>
                <a:cs typeface="Times New Roman" panose="02020603050405020304" pitchFamily="18" charset="0"/>
              </a:rPr>
              <a:t>required speeds/positions </a:t>
            </a:r>
            <a:r>
              <a:rPr lang="en-US" altLang="zh-CN" sz="2000" dirty="0">
                <a:latin typeface="Times New Roman" panose="02020603050405020304" pitchFamily="18" charset="0"/>
                <a:cs typeface="Times New Roman" panose="02020603050405020304" pitchFamily="18" charset="0"/>
              </a:rPr>
              <a:t>for each motor by simply inputting the speed/displacement values in the </a:t>
            </a:r>
            <a:r>
              <a:rPr lang="en-US" altLang="zh-CN" sz="2000" b="1" dirty="0">
                <a:latin typeface="Times New Roman" panose="02020603050405020304" pitchFamily="18" charset="0"/>
                <a:cs typeface="Times New Roman" panose="02020603050405020304" pitchFamily="18" charset="0"/>
              </a:rPr>
              <a:t>Cartesian coordinate system</a:t>
            </a:r>
            <a:r>
              <a:rPr lang="en-US" altLang="zh-CN" sz="2000" dirty="0">
                <a:latin typeface="Times New Roman" panose="02020603050405020304" pitchFamily="18" charset="0"/>
                <a:cs typeface="Times New Roman" panose="02020603050405020304" pitchFamily="18" charset="0"/>
              </a:rPr>
              <a:t>.</a:t>
            </a:r>
            <a:endParaRPr lang="zh-CN" altLang="en-US" sz="2000" dirty="0">
              <a:latin typeface="Times New Roman" panose="02020603050405020304" pitchFamily="18" charset="0"/>
              <a:cs typeface="Times New Roman" panose="02020603050405020304" pitchFamily="18" charset="0"/>
            </a:endParaRPr>
          </a:p>
        </p:txBody>
      </p:sp>
      <p:pic>
        <p:nvPicPr>
          <p:cNvPr id="1030"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277031" y="4068152"/>
            <a:ext cx="2794682" cy="269459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PA-直接连接符 17"/>
          <p:cNvCxnSpPr/>
          <p:nvPr>
            <p:custDataLst>
              <p:tags r:id="rId1"/>
            </p:custDataLst>
          </p:nvPr>
        </p:nvCxnSpPr>
        <p:spPr>
          <a:xfrm>
            <a:off x="482600" y="698001"/>
            <a:ext cx="11307064" cy="0"/>
          </a:xfrm>
          <a:prstGeom prst="line">
            <a:avLst/>
          </a:prstGeom>
          <a:gradFill flip="none" rotWithShape="1">
            <a:gsLst>
              <a:gs pos="0">
                <a:srgbClr val="E6564F"/>
              </a:gs>
              <a:gs pos="70000">
                <a:srgbClr val="D12A22"/>
              </a:gs>
            </a:gsLst>
            <a:lin ang="5400000" scaled="1"/>
            <a:tileRect/>
          </a:gradFill>
          <a:ln w="19050" cap="flat" cmpd="sng" algn="ctr">
            <a:gradFill>
              <a:gsLst>
                <a:gs pos="30000">
                  <a:schemeClr val="accent1"/>
                </a:gs>
                <a:gs pos="100000">
                  <a:schemeClr val="accent6">
                    <a:lumMod val="0"/>
                    <a:lumOff val="100000"/>
                  </a:schemeClr>
                </a:gs>
              </a:gsLst>
              <a:lin ang="0" scaled="0"/>
            </a:gradFill>
            <a:prstDash val="solid"/>
            <a:miter lim="800000"/>
          </a:ln>
          <a:effectLst/>
        </p:spPr>
      </p:cxnSp>
      <p:pic>
        <p:nvPicPr>
          <p:cNvPr id="33" name="图片 3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182014" y="102721"/>
            <a:ext cx="1800318" cy="540096"/>
          </a:xfrm>
          <a:prstGeom prst="rect">
            <a:avLst/>
          </a:prstGeom>
        </p:spPr>
      </p:pic>
      <p:sp>
        <p:nvSpPr>
          <p:cNvPr id="2" name="文本框 40"/>
          <p:cNvSpPr txBox="1"/>
          <p:nvPr/>
        </p:nvSpPr>
        <p:spPr>
          <a:xfrm>
            <a:off x="284354" y="53953"/>
            <a:ext cx="1709909" cy="523220"/>
          </a:xfrm>
          <a:prstGeom prst="rect">
            <a:avLst/>
          </a:prstGeom>
          <a:noFill/>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34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Control</a:t>
            </a:r>
            <a:endParaRPr lang="zh-CN" altLang="en-US" sz="34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 name="文本框 2"/>
          <p:cNvSpPr txBox="1"/>
          <p:nvPr/>
        </p:nvSpPr>
        <p:spPr>
          <a:xfrm>
            <a:off x="521285" y="683105"/>
            <a:ext cx="6140772" cy="461665"/>
          </a:xfrm>
          <a:prstGeom prst="rect">
            <a:avLst/>
          </a:prstGeom>
          <a:noFill/>
        </p:spPr>
        <p:txBody>
          <a:bodyPr wrap="square">
            <a:spAutoFit/>
          </a:bodyPr>
          <a:lstStyle/>
          <a:p>
            <a:r>
              <a:rPr lang="en-US" altLang="zh-CN" sz="2400" b="1" dirty="0">
                <a:latin typeface="Times New Roman" panose="02020603050405020304" pitchFamily="18" charset="0"/>
                <a:ea typeface="微软雅黑" panose="020B0503020204020204" pitchFamily="34" charset="-122"/>
                <a:cs typeface="Times New Roman" panose="02020603050405020304" pitchFamily="18" charset="0"/>
              </a:rPr>
              <a:t>Inertial navigation system based on encoder</a:t>
            </a:r>
            <a:endParaRPr lang="zh-CN" altLang="en-US" sz="2400" b="1" dirty="0">
              <a:latin typeface="Times New Roman" panose="02020603050405020304" pitchFamily="18" charset="0"/>
              <a:cs typeface="Times New Roman" panose="02020603050405020304" pitchFamily="18" charset="0"/>
            </a:endParaRPr>
          </a:p>
        </p:txBody>
      </p:sp>
      <p:sp>
        <p:nvSpPr>
          <p:cNvPr id="7" name="文本框 6"/>
          <p:cNvSpPr txBox="1"/>
          <p:nvPr/>
        </p:nvSpPr>
        <p:spPr>
          <a:xfrm>
            <a:off x="5634587" y="1199954"/>
            <a:ext cx="5869436" cy="1322070"/>
          </a:xfrm>
          <a:prstGeom prst="rect">
            <a:avLst/>
          </a:prstGeom>
          <a:noFill/>
        </p:spPr>
        <p:txBody>
          <a:bodyPr wrap="square" rtlCol="0">
            <a:spAutoFit/>
          </a:bodyPr>
          <a:lstStyle/>
          <a:p>
            <a:r>
              <a:rPr lang="en-US" altLang="zh-CN" sz="2000" b="1" dirty="0">
                <a:latin typeface="Times New Roman" panose="02020603050405020304" pitchFamily="18" charset="0"/>
                <a:cs typeface="Times New Roman" panose="02020603050405020304" pitchFamily="18" charset="0"/>
              </a:rPr>
              <a:t>Encoders</a:t>
            </a:r>
            <a:r>
              <a:rPr lang="en-US" altLang="zh-CN" sz="2000" dirty="0">
                <a:latin typeface="Times New Roman" panose="02020603050405020304" pitchFamily="18" charset="0"/>
                <a:cs typeface="Times New Roman" panose="02020603050405020304" pitchFamily="18" charset="0"/>
              </a:rPr>
              <a:t> are used to translate </a:t>
            </a:r>
            <a:r>
              <a:rPr lang="en-US" altLang="zh-CN" sz="2000" b="1" dirty="0">
                <a:latin typeface="Times New Roman" panose="02020603050405020304" pitchFamily="18" charset="0"/>
                <a:cs typeface="Times New Roman" panose="02020603050405020304" pitchFamily="18" charset="0"/>
              </a:rPr>
              <a:t>rotary or linear motion </a:t>
            </a:r>
            <a:r>
              <a:rPr lang="en-US" altLang="zh-CN" sz="2000" dirty="0">
                <a:latin typeface="Times New Roman" panose="02020603050405020304" pitchFamily="18" charset="0"/>
                <a:cs typeface="Times New Roman" panose="02020603050405020304" pitchFamily="18" charset="0"/>
              </a:rPr>
              <a:t>into a </a:t>
            </a:r>
            <a:r>
              <a:rPr lang="en-US" altLang="zh-CN" sz="2000" b="1" dirty="0">
                <a:latin typeface="Times New Roman" panose="02020603050405020304" pitchFamily="18" charset="0"/>
                <a:cs typeface="Times New Roman" panose="02020603050405020304" pitchFamily="18" charset="0"/>
              </a:rPr>
              <a:t>digital signal</a:t>
            </a:r>
            <a:r>
              <a:rPr lang="en-US" altLang="zh-CN" sz="2000" dirty="0">
                <a:latin typeface="Times New Roman" panose="02020603050405020304" pitchFamily="18" charset="0"/>
                <a:cs typeface="Times New Roman" panose="02020603050405020304" pitchFamily="18" charset="0"/>
              </a:rPr>
              <a:t>. Usually this is for the purpose of monitoring or controlling motion parameters such as </a:t>
            </a:r>
            <a:r>
              <a:rPr lang="en-US" altLang="zh-CN" sz="2000" b="1" dirty="0">
                <a:latin typeface="Times New Roman" panose="02020603050405020304" pitchFamily="18" charset="0"/>
                <a:cs typeface="Times New Roman" panose="02020603050405020304" pitchFamily="18" charset="0"/>
              </a:rPr>
              <a:t>speed, rate, direction, distance or position</a:t>
            </a:r>
            <a:r>
              <a:rPr lang="en-US" altLang="zh-CN" sz="2000" dirty="0">
                <a:latin typeface="Times New Roman" panose="02020603050405020304" pitchFamily="18" charset="0"/>
                <a:cs typeface="Times New Roman" panose="02020603050405020304" pitchFamily="18" charset="0"/>
              </a:rPr>
              <a:t>.</a:t>
            </a:r>
            <a:endParaRPr lang="en-US" altLang="zh-CN" sz="2000"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9" name="文本框 8"/>
              <p:cNvSpPr txBox="1"/>
              <p:nvPr/>
            </p:nvSpPr>
            <p:spPr>
              <a:xfrm>
                <a:off x="5283785" y="4055905"/>
                <a:ext cx="5451492" cy="1461426"/>
              </a:xfrm>
              <a:prstGeom prst="rect">
                <a:avLst/>
              </a:prstGeom>
              <a:noFill/>
            </p:spPr>
            <p:txBody>
              <a:bodyPr wrap="none" lIns="0" tIns="0" rIns="0" bIns="0" rtlCol="0">
                <a:spAutoFit/>
              </a:bodyPr>
              <a:lstStyle/>
              <a:p>
                <a14:m>
                  <m:oMath xmlns:m="http://schemas.openxmlformats.org/officeDocument/2006/math">
                    <m:d>
                      <m:dPr>
                        <m:begChr m:val="["/>
                        <m:endChr m:val="]"/>
                        <m:ctrlPr>
                          <a:rPr lang="en-US" altLang="zh-CN" sz="2000" i="1" smtClean="0">
                            <a:latin typeface="Cambria Math" panose="02040503050406030204" pitchFamily="18" charset="0"/>
                          </a:rPr>
                        </m:ctrlPr>
                      </m:dPr>
                      <m:e>
                        <m:m>
                          <m:mPr>
                            <m:mcs>
                              <m:mc>
                                <m:mcPr>
                                  <m:count m:val="1"/>
                                  <m:mcJc m:val="center"/>
                                </m:mcPr>
                              </m:mc>
                            </m:mcs>
                            <m:ctrlPr>
                              <a:rPr lang="en-US" altLang="zh-CN" sz="2000" i="1">
                                <a:latin typeface="Cambria Math" panose="02040503050406030204" pitchFamily="18" charset="0"/>
                              </a:rPr>
                            </m:ctrlPr>
                          </m:mPr>
                          <m:mr>
                            <m:e>
                              <m:r>
                                <m:rPr>
                                  <m:brk m:alnAt="7"/>
                                </m:rPr>
                                <a:rPr lang="en-US" altLang="zh-CN" sz="2000" i="1">
                                  <a:latin typeface="Cambria Math" panose="02040503050406030204" pitchFamily="18" charset="0"/>
                                </a:rPr>
                                <m:t>𝑥</m:t>
                              </m:r>
                            </m:e>
                          </m:mr>
                          <m:mr>
                            <m:e>
                              <m:r>
                                <a:rPr lang="en-US" altLang="zh-CN" sz="2000" i="1">
                                  <a:latin typeface="Cambria Math" panose="02040503050406030204" pitchFamily="18" charset="0"/>
                                </a:rPr>
                                <m:t>𝑦</m:t>
                              </m:r>
                            </m:e>
                          </m:mr>
                          <m:mr>
                            <m:e>
                              <m:r>
                                <a:rPr lang="zh-CN" altLang="en-US" sz="2000" i="1">
                                  <a:latin typeface="Cambria Math" panose="02040503050406030204" pitchFamily="18" charset="0"/>
                                </a:rPr>
                                <m:t>𝜃</m:t>
                              </m:r>
                            </m:e>
                          </m:mr>
                        </m:m>
                      </m:e>
                    </m:d>
                    <m:r>
                      <a:rPr lang="zh-CN" altLang="en-US" sz="2000" i="1">
                        <a:latin typeface="Cambria Math" panose="02040503050406030204" pitchFamily="18" charset="0"/>
                      </a:rPr>
                      <m:t> </m:t>
                    </m:r>
                    <m:r>
                      <a:rPr lang="en-US" altLang="zh-CN" sz="2000" b="0" i="1" smtClean="0">
                        <a:latin typeface="Cambria Math" panose="02040503050406030204" pitchFamily="18" charset="0"/>
                      </a:rPr>
                      <m:t>=</m:t>
                    </m:r>
                    <m:d>
                      <m:dPr>
                        <m:begChr m:val="["/>
                        <m:endChr m:val="]"/>
                        <m:ctrlPr>
                          <a:rPr lang="en-US" altLang="zh-CN" sz="2000" b="0" i="1" smtClean="0">
                            <a:latin typeface="Cambria Math" panose="02040503050406030204" pitchFamily="18" charset="0"/>
                          </a:rPr>
                        </m:ctrlPr>
                      </m:dPr>
                      <m:e>
                        <m:m>
                          <m:mPr>
                            <m:mcs>
                              <m:mc>
                                <m:mcPr>
                                  <m:count m:val="1"/>
                                  <m:mcJc m:val="center"/>
                                </m:mcPr>
                              </m:mc>
                            </m:mcs>
                            <m:ctrlPr>
                              <a:rPr lang="en-US" altLang="zh-CN" sz="2000" b="0" i="1" smtClean="0">
                                <a:latin typeface="Cambria Math" panose="02040503050406030204" pitchFamily="18" charset="0"/>
                              </a:rPr>
                            </m:ctrlPr>
                          </m:mPr>
                          <m:mr>
                            <m:e>
                              <m:m>
                                <m:mPr>
                                  <m:mcs>
                                    <m:mc>
                                      <m:mcPr>
                                        <m:count m:val="2"/>
                                        <m:mcJc m:val="center"/>
                                      </m:mcPr>
                                    </m:mc>
                                  </m:mcs>
                                  <m:ctrlPr>
                                    <a:rPr lang="en-US" altLang="zh-CN" sz="2000" b="0" i="1" smtClean="0">
                                      <a:latin typeface="Cambria Math" panose="02040503050406030204" pitchFamily="18" charset="0"/>
                                    </a:rPr>
                                  </m:ctrlPr>
                                </m:mPr>
                                <m:mr>
                                  <m:e>
                                    <m:m>
                                      <m:mPr>
                                        <m:mcs>
                                          <m:mc>
                                            <m:mcPr>
                                              <m:count m:val="2"/>
                                              <m:mcJc m:val="center"/>
                                            </m:mcPr>
                                          </m:mc>
                                        </m:mcs>
                                        <m:ctrlPr>
                                          <a:rPr lang="en-US" altLang="zh-CN" sz="2000" b="0" i="1" smtClean="0">
                                            <a:latin typeface="Cambria Math" panose="02040503050406030204" pitchFamily="18" charset="0"/>
                                          </a:rPr>
                                        </m:ctrlPr>
                                      </m:mPr>
                                      <m:mr>
                                        <m:e>
                                          <m:f>
                                            <m:fPr>
                                              <m:ctrlPr>
                                                <a:rPr lang="en-US" altLang="zh-CN" sz="2000" b="0" i="1" smtClean="0">
                                                  <a:latin typeface="Cambria Math" panose="02040503050406030204" pitchFamily="18" charset="0"/>
                                                </a:rPr>
                                              </m:ctrlPr>
                                            </m:fPr>
                                            <m:num>
                                              <m:r>
                                                <a:rPr lang="en-US" altLang="zh-CN" sz="2000" b="0" i="1" smtClean="0">
                                                  <a:latin typeface="Cambria Math" panose="02040503050406030204" pitchFamily="18" charset="0"/>
                                                </a:rPr>
                                                <m:t>1</m:t>
                                              </m:r>
                                            </m:num>
                                            <m:den>
                                              <m:r>
                                                <a:rPr lang="en-US" altLang="zh-CN" sz="2000" b="0" i="1" smtClean="0">
                                                  <a:latin typeface="Cambria Math" panose="02040503050406030204" pitchFamily="18" charset="0"/>
                                                </a:rPr>
                                                <m:t>4</m:t>
                                              </m:r>
                                            </m:den>
                                          </m:f>
                                        </m:e>
                                        <m:e>
                                          <m:f>
                                            <m:fPr>
                                              <m:ctrlPr>
                                                <a:rPr lang="en-US" altLang="zh-CN" sz="2000" i="1">
                                                  <a:latin typeface="Cambria Math" panose="02040503050406030204" pitchFamily="18" charset="0"/>
                                                </a:rPr>
                                              </m:ctrlPr>
                                            </m:fPr>
                                            <m:num>
                                              <m:r>
                                                <a:rPr lang="en-US" altLang="zh-CN" sz="2000" b="0" i="1" smtClean="0">
                                                  <a:latin typeface="Cambria Math" panose="02040503050406030204" pitchFamily="18" charset="0"/>
                                                </a:rPr>
                                                <m:t>1</m:t>
                                              </m:r>
                                            </m:num>
                                            <m:den>
                                              <m:r>
                                                <a:rPr lang="en-US" altLang="zh-CN" sz="2000" i="1">
                                                  <a:latin typeface="Cambria Math" panose="02040503050406030204" pitchFamily="18" charset="0"/>
                                                </a:rPr>
                                                <m:t>4</m:t>
                                              </m:r>
                                            </m:den>
                                          </m:f>
                                        </m:e>
                                      </m:mr>
                                    </m:m>
                                  </m:e>
                                  <m:e>
                                    <m:m>
                                      <m:mPr>
                                        <m:mcs>
                                          <m:mc>
                                            <m:mcPr>
                                              <m:count m:val="2"/>
                                              <m:mcJc m:val="center"/>
                                            </m:mcPr>
                                          </m:mc>
                                        </m:mcs>
                                        <m:ctrlPr>
                                          <a:rPr lang="en-US" altLang="zh-CN" sz="2000" b="0" i="1" smtClean="0">
                                            <a:latin typeface="Cambria Math" panose="02040503050406030204" pitchFamily="18" charset="0"/>
                                          </a:rPr>
                                        </m:ctrlPr>
                                      </m:mPr>
                                      <m:mr>
                                        <m:e>
                                          <m:f>
                                            <m:fPr>
                                              <m:ctrlPr>
                                                <a:rPr lang="en-US" altLang="zh-CN" sz="2000" i="1">
                                                  <a:latin typeface="Cambria Math" panose="02040503050406030204" pitchFamily="18" charset="0"/>
                                                </a:rPr>
                                              </m:ctrlPr>
                                            </m:fPr>
                                            <m:num>
                                              <m:r>
                                                <a:rPr lang="en-US" altLang="zh-CN" sz="2000" b="0" i="1" smtClean="0">
                                                  <a:latin typeface="Cambria Math" panose="02040503050406030204" pitchFamily="18" charset="0"/>
                                                </a:rPr>
                                                <m:t>1</m:t>
                                              </m:r>
                                            </m:num>
                                            <m:den>
                                              <m:r>
                                                <a:rPr lang="en-US" altLang="zh-CN" sz="2000" i="1">
                                                  <a:latin typeface="Cambria Math" panose="02040503050406030204" pitchFamily="18" charset="0"/>
                                                </a:rPr>
                                                <m:t>4</m:t>
                                              </m:r>
                                            </m:den>
                                          </m:f>
                                        </m:e>
                                        <m:e>
                                          <m:f>
                                            <m:fPr>
                                              <m:ctrlPr>
                                                <a:rPr lang="en-US" altLang="zh-CN" sz="2000" i="1">
                                                  <a:latin typeface="Cambria Math" panose="02040503050406030204" pitchFamily="18" charset="0"/>
                                                </a:rPr>
                                              </m:ctrlPr>
                                            </m:fPr>
                                            <m:num>
                                              <m:r>
                                                <a:rPr lang="en-US" altLang="zh-CN" sz="2000" b="0" i="1" smtClean="0">
                                                  <a:latin typeface="Cambria Math" panose="02040503050406030204" pitchFamily="18" charset="0"/>
                                                </a:rPr>
                                                <m:t>1</m:t>
                                              </m:r>
                                            </m:num>
                                            <m:den>
                                              <m:r>
                                                <a:rPr lang="en-US" altLang="zh-CN" sz="2000" i="1">
                                                  <a:latin typeface="Cambria Math" panose="02040503050406030204" pitchFamily="18" charset="0"/>
                                                </a:rPr>
                                                <m:t>4</m:t>
                                              </m:r>
                                            </m:den>
                                          </m:f>
                                        </m:e>
                                      </m:mr>
                                    </m:m>
                                  </m:e>
                                </m:mr>
                              </m:m>
                            </m:e>
                          </m:mr>
                          <m:mr>
                            <m:e>
                              <m:m>
                                <m:mPr>
                                  <m:mcs>
                                    <m:mc>
                                      <m:mcPr>
                                        <m:count m:val="2"/>
                                        <m:mcJc m:val="center"/>
                                      </m:mcPr>
                                    </m:mc>
                                  </m:mcs>
                                  <m:ctrlPr>
                                    <a:rPr lang="en-US" altLang="zh-CN" sz="2000" b="0" i="1" smtClean="0">
                                      <a:latin typeface="Cambria Math" panose="02040503050406030204" pitchFamily="18" charset="0"/>
                                    </a:rPr>
                                  </m:ctrlPr>
                                </m:mPr>
                                <m:mr>
                                  <m:e>
                                    <m:m>
                                      <m:mPr>
                                        <m:mcs>
                                          <m:mc>
                                            <m:mcPr>
                                              <m:count m:val="2"/>
                                              <m:mcJc m:val="center"/>
                                            </m:mcPr>
                                          </m:mc>
                                        </m:mcs>
                                        <m:ctrlPr>
                                          <a:rPr lang="en-US" altLang="zh-CN" sz="2000" b="0" i="1" smtClean="0">
                                            <a:latin typeface="Cambria Math" panose="02040503050406030204" pitchFamily="18" charset="0"/>
                                          </a:rPr>
                                        </m:ctrlPr>
                                      </m:mPr>
                                      <m:mr>
                                        <m:e>
                                          <m:f>
                                            <m:fPr>
                                              <m:ctrlPr>
                                                <a:rPr lang="en-US" altLang="zh-CN" sz="2000" i="1">
                                                  <a:latin typeface="Cambria Math" panose="02040503050406030204" pitchFamily="18" charset="0"/>
                                                </a:rPr>
                                              </m:ctrlPr>
                                            </m:fPr>
                                            <m:num>
                                              <m:r>
                                                <a:rPr lang="en-US" altLang="zh-CN" sz="2000" b="0" i="1" smtClean="0">
                                                  <a:latin typeface="Cambria Math" panose="02040503050406030204" pitchFamily="18" charset="0"/>
                                                </a:rPr>
                                                <m:t>1</m:t>
                                              </m:r>
                                            </m:num>
                                            <m:den>
                                              <m:r>
                                                <a:rPr lang="en-US" altLang="zh-CN" sz="2000" i="1">
                                                  <a:latin typeface="Cambria Math" panose="02040503050406030204" pitchFamily="18" charset="0"/>
                                                </a:rPr>
                                                <m:t>4</m:t>
                                              </m:r>
                                            </m:den>
                                          </m:f>
                                        </m:e>
                                        <m:e>
                                          <m:r>
                                            <a:rPr lang="en-US" altLang="zh-CN" sz="2000" b="0" i="1" smtClean="0">
                                              <a:latin typeface="Cambria Math" panose="02040503050406030204" pitchFamily="18" charset="0"/>
                                            </a:rPr>
                                            <m:t>−</m:t>
                                          </m:r>
                                          <m:f>
                                            <m:fPr>
                                              <m:ctrlPr>
                                                <a:rPr lang="en-US" altLang="zh-CN" sz="2000" i="1">
                                                  <a:latin typeface="Cambria Math" panose="02040503050406030204" pitchFamily="18" charset="0"/>
                                                </a:rPr>
                                              </m:ctrlPr>
                                            </m:fPr>
                                            <m:num>
                                              <m:r>
                                                <a:rPr lang="en-US" altLang="zh-CN" sz="2000" b="0" i="1" smtClean="0">
                                                  <a:latin typeface="Cambria Math" panose="02040503050406030204" pitchFamily="18" charset="0"/>
                                                </a:rPr>
                                                <m:t>1</m:t>
                                              </m:r>
                                            </m:num>
                                            <m:den>
                                              <m:r>
                                                <a:rPr lang="en-US" altLang="zh-CN" sz="2000" i="1">
                                                  <a:latin typeface="Cambria Math" panose="02040503050406030204" pitchFamily="18" charset="0"/>
                                                </a:rPr>
                                                <m:t>4</m:t>
                                              </m:r>
                                            </m:den>
                                          </m:f>
                                        </m:e>
                                      </m:mr>
                                    </m:m>
                                  </m:e>
                                  <m:e>
                                    <m:m>
                                      <m:mPr>
                                        <m:mcs>
                                          <m:mc>
                                            <m:mcPr>
                                              <m:count m:val="2"/>
                                              <m:mcJc m:val="center"/>
                                            </m:mcPr>
                                          </m:mc>
                                        </m:mcs>
                                        <m:ctrlPr>
                                          <a:rPr lang="en-US" altLang="zh-CN" sz="2000" b="0" i="1" smtClean="0">
                                            <a:latin typeface="Cambria Math" panose="02040503050406030204" pitchFamily="18" charset="0"/>
                                          </a:rPr>
                                        </m:ctrlPr>
                                      </m:mPr>
                                      <m:mr>
                                        <m:e>
                                          <m:r>
                                            <m:rPr>
                                              <m:brk m:alnAt="7"/>
                                            </m:rPr>
                                            <a:rPr lang="en-US" altLang="zh-CN" sz="2000" b="0" i="1" smtClean="0">
                                              <a:latin typeface="Cambria Math" panose="02040503050406030204" pitchFamily="18" charset="0"/>
                                            </a:rPr>
                                            <m:t>−</m:t>
                                          </m:r>
                                          <m:f>
                                            <m:fPr>
                                              <m:ctrlPr>
                                                <a:rPr lang="en-US" altLang="zh-CN" sz="2000" i="1">
                                                  <a:latin typeface="Cambria Math" panose="02040503050406030204" pitchFamily="18" charset="0"/>
                                                </a:rPr>
                                              </m:ctrlPr>
                                            </m:fPr>
                                            <m:num>
                                              <m:r>
                                                <a:rPr lang="en-US" altLang="zh-CN" sz="2000" b="0" i="1" smtClean="0">
                                                  <a:latin typeface="Cambria Math" panose="02040503050406030204" pitchFamily="18" charset="0"/>
                                                </a:rPr>
                                                <m:t>1</m:t>
                                              </m:r>
                                            </m:num>
                                            <m:den>
                                              <m:r>
                                                <a:rPr lang="en-US" altLang="zh-CN" sz="2000" i="1">
                                                  <a:latin typeface="Cambria Math" panose="02040503050406030204" pitchFamily="18" charset="0"/>
                                                </a:rPr>
                                                <m:t>4</m:t>
                                              </m:r>
                                            </m:den>
                                          </m:f>
                                        </m:e>
                                        <m:e>
                                          <m:f>
                                            <m:fPr>
                                              <m:ctrlPr>
                                                <a:rPr lang="en-US" altLang="zh-CN" sz="2000" i="1">
                                                  <a:latin typeface="Cambria Math" panose="02040503050406030204" pitchFamily="18" charset="0"/>
                                                </a:rPr>
                                              </m:ctrlPr>
                                            </m:fPr>
                                            <m:num>
                                              <m:r>
                                                <a:rPr lang="en-US" altLang="zh-CN" sz="2000" b="0" i="1" smtClean="0">
                                                  <a:latin typeface="Cambria Math" panose="02040503050406030204" pitchFamily="18" charset="0"/>
                                                </a:rPr>
                                                <m:t>1</m:t>
                                              </m:r>
                                            </m:num>
                                            <m:den>
                                              <m:r>
                                                <a:rPr lang="en-US" altLang="zh-CN" sz="2000" i="1">
                                                  <a:latin typeface="Cambria Math" panose="02040503050406030204" pitchFamily="18" charset="0"/>
                                                </a:rPr>
                                                <m:t>4</m:t>
                                              </m:r>
                                            </m:den>
                                          </m:f>
                                        </m:e>
                                      </m:mr>
                                    </m:m>
                                  </m:e>
                                </m:mr>
                              </m:m>
                            </m:e>
                          </m:mr>
                          <m:mr>
                            <m:e>
                              <m:m>
                                <m:mPr>
                                  <m:mcs>
                                    <m:mc>
                                      <m:mcPr>
                                        <m:count m:val="2"/>
                                        <m:mcJc m:val="center"/>
                                      </m:mcPr>
                                    </m:mc>
                                  </m:mcs>
                                  <m:ctrlPr>
                                    <a:rPr lang="en-US" altLang="zh-CN" sz="2000" b="0" i="1" smtClean="0">
                                      <a:latin typeface="Cambria Math" panose="02040503050406030204" pitchFamily="18" charset="0"/>
                                    </a:rPr>
                                  </m:ctrlPr>
                                </m:mPr>
                                <m:mr>
                                  <m:e>
                                    <m:m>
                                      <m:mPr>
                                        <m:mcs>
                                          <m:mc>
                                            <m:mcPr>
                                              <m:count m:val="2"/>
                                              <m:mcJc m:val="center"/>
                                            </m:mcPr>
                                          </m:mc>
                                        </m:mcs>
                                        <m:ctrlPr>
                                          <a:rPr lang="en-US" altLang="zh-CN" sz="2000" b="0" i="1" smtClean="0">
                                            <a:latin typeface="Cambria Math" panose="02040503050406030204" pitchFamily="18" charset="0"/>
                                          </a:rPr>
                                        </m:ctrlPr>
                                      </m:mPr>
                                      <m:mr>
                                        <m:e>
                                          <m:f>
                                            <m:fPr>
                                              <m:ctrlPr>
                                                <a:rPr lang="en-US" altLang="zh-CN" sz="2000" i="1">
                                                  <a:latin typeface="Cambria Math" panose="02040503050406030204" pitchFamily="18" charset="0"/>
                                                </a:rPr>
                                              </m:ctrlPr>
                                            </m:fPr>
                                            <m:num>
                                              <m:r>
                                                <a:rPr lang="en-US" altLang="zh-CN" sz="2000" b="0" i="1" smtClean="0">
                                                  <a:latin typeface="Cambria Math" panose="02040503050406030204" pitchFamily="18" charset="0"/>
                                                </a:rPr>
                                                <m:t>1</m:t>
                                              </m:r>
                                            </m:num>
                                            <m:den>
                                              <m:r>
                                                <a:rPr lang="en-US" altLang="zh-CN" sz="2000" i="1">
                                                  <a:latin typeface="Cambria Math" panose="02040503050406030204" pitchFamily="18" charset="0"/>
                                                </a:rPr>
                                                <m:t>4</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𝐿</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𝑊</m:t>
                                              </m:r>
                                              <m:r>
                                                <a:rPr lang="en-US" altLang="zh-CN" sz="2000" b="0" i="1" smtClean="0">
                                                  <a:latin typeface="Cambria Math" panose="02040503050406030204" pitchFamily="18" charset="0"/>
                                                </a:rPr>
                                                <m:t>)</m:t>
                                              </m:r>
                                            </m:den>
                                          </m:f>
                                        </m:e>
                                        <m:e>
                                          <m:r>
                                            <a:rPr lang="en-US" altLang="zh-CN" sz="2000" b="0" i="1" smtClean="0">
                                              <a:latin typeface="Cambria Math" panose="02040503050406030204" pitchFamily="18" charset="0"/>
                                            </a:rPr>
                                            <m:t>−</m:t>
                                          </m:r>
                                          <m:f>
                                            <m:fPr>
                                              <m:ctrlPr>
                                                <a:rPr lang="en-US" altLang="zh-CN" sz="2000" i="1">
                                                  <a:latin typeface="Cambria Math" panose="02040503050406030204" pitchFamily="18" charset="0"/>
                                                </a:rPr>
                                              </m:ctrlPr>
                                            </m:fPr>
                                            <m:num>
                                              <m:r>
                                                <a:rPr lang="en-US" altLang="zh-CN" sz="2000" b="0" i="1" smtClean="0">
                                                  <a:latin typeface="Cambria Math" panose="02040503050406030204" pitchFamily="18" charset="0"/>
                                                </a:rPr>
                                                <m:t>1</m:t>
                                              </m:r>
                                            </m:num>
                                            <m:den>
                                              <m:r>
                                                <a:rPr lang="en-US" altLang="zh-CN" sz="2000" i="1">
                                                  <a:latin typeface="Cambria Math" panose="02040503050406030204" pitchFamily="18" charset="0"/>
                                                </a:rPr>
                                                <m:t>4</m:t>
                                              </m:r>
                                              <m:r>
                                                <a:rPr lang="en-US" altLang="zh-CN" sz="2000" i="1">
                                                  <a:latin typeface="Cambria Math" panose="02040503050406030204" pitchFamily="18" charset="0"/>
                                                </a:rPr>
                                                <m:t>(</m:t>
                                              </m:r>
                                              <m:r>
                                                <a:rPr lang="en-US" altLang="zh-CN" sz="2000" i="1">
                                                  <a:latin typeface="Cambria Math" panose="02040503050406030204" pitchFamily="18" charset="0"/>
                                                </a:rPr>
                                                <m:t>𝐿</m:t>
                                              </m:r>
                                              <m:r>
                                                <a:rPr lang="en-US" altLang="zh-CN" sz="2000" i="1">
                                                  <a:latin typeface="Cambria Math" panose="02040503050406030204" pitchFamily="18" charset="0"/>
                                                </a:rPr>
                                                <m:t>+</m:t>
                                              </m:r>
                                              <m:r>
                                                <a:rPr lang="en-US" altLang="zh-CN" sz="2000" i="1">
                                                  <a:latin typeface="Cambria Math" panose="02040503050406030204" pitchFamily="18" charset="0"/>
                                                </a:rPr>
                                                <m:t>𝑊</m:t>
                                              </m:r>
                                              <m:r>
                                                <a:rPr lang="en-US" altLang="zh-CN" sz="2000" i="1">
                                                  <a:latin typeface="Cambria Math" panose="02040503050406030204" pitchFamily="18" charset="0"/>
                                                </a:rPr>
                                                <m:t>)</m:t>
                                              </m:r>
                                            </m:den>
                                          </m:f>
                                        </m:e>
                                      </m:mr>
                                    </m:m>
                                  </m:e>
                                  <m:e>
                                    <m:m>
                                      <m:mPr>
                                        <m:mcs>
                                          <m:mc>
                                            <m:mcPr>
                                              <m:count m:val="2"/>
                                              <m:mcJc m:val="center"/>
                                            </m:mcPr>
                                          </m:mc>
                                        </m:mcs>
                                        <m:ctrlPr>
                                          <a:rPr lang="en-US" altLang="zh-CN" sz="2000" b="0" i="1" smtClean="0">
                                            <a:latin typeface="Cambria Math" panose="02040503050406030204" pitchFamily="18" charset="0"/>
                                          </a:rPr>
                                        </m:ctrlPr>
                                      </m:mPr>
                                      <m:mr>
                                        <m:e>
                                          <m:f>
                                            <m:fPr>
                                              <m:ctrlPr>
                                                <a:rPr lang="en-US" altLang="zh-CN" sz="2000" i="1">
                                                  <a:latin typeface="Cambria Math" panose="02040503050406030204" pitchFamily="18" charset="0"/>
                                                </a:rPr>
                                              </m:ctrlPr>
                                            </m:fPr>
                                            <m:num>
                                              <m:r>
                                                <a:rPr lang="en-US" altLang="zh-CN" sz="2000" b="0" i="1" smtClean="0">
                                                  <a:latin typeface="Cambria Math" panose="02040503050406030204" pitchFamily="18" charset="0"/>
                                                </a:rPr>
                                                <m:t>1</m:t>
                                              </m:r>
                                            </m:num>
                                            <m:den>
                                              <m:r>
                                                <a:rPr lang="en-US" altLang="zh-CN" sz="2000" i="1">
                                                  <a:latin typeface="Cambria Math" panose="02040503050406030204" pitchFamily="18" charset="0"/>
                                                </a:rPr>
                                                <m:t>4</m:t>
                                              </m:r>
                                              <m:r>
                                                <a:rPr lang="en-US" altLang="zh-CN" sz="2000" i="1">
                                                  <a:latin typeface="Cambria Math" panose="02040503050406030204" pitchFamily="18" charset="0"/>
                                                </a:rPr>
                                                <m:t>(</m:t>
                                              </m:r>
                                              <m:r>
                                                <a:rPr lang="en-US" altLang="zh-CN" sz="2000" i="1">
                                                  <a:latin typeface="Cambria Math" panose="02040503050406030204" pitchFamily="18" charset="0"/>
                                                </a:rPr>
                                                <m:t>𝐿</m:t>
                                              </m:r>
                                              <m:r>
                                                <a:rPr lang="en-US" altLang="zh-CN" sz="2000" i="1">
                                                  <a:latin typeface="Cambria Math" panose="02040503050406030204" pitchFamily="18" charset="0"/>
                                                </a:rPr>
                                                <m:t>+</m:t>
                                              </m:r>
                                              <m:r>
                                                <a:rPr lang="en-US" altLang="zh-CN" sz="2000" i="1">
                                                  <a:latin typeface="Cambria Math" panose="02040503050406030204" pitchFamily="18" charset="0"/>
                                                </a:rPr>
                                                <m:t>𝑊</m:t>
                                              </m:r>
                                              <m:r>
                                                <a:rPr lang="en-US" altLang="zh-CN" sz="2000" i="1">
                                                  <a:latin typeface="Cambria Math" panose="02040503050406030204" pitchFamily="18" charset="0"/>
                                                </a:rPr>
                                                <m:t>)</m:t>
                                              </m:r>
                                            </m:den>
                                          </m:f>
                                        </m:e>
                                        <m:e>
                                          <m:r>
                                            <a:rPr lang="en-US" altLang="zh-CN" sz="2000" b="0" i="1" smtClean="0">
                                              <a:latin typeface="Cambria Math" panose="02040503050406030204" pitchFamily="18" charset="0"/>
                                            </a:rPr>
                                            <m:t>−</m:t>
                                          </m:r>
                                          <m:f>
                                            <m:fPr>
                                              <m:ctrlPr>
                                                <a:rPr lang="en-US" altLang="zh-CN" sz="2000" i="1">
                                                  <a:latin typeface="Cambria Math" panose="02040503050406030204" pitchFamily="18" charset="0"/>
                                                </a:rPr>
                                              </m:ctrlPr>
                                            </m:fPr>
                                            <m:num>
                                              <m:r>
                                                <a:rPr lang="en-US" altLang="zh-CN" sz="2000" b="0" i="1" smtClean="0">
                                                  <a:latin typeface="Cambria Math" panose="02040503050406030204" pitchFamily="18" charset="0"/>
                                                </a:rPr>
                                                <m:t>1</m:t>
                                              </m:r>
                                            </m:num>
                                            <m:den>
                                              <m:r>
                                                <a:rPr lang="en-US" altLang="zh-CN" sz="2000" i="1">
                                                  <a:latin typeface="Cambria Math" panose="02040503050406030204" pitchFamily="18" charset="0"/>
                                                </a:rPr>
                                                <m:t>4</m:t>
                                              </m:r>
                                              <m:r>
                                                <a:rPr lang="en-US" altLang="zh-CN" sz="2000" i="1">
                                                  <a:latin typeface="Cambria Math" panose="02040503050406030204" pitchFamily="18" charset="0"/>
                                                </a:rPr>
                                                <m:t>(</m:t>
                                              </m:r>
                                              <m:r>
                                                <a:rPr lang="en-US" altLang="zh-CN" sz="2000" i="1">
                                                  <a:latin typeface="Cambria Math" panose="02040503050406030204" pitchFamily="18" charset="0"/>
                                                </a:rPr>
                                                <m:t>𝐿</m:t>
                                              </m:r>
                                              <m:r>
                                                <a:rPr lang="en-US" altLang="zh-CN" sz="2000" i="1">
                                                  <a:latin typeface="Cambria Math" panose="02040503050406030204" pitchFamily="18" charset="0"/>
                                                </a:rPr>
                                                <m:t>+</m:t>
                                              </m:r>
                                              <m:r>
                                                <a:rPr lang="en-US" altLang="zh-CN" sz="2000" i="1">
                                                  <a:latin typeface="Cambria Math" panose="02040503050406030204" pitchFamily="18" charset="0"/>
                                                </a:rPr>
                                                <m:t>𝑊</m:t>
                                              </m:r>
                                              <m:r>
                                                <a:rPr lang="en-US" altLang="zh-CN" sz="2000" i="1">
                                                  <a:latin typeface="Cambria Math" panose="02040503050406030204" pitchFamily="18" charset="0"/>
                                                </a:rPr>
                                                <m:t>)</m:t>
                                              </m:r>
                                            </m:den>
                                          </m:f>
                                        </m:e>
                                      </m:mr>
                                    </m:m>
                                  </m:e>
                                </m:mr>
                              </m:m>
                            </m:e>
                          </m:mr>
                        </m:m>
                      </m:e>
                    </m:d>
                  </m:oMath>
                </a14:m>
                <a:r>
                  <a:rPr lang="en-US" altLang="zh-CN" sz="2000" dirty="0"/>
                  <a:t> </a:t>
                </a:r>
                <a14:m>
                  <m:oMath xmlns:m="http://schemas.openxmlformats.org/officeDocument/2006/math">
                    <m:d>
                      <m:dPr>
                        <m:begChr m:val="["/>
                        <m:endChr m:val="]"/>
                        <m:ctrlPr>
                          <a:rPr lang="en-US" altLang="zh-CN" sz="2000" i="1">
                            <a:latin typeface="Cambria Math" panose="02040503050406030204" pitchFamily="18" charset="0"/>
                          </a:rPr>
                        </m:ctrlPr>
                      </m:dPr>
                      <m:e>
                        <m:m>
                          <m:mPr>
                            <m:mcs>
                              <m:mc>
                                <m:mcPr>
                                  <m:count m:val="1"/>
                                  <m:mcJc m:val="center"/>
                                </m:mcPr>
                              </m:mc>
                            </m:mcs>
                            <m:ctrlPr>
                              <a:rPr lang="en-US" altLang="zh-CN" sz="2000" i="1">
                                <a:latin typeface="Cambria Math" panose="02040503050406030204" pitchFamily="18" charset="0"/>
                              </a:rPr>
                            </m:ctrlPr>
                          </m:mPr>
                          <m:mr>
                            <m:e>
                              <m:m>
                                <m:mPr>
                                  <m:mcs>
                                    <m:mc>
                                      <m:mcPr>
                                        <m:count m:val="1"/>
                                        <m:mcJc m:val="center"/>
                                      </m:mcPr>
                                    </m:mc>
                                  </m:mcs>
                                  <m:ctrlPr>
                                    <a:rPr lang="en-US" altLang="zh-CN" sz="2000" i="1">
                                      <a:latin typeface="Cambria Math" panose="02040503050406030204" pitchFamily="18" charset="0"/>
                                    </a:rPr>
                                  </m:ctrlPr>
                                </m:mPr>
                                <m:mr>
                                  <m:e>
                                    <m:sSub>
                                      <m:sSubPr>
                                        <m:ctrlPr>
                                          <a:rPr lang="en-US" altLang="zh-CN" sz="2000" i="1" smtClean="0">
                                            <a:latin typeface="Cambria Math" panose="02040503050406030204" pitchFamily="18" charset="0"/>
                                          </a:rPr>
                                        </m:ctrlPr>
                                      </m:sSubPr>
                                      <m:e>
                                        <m:r>
                                          <a:rPr lang="en-US" altLang="zh-CN" sz="2000" b="0" i="1" smtClean="0">
                                            <a:latin typeface="Cambria Math" panose="02040503050406030204" pitchFamily="18" charset="0"/>
                                          </a:rPr>
                                          <m:t>𝑠</m:t>
                                        </m:r>
                                      </m:e>
                                      <m:sub>
                                        <m:r>
                                          <a:rPr lang="en-US" altLang="zh-CN" sz="2000" b="0" i="1" smtClean="0">
                                            <a:latin typeface="Cambria Math" panose="02040503050406030204" pitchFamily="18" charset="0"/>
                                          </a:rPr>
                                          <m:t>1</m:t>
                                        </m:r>
                                      </m:sub>
                                    </m:sSub>
                                  </m:e>
                                </m:mr>
                                <m:mr>
                                  <m:e>
                                    <m:sSub>
                                      <m:sSubPr>
                                        <m:ctrlPr>
                                          <a:rPr lang="en-US" altLang="zh-CN" sz="2000" i="1" smtClean="0">
                                            <a:latin typeface="Cambria Math" panose="02040503050406030204" pitchFamily="18" charset="0"/>
                                          </a:rPr>
                                        </m:ctrlPr>
                                      </m:sSubPr>
                                      <m:e>
                                        <m:r>
                                          <a:rPr lang="en-US" altLang="zh-CN" sz="2000" b="0" i="1" smtClean="0">
                                            <a:latin typeface="Cambria Math" panose="02040503050406030204" pitchFamily="18" charset="0"/>
                                          </a:rPr>
                                          <m:t>𝑠</m:t>
                                        </m:r>
                                      </m:e>
                                      <m:sub>
                                        <m:r>
                                          <a:rPr lang="en-US" altLang="zh-CN" sz="2000" b="0" i="1" smtClean="0">
                                            <a:latin typeface="Cambria Math" panose="02040503050406030204" pitchFamily="18" charset="0"/>
                                          </a:rPr>
                                          <m:t>2</m:t>
                                        </m:r>
                                      </m:sub>
                                    </m:sSub>
                                  </m:e>
                                </m:mr>
                              </m:m>
                            </m:e>
                          </m:mr>
                          <m:mr>
                            <m:e>
                              <m:m>
                                <m:mPr>
                                  <m:mcs>
                                    <m:mc>
                                      <m:mcPr>
                                        <m:count m:val="1"/>
                                        <m:mcJc m:val="center"/>
                                      </m:mcPr>
                                    </m:mc>
                                  </m:mcs>
                                  <m:ctrlPr>
                                    <a:rPr lang="en-US" altLang="zh-CN" sz="2000" i="1">
                                      <a:latin typeface="Cambria Math" panose="02040503050406030204" pitchFamily="18" charset="0"/>
                                    </a:rPr>
                                  </m:ctrlPr>
                                </m:mPr>
                                <m:mr>
                                  <m:e>
                                    <m:sSub>
                                      <m:sSubPr>
                                        <m:ctrlPr>
                                          <a:rPr lang="en-US" altLang="zh-CN" sz="2000" i="1" smtClean="0">
                                            <a:latin typeface="Cambria Math" panose="02040503050406030204" pitchFamily="18" charset="0"/>
                                          </a:rPr>
                                        </m:ctrlPr>
                                      </m:sSubPr>
                                      <m:e>
                                        <m:r>
                                          <a:rPr lang="en-US" altLang="zh-CN" sz="2000" b="0" i="1" smtClean="0">
                                            <a:latin typeface="Cambria Math" panose="02040503050406030204" pitchFamily="18" charset="0"/>
                                          </a:rPr>
                                          <m:t>𝑠</m:t>
                                        </m:r>
                                      </m:e>
                                      <m:sub>
                                        <m:r>
                                          <a:rPr lang="en-US" altLang="zh-CN" sz="2000" b="0" i="1" smtClean="0">
                                            <a:latin typeface="Cambria Math" panose="02040503050406030204" pitchFamily="18" charset="0"/>
                                          </a:rPr>
                                          <m:t>3</m:t>
                                        </m:r>
                                      </m:sub>
                                    </m:sSub>
                                  </m:e>
                                </m:mr>
                                <m:mr>
                                  <m:e>
                                    <m:sSub>
                                      <m:sSubPr>
                                        <m:ctrlPr>
                                          <a:rPr lang="en-US" altLang="zh-CN" sz="2000" i="1" smtClean="0">
                                            <a:latin typeface="Cambria Math" panose="02040503050406030204" pitchFamily="18" charset="0"/>
                                          </a:rPr>
                                        </m:ctrlPr>
                                      </m:sSubPr>
                                      <m:e>
                                        <m:r>
                                          <a:rPr lang="en-US" altLang="zh-CN" sz="2000" b="0" i="1" smtClean="0">
                                            <a:latin typeface="Cambria Math" panose="02040503050406030204" pitchFamily="18" charset="0"/>
                                          </a:rPr>
                                          <m:t>𝑠</m:t>
                                        </m:r>
                                      </m:e>
                                      <m:sub>
                                        <m:r>
                                          <a:rPr lang="en-US" altLang="zh-CN" sz="2000" b="0" i="1" smtClean="0">
                                            <a:latin typeface="Cambria Math" panose="02040503050406030204" pitchFamily="18" charset="0"/>
                                          </a:rPr>
                                          <m:t>4</m:t>
                                        </m:r>
                                      </m:sub>
                                    </m:sSub>
                                  </m:e>
                                </m:mr>
                              </m:m>
                            </m:e>
                          </m:mr>
                        </m:m>
                      </m:e>
                    </m:d>
                  </m:oMath>
                </a14:m>
                <a:endParaRPr lang="zh-CN" altLang="en-US" sz="2000" dirty="0"/>
              </a:p>
            </p:txBody>
          </p:sp>
        </mc:Choice>
        <mc:Fallback>
          <p:sp>
            <p:nvSpPr>
              <p:cNvPr id="9" name="文本框 8"/>
              <p:cNvSpPr txBox="1">
                <a:spLocks noRot="1" noChangeAspect="1" noMove="1" noResize="1" noEditPoints="1" noAdjustHandles="1" noChangeArrowheads="1" noChangeShapeType="1" noTextEdit="1"/>
              </p:cNvSpPr>
              <p:nvPr/>
            </p:nvSpPr>
            <p:spPr>
              <a:xfrm>
                <a:off x="5283785" y="4055905"/>
                <a:ext cx="5451492" cy="1461426"/>
              </a:xfrm>
              <a:prstGeom prst="rect">
                <a:avLst/>
              </a:prstGeom>
              <a:blipFill rotWithShape="1">
                <a:blip r:embed="rId3"/>
                <a:stretch>
                  <a:fillRect l="-11" t="-11" r="-1899" b="31"/>
                </a:stretch>
              </a:blipFill>
            </p:spPr>
            <p:txBody>
              <a:bodyPr/>
              <a:lstStyle/>
              <a:p>
                <a:r>
                  <a:rPr lang="zh-CN" altLang="en-US">
                    <a:noFill/>
                  </a:rPr>
                  <a:t> </a:t>
                </a:r>
              </a:p>
            </p:txBody>
          </p:sp>
        </mc:Fallback>
      </mc:AlternateContent>
      <p:sp>
        <p:nvSpPr>
          <p:cNvPr id="10" name="文本框 9"/>
          <p:cNvSpPr txBox="1"/>
          <p:nvPr/>
        </p:nvSpPr>
        <p:spPr>
          <a:xfrm>
            <a:off x="5634587" y="2578577"/>
            <a:ext cx="5869436" cy="1014730"/>
          </a:xfrm>
          <a:prstGeom prst="rect">
            <a:avLst/>
          </a:prstGeom>
          <a:noFill/>
        </p:spPr>
        <p:txBody>
          <a:bodyPr wrap="square" rtlCol="0">
            <a:spAutoFit/>
          </a:bodyPr>
          <a:lstStyle/>
          <a:p>
            <a:r>
              <a:rPr lang="en-US" altLang="zh-CN" sz="2000" dirty="0">
                <a:latin typeface="Times New Roman" panose="02020603050405020304" pitchFamily="18" charset="0"/>
                <a:cs typeface="Times New Roman" panose="02020603050405020304" pitchFamily="18" charset="0"/>
              </a:rPr>
              <a:t>After obtaining the </a:t>
            </a:r>
            <a:r>
              <a:rPr lang="en-US" altLang="zh-CN" sz="2000" b="1" dirty="0">
                <a:latin typeface="Times New Roman" panose="02020603050405020304" pitchFamily="18" charset="0"/>
                <a:cs typeface="Times New Roman" panose="02020603050405020304" pitchFamily="18" charset="0"/>
              </a:rPr>
              <a:t>rotation distances </a:t>
            </a:r>
            <a:r>
              <a:rPr lang="en-US" altLang="zh-CN" sz="2000" dirty="0">
                <a:latin typeface="Times New Roman" panose="02020603050405020304" pitchFamily="18" charset="0"/>
                <a:cs typeface="Times New Roman" panose="02020603050405020304" pitchFamily="18" charset="0"/>
              </a:rPr>
              <a:t>of the four wheels through the encoder, we can calculate the position and orientation of the AGV using the</a:t>
            </a:r>
            <a:endParaRPr lang="zh-CN" altLang="en-US" sz="2000" dirty="0">
              <a:latin typeface="Times New Roman" panose="02020603050405020304" pitchFamily="18" charset="0"/>
              <a:cs typeface="Times New Roman" panose="02020603050405020304" pitchFamily="18" charset="0"/>
            </a:endParaRPr>
          </a:p>
        </p:txBody>
      </p:sp>
      <p:pic>
        <p:nvPicPr>
          <p:cNvPr id="2052" name="Picture 4" descr="Encoder Working Animation"/>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1285" y="1144770"/>
            <a:ext cx="4762500" cy="2667000"/>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1285" y="3811770"/>
            <a:ext cx="4559709" cy="2667000"/>
          </a:xfrm>
          <a:prstGeom prst="rect">
            <a:avLst/>
          </a:prstGeom>
          <a:noFill/>
          <a:extLst>
            <a:ext uri="{909E8E84-426E-40DD-AFC4-6F175D3DCCD1}">
              <a14:hiddenFill xmlns:a14="http://schemas.microsoft.com/office/drawing/2010/main">
                <a:solidFill>
                  <a:srgbClr val="FFFFFF"/>
                </a:solidFill>
              </a14:hiddenFill>
            </a:ext>
          </a:extLst>
        </p:spPr>
      </p:pic>
      <p:sp>
        <p:nvSpPr>
          <p:cNvPr id="5" name="文本框 4"/>
          <p:cNvSpPr txBox="1"/>
          <p:nvPr/>
        </p:nvSpPr>
        <p:spPr>
          <a:xfrm>
            <a:off x="5588866" y="3594240"/>
            <a:ext cx="4388979" cy="460375"/>
          </a:xfrm>
          <a:prstGeom prst="rect">
            <a:avLst/>
          </a:prstGeom>
          <a:noFill/>
        </p:spPr>
        <p:txBody>
          <a:bodyPr wrap="square" rtlCol="0">
            <a:spAutoFit/>
          </a:bodyPr>
          <a:lstStyle/>
          <a:p>
            <a:r>
              <a:rPr lang="en-US" altLang="zh-CN" sz="2400" b="1" dirty="0">
                <a:solidFill>
                  <a:srgbClr val="C00000"/>
                </a:solidFill>
                <a:latin typeface="Times New Roman" panose="02020603050405020304" pitchFamily="18" charset="0"/>
                <a:cs typeface="Times New Roman" panose="02020603050405020304" pitchFamily="18" charset="0"/>
              </a:rPr>
              <a:t> forward kinematics matrix</a:t>
            </a:r>
            <a:endParaRPr lang="en-US" altLang="zh-CN" sz="2400" b="1" dirty="0">
              <a:solidFill>
                <a:srgbClr val="C00000"/>
              </a:solidFill>
              <a:latin typeface="Times New Roman" panose="02020603050405020304" pitchFamily="18" charset="0"/>
              <a:cs typeface="Times New Roman" panose="02020603050405020304" pitchFamily="18" charset="0"/>
            </a:endParaRPr>
          </a:p>
        </p:txBody>
      </p:sp>
      <p:sp>
        <p:nvSpPr>
          <p:cNvPr id="13" name="文本框 12"/>
          <p:cNvSpPr txBox="1"/>
          <p:nvPr/>
        </p:nvSpPr>
        <p:spPr>
          <a:xfrm>
            <a:off x="5283785" y="5658046"/>
            <a:ext cx="6220238" cy="645160"/>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In this way, we can calculate the AGV's position and orientation in real time using the encoder data from the four wheels.</a:t>
            </a:r>
            <a:endParaRPr lang="zh-CN" alt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PA-直接连接符 17"/>
          <p:cNvCxnSpPr/>
          <p:nvPr>
            <p:custDataLst>
              <p:tags r:id="rId1"/>
            </p:custDataLst>
          </p:nvPr>
        </p:nvCxnSpPr>
        <p:spPr>
          <a:xfrm>
            <a:off x="482600" y="698001"/>
            <a:ext cx="11307064" cy="0"/>
          </a:xfrm>
          <a:prstGeom prst="line">
            <a:avLst/>
          </a:prstGeom>
          <a:gradFill flip="none" rotWithShape="1">
            <a:gsLst>
              <a:gs pos="0">
                <a:srgbClr val="E6564F"/>
              </a:gs>
              <a:gs pos="70000">
                <a:srgbClr val="D12A22"/>
              </a:gs>
            </a:gsLst>
            <a:lin ang="5400000" scaled="1"/>
            <a:tileRect/>
          </a:gradFill>
          <a:ln w="19050" cap="flat" cmpd="sng" algn="ctr">
            <a:gradFill>
              <a:gsLst>
                <a:gs pos="30000">
                  <a:schemeClr val="accent1"/>
                </a:gs>
                <a:gs pos="100000">
                  <a:schemeClr val="accent6">
                    <a:lumMod val="0"/>
                    <a:lumOff val="100000"/>
                  </a:schemeClr>
                </a:gs>
              </a:gsLst>
              <a:lin ang="0" scaled="0"/>
            </a:gradFill>
            <a:prstDash val="solid"/>
            <a:miter lim="800000"/>
          </a:ln>
          <a:effectLst/>
        </p:spPr>
      </p:cxnSp>
      <p:pic>
        <p:nvPicPr>
          <p:cNvPr id="33" name="图片 3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182014" y="102721"/>
            <a:ext cx="1800318" cy="540096"/>
          </a:xfrm>
          <a:prstGeom prst="rect">
            <a:avLst/>
          </a:prstGeom>
        </p:spPr>
      </p:pic>
      <p:sp>
        <p:nvSpPr>
          <p:cNvPr id="2" name="文本框 40"/>
          <p:cNvSpPr txBox="1"/>
          <p:nvPr/>
        </p:nvSpPr>
        <p:spPr>
          <a:xfrm>
            <a:off x="284354" y="53953"/>
            <a:ext cx="1709909" cy="523220"/>
          </a:xfrm>
          <a:prstGeom prst="rect">
            <a:avLst/>
          </a:prstGeom>
          <a:noFill/>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34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Control</a:t>
            </a:r>
            <a:endParaRPr lang="zh-CN" altLang="en-US" sz="34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 name="文本框 2"/>
          <p:cNvSpPr txBox="1"/>
          <p:nvPr/>
        </p:nvSpPr>
        <p:spPr>
          <a:xfrm>
            <a:off x="521285" y="683105"/>
            <a:ext cx="6846166" cy="461665"/>
          </a:xfrm>
          <a:prstGeom prst="rect">
            <a:avLst/>
          </a:prstGeom>
          <a:noFill/>
        </p:spPr>
        <p:txBody>
          <a:bodyPr wrap="square">
            <a:spAutoFit/>
          </a:bodyPr>
          <a:lstStyle/>
          <a:p>
            <a:r>
              <a:rPr lang="en-US" altLang="zh-CN" sz="2400" b="1" dirty="0">
                <a:latin typeface="Times New Roman" panose="02020603050405020304" pitchFamily="18" charset="0"/>
                <a:ea typeface="微软雅黑" panose="020B0503020204020204" pitchFamily="34" charset="-122"/>
                <a:cs typeface="Times New Roman" panose="02020603050405020304" pitchFamily="18" charset="0"/>
              </a:rPr>
              <a:t>Closed-loop control of two-phase servo motors</a:t>
            </a:r>
            <a:endParaRPr lang="zh-CN" altLang="en-US" sz="2400" b="1" dirty="0">
              <a:latin typeface="Times New Roman" panose="02020603050405020304" pitchFamily="18" charset="0"/>
              <a:cs typeface="Times New Roman" panose="02020603050405020304" pitchFamily="18" charset="0"/>
            </a:endParaRPr>
          </a:p>
        </p:txBody>
      </p:sp>
      <p:sp>
        <p:nvSpPr>
          <p:cNvPr id="10" name="文本框 9"/>
          <p:cNvSpPr txBox="1"/>
          <p:nvPr/>
        </p:nvSpPr>
        <p:spPr>
          <a:xfrm>
            <a:off x="1139307" y="1199954"/>
            <a:ext cx="8074362" cy="398780"/>
          </a:xfrm>
          <a:prstGeom prst="rect">
            <a:avLst/>
          </a:prstGeom>
          <a:noFill/>
        </p:spPr>
        <p:txBody>
          <a:bodyPr wrap="square" rtlCol="0">
            <a:spAutoFit/>
          </a:bodyPr>
          <a:lstStyle/>
          <a:p>
            <a:r>
              <a:rPr lang="en-US" altLang="zh-CN" sz="2000" dirty="0">
                <a:latin typeface="Times New Roman" panose="02020603050405020304" pitchFamily="18" charset="0"/>
                <a:cs typeface="Times New Roman" panose="02020603050405020304" pitchFamily="18" charset="0"/>
              </a:rPr>
              <a:t>The </a:t>
            </a:r>
            <a:r>
              <a:rPr lang="en-US" altLang="zh-CN" sz="2000" b="1" dirty="0">
                <a:latin typeface="Times New Roman" panose="02020603050405020304" pitchFamily="18" charset="0"/>
                <a:cs typeface="Times New Roman" panose="02020603050405020304" pitchFamily="18" charset="0"/>
              </a:rPr>
              <a:t>transfer function </a:t>
            </a:r>
            <a:r>
              <a:rPr lang="en-US" altLang="zh-CN" sz="2000" dirty="0">
                <a:latin typeface="Times New Roman" panose="02020603050405020304" pitchFamily="18" charset="0"/>
                <a:cs typeface="Times New Roman" panose="02020603050405020304" pitchFamily="18" charset="0"/>
              </a:rPr>
              <a:t>of the ideal two-phase servo motor system is</a:t>
            </a:r>
            <a:endParaRPr lang="zh-CN" altLang="en-US" sz="2000" dirty="0">
              <a:latin typeface="Times New Roman" panose="02020603050405020304" pitchFamily="18" charset="0"/>
              <a:cs typeface="Times New Roman" panose="02020603050405020304" pitchFamily="18" charset="0"/>
            </a:endParaRPr>
          </a:p>
        </p:txBody>
      </p:sp>
      <p:pic>
        <p:nvPicPr>
          <p:cNvPr id="3076"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 y="4270119"/>
            <a:ext cx="3731661" cy="2587881"/>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a14="http://schemas.microsoft.com/office/drawing/2010/main" Requires="a14">
          <p:sp>
            <p:nvSpPr>
              <p:cNvPr id="6" name="文本框 5"/>
              <p:cNvSpPr txBox="1"/>
              <p:nvPr/>
            </p:nvSpPr>
            <p:spPr>
              <a:xfrm>
                <a:off x="4909238" y="1689538"/>
                <a:ext cx="2538452" cy="576761"/>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𝐺</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𝑠</m:t>
                          </m:r>
                        </m:e>
                      </m:d>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sSub>
                            <m:sSubPr>
                              <m:ctrlPr>
                                <a:rPr lang="en-US" altLang="zh-CN" b="0" i="1" smtClean="0">
                                  <a:latin typeface="Cambria Math" panose="02040503050406030204" pitchFamily="18" charset="0"/>
                                </a:rPr>
                              </m:ctrlPr>
                            </m:sSubPr>
                            <m:e>
                              <m:r>
                                <m:rPr>
                                  <m:sty m:val="p"/>
                                </m:rPr>
                                <a:rPr lang="el-GR" altLang="zh-CN" b="0" i="1" smtClean="0">
                                  <a:latin typeface="Cambria Math" panose="02040503050406030204" pitchFamily="18" charset="0"/>
                                  <a:ea typeface="Cambria Math" panose="02040503050406030204" pitchFamily="18" charset="0"/>
                                </a:rPr>
                                <m:t>Ω</m:t>
                              </m:r>
                            </m:e>
                            <m:sub>
                              <m:r>
                                <a:rPr lang="en-US" altLang="zh-CN" b="0" i="1" smtClean="0">
                                  <a:latin typeface="Cambria Math" panose="02040503050406030204" pitchFamily="18" charset="0"/>
                                </a:rPr>
                                <m:t>𝑚</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𝑠</m:t>
                          </m:r>
                          <m:r>
                            <a:rPr lang="en-US" altLang="zh-CN" b="0" i="1" smtClean="0">
                              <a:latin typeface="Cambria Math" panose="02040503050406030204" pitchFamily="18" charset="0"/>
                            </a:rPr>
                            <m:t>)</m:t>
                          </m:r>
                        </m:num>
                        <m:den>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𝑈</m:t>
                              </m:r>
                            </m:e>
                            <m:sub>
                              <m:r>
                                <a:rPr lang="en-US" altLang="zh-CN" b="0" i="1" smtClean="0">
                                  <a:latin typeface="Cambria Math" panose="02040503050406030204" pitchFamily="18" charset="0"/>
                                </a:rPr>
                                <m:t>𝑎</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𝑠</m:t>
                          </m:r>
                          <m:r>
                            <a:rPr lang="en-US" altLang="zh-CN" b="0" i="1" smtClean="0">
                              <a:latin typeface="Cambria Math" panose="02040503050406030204" pitchFamily="18" charset="0"/>
                            </a:rPr>
                            <m:t>)</m:t>
                          </m:r>
                        </m:den>
                      </m:f>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𝐾</m:t>
                              </m:r>
                            </m:e>
                            <m:sub>
                              <m:r>
                                <a:rPr lang="en-US" altLang="zh-CN" b="0" i="1" smtClean="0">
                                  <a:latin typeface="Cambria Math" panose="02040503050406030204" pitchFamily="18" charset="0"/>
                                </a:rPr>
                                <m:t>𝑚</m:t>
                              </m:r>
                            </m:sub>
                          </m:sSub>
                        </m:num>
                        <m:den>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𝑇</m:t>
                              </m:r>
                            </m:e>
                            <m:sub>
                              <m:r>
                                <a:rPr lang="en-US" altLang="zh-CN" b="0" i="1" smtClean="0">
                                  <a:latin typeface="Cambria Math" panose="02040503050406030204" pitchFamily="18" charset="0"/>
                                </a:rPr>
                                <m:t>𝑚</m:t>
                              </m:r>
                            </m:sub>
                          </m:sSub>
                          <m:r>
                            <a:rPr lang="en-US" altLang="zh-CN" b="0" i="1" smtClean="0">
                              <a:latin typeface="Cambria Math" panose="02040503050406030204" pitchFamily="18" charset="0"/>
                            </a:rPr>
                            <m:t>𝑠</m:t>
                          </m:r>
                          <m:r>
                            <a:rPr lang="en-US" altLang="zh-CN" b="0" i="1" smtClean="0">
                              <a:latin typeface="Cambria Math" panose="02040503050406030204" pitchFamily="18" charset="0"/>
                            </a:rPr>
                            <m:t>+</m:t>
                          </m:r>
                          <m:r>
                            <a:rPr lang="en-US" altLang="zh-CN" b="0" i="1" smtClean="0">
                              <a:latin typeface="Cambria Math" panose="02040503050406030204" pitchFamily="18" charset="0"/>
                            </a:rPr>
                            <m:t>1</m:t>
                          </m:r>
                        </m:den>
                      </m:f>
                    </m:oMath>
                  </m:oMathPara>
                </a14:m>
                <a:endParaRPr lang="zh-CN" altLang="en-US" dirty="0"/>
              </a:p>
            </p:txBody>
          </p:sp>
        </mc:Choice>
        <mc:Fallback>
          <p:sp>
            <p:nvSpPr>
              <p:cNvPr id="6" name="文本框 5"/>
              <p:cNvSpPr txBox="1">
                <a:spLocks noRot="1" noChangeAspect="1" noMove="1" noResize="1" noEditPoints="1" noAdjustHandles="1" noChangeArrowheads="1" noChangeShapeType="1" noTextEdit="1"/>
              </p:cNvSpPr>
              <p:nvPr/>
            </p:nvSpPr>
            <p:spPr>
              <a:xfrm>
                <a:off x="4909238" y="1689538"/>
                <a:ext cx="2538452" cy="576761"/>
              </a:xfrm>
              <a:prstGeom prst="rect">
                <a:avLst/>
              </a:prstGeom>
              <a:blipFill rotWithShape="1">
                <a:blip r:embed="rId4"/>
                <a:stretch>
                  <a:fillRect l="-2" t="-76" r="-2786" b="107"/>
                </a:stretch>
              </a:blipFill>
            </p:spPr>
            <p:txBody>
              <a:bodyPr/>
              <a:lstStyle/>
              <a:p>
                <a:r>
                  <a:rPr lang="zh-CN" altLang="en-US">
                    <a:noFill/>
                  </a:rPr>
                  <a:t> </a:t>
                </a:r>
              </a:p>
            </p:txBody>
          </p:sp>
        </mc:Fallback>
      </mc:AlternateContent>
      <p:pic>
        <p:nvPicPr>
          <p:cNvPr id="11" name="图片 10"/>
          <p:cNvPicPr>
            <a:picLocks noChangeAspect="1"/>
          </p:cNvPicPr>
          <p:nvPr/>
        </p:nvPicPr>
        <p:blipFill>
          <a:blip r:embed="rId5"/>
          <a:stretch>
            <a:fillRect/>
          </a:stretch>
        </p:blipFill>
        <p:spPr>
          <a:xfrm>
            <a:off x="3688261" y="4270119"/>
            <a:ext cx="8503739" cy="2587881"/>
          </a:xfrm>
          <a:prstGeom prst="rect">
            <a:avLst/>
          </a:prstGeom>
        </p:spPr>
      </p:pic>
      <p:sp>
        <p:nvSpPr>
          <p:cNvPr id="12" name="文本框 11"/>
          <p:cNvSpPr txBox="1"/>
          <p:nvPr/>
        </p:nvSpPr>
        <p:spPr>
          <a:xfrm>
            <a:off x="1139306" y="2341241"/>
            <a:ext cx="10650357" cy="1198880"/>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Although the ideal two-phase servo motor system is a simple first-order linear system, this system is prone to dynamic lag and parameter fluctuations due to the presence of inductance, inertia, and other parameters, and the position and speed variables are strongly coupled. A single-loop PID is unable to balance both dynamic response and positioning accuracy, so a </a:t>
            </a:r>
            <a:r>
              <a:rPr lang="en-US" altLang="zh-CN" b="1" dirty="0">
                <a:latin typeface="Times New Roman" panose="02020603050405020304" pitchFamily="18" charset="0"/>
                <a:cs typeface="Times New Roman" panose="02020603050405020304" pitchFamily="18" charset="0"/>
              </a:rPr>
              <a:t>cascade PID </a:t>
            </a:r>
            <a:r>
              <a:rPr lang="en-US" altLang="zh-CN" dirty="0">
                <a:latin typeface="Times New Roman" panose="02020603050405020304" pitchFamily="18" charset="0"/>
                <a:cs typeface="Times New Roman" panose="02020603050405020304" pitchFamily="18" charset="0"/>
              </a:rPr>
              <a:t>is designed. The </a:t>
            </a:r>
            <a:r>
              <a:rPr lang="en-US" altLang="zh-CN" b="1" dirty="0">
                <a:latin typeface="Times New Roman" panose="02020603050405020304" pitchFamily="18" charset="0"/>
                <a:cs typeface="Times New Roman" panose="02020603050405020304" pitchFamily="18" charset="0"/>
              </a:rPr>
              <a:t>block diagram </a:t>
            </a:r>
            <a:r>
              <a:rPr lang="en-US" altLang="zh-CN" dirty="0">
                <a:latin typeface="Times New Roman" panose="02020603050405020304" pitchFamily="18" charset="0"/>
                <a:cs typeface="Times New Roman" panose="02020603050405020304" pitchFamily="18" charset="0"/>
              </a:rPr>
              <a:t>is shown as follows.</a:t>
            </a:r>
            <a:endParaRPr lang="zh-CN" altLang="en-US" dirty="0">
              <a:latin typeface="Times New Roman" panose="02020603050405020304" pitchFamily="18" charset="0"/>
              <a:cs typeface="Times New Roman" panose="02020603050405020304" pitchFamily="18" charset="0"/>
            </a:endParaRPr>
          </a:p>
        </p:txBody>
      </p:sp>
      <p:sp>
        <p:nvSpPr>
          <p:cNvPr id="14" name="文本框 13"/>
          <p:cNvSpPr txBox="1"/>
          <p:nvPr/>
        </p:nvSpPr>
        <p:spPr>
          <a:xfrm>
            <a:off x="1139306" y="3615065"/>
            <a:ext cx="10650357" cy="645160"/>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After applying this controller, we can precisely adjust the position and speed of the motor. Combined with the previous </a:t>
            </a:r>
            <a:r>
              <a:rPr lang="en-US" altLang="zh-CN" b="1" dirty="0">
                <a:latin typeface="Times New Roman" panose="02020603050405020304" pitchFamily="18" charset="0"/>
                <a:cs typeface="Times New Roman" panose="02020603050405020304" pitchFamily="18" charset="0"/>
              </a:rPr>
              <a:t>kinematic analysis </a:t>
            </a:r>
            <a:r>
              <a:rPr lang="en-US" altLang="zh-CN" dirty="0">
                <a:latin typeface="Times New Roman" panose="02020603050405020304" pitchFamily="18" charset="0"/>
                <a:cs typeface="Times New Roman" panose="02020603050405020304" pitchFamily="18" charset="0"/>
              </a:rPr>
              <a:t>and inertial </a:t>
            </a:r>
            <a:r>
              <a:rPr lang="en-US" altLang="zh-CN" b="1" dirty="0">
                <a:latin typeface="Times New Roman" panose="02020603050405020304" pitchFamily="18" charset="0"/>
                <a:cs typeface="Times New Roman" panose="02020603050405020304" pitchFamily="18" charset="0"/>
              </a:rPr>
              <a:t>navigation system</a:t>
            </a:r>
            <a:r>
              <a:rPr lang="en-US" altLang="zh-CN" dirty="0">
                <a:latin typeface="Times New Roman" panose="02020603050405020304" pitchFamily="18" charset="0"/>
                <a:cs typeface="Times New Roman" panose="02020603050405020304" pitchFamily="18" charset="0"/>
              </a:rPr>
              <a:t>, we can freely control the </a:t>
            </a:r>
            <a:r>
              <a:rPr lang="en-US" altLang="zh-CN" b="1" dirty="0">
                <a:latin typeface="Times New Roman" panose="02020603050405020304" pitchFamily="18" charset="0"/>
                <a:cs typeface="Times New Roman" panose="02020603050405020304" pitchFamily="18" charset="0"/>
              </a:rPr>
              <a:t>position</a:t>
            </a:r>
            <a:r>
              <a:rPr lang="en-US" altLang="zh-CN" dirty="0">
                <a:latin typeface="Times New Roman" panose="02020603050405020304" pitchFamily="18" charset="0"/>
                <a:cs typeface="Times New Roman" panose="02020603050405020304" pitchFamily="18" charset="0"/>
              </a:rPr>
              <a:t> of the AGV.</a:t>
            </a:r>
            <a:endParaRPr lang="zh-CN" alt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PA-直接连接符 17"/>
          <p:cNvCxnSpPr/>
          <p:nvPr>
            <p:custDataLst>
              <p:tags r:id="rId1"/>
            </p:custDataLst>
          </p:nvPr>
        </p:nvCxnSpPr>
        <p:spPr>
          <a:xfrm>
            <a:off x="482600" y="698001"/>
            <a:ext cx="11307064" cy="0"/>
          </a:xfrm>
          <a:prstGeom prst="line">
            <a:avLst/>
          </a:prstGeom>
          <a:gradFill flip="none" rotWithShape="1">
            <a:gsLst>
              <a:gs pos="0">
                <a:srgbClr val="E6564F"/>
              </a:gs>
              <a:gs pos="70000">
                <a:srgbClr val="D12A22"/>
              </a:gs>
            </a:gsLst>
            <a:lin ang="5400000" scaled="1"/>
            <a:tileRect/>
          </a:gradFill>
          <a:ln w="19050" cap="flat" cmpd="sng" algn="ctr">
            <a:gradFill>
              <a:gsLst>
                <a:gs pos="30000">
                  <a:schemeClr val="accent1"/>
                </a:gs>
                <a:gs pos="100000">
                  <a:schemeClr val="accent6">
                    <a:lumMod val="0"/>
                    <a:lumOff val="100000"/>
                  </a:schemeClr>
                </a:gs>
              </a:gsLst>
              <a:lin ang="0" scaled="0"/>
            </a:gradFill>
            <a:prstDash val="solid"/>
            <a:miter lim="800000"/>
          </a:ln>
          <a:effectLst/>
        </p:spPr>
      </p:cxnSp>
      <p:pic>
        <p:nvPicPr>
          <p:cNvPr id="33" name="图片 3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182014" y="102721"/>
            <a:ext cx="1800318" cy="540096"/>
          </a:xfrm>
          <a:prstGeom prst="rect">
            <a:avLst/>
          </a:prstGeom>
        </p:spPr>
      </p:pic>
      <p:sp>
        <p:nvSpPr>
          <p:cNvPr id="2" name="文本框 40"/>
          <p:cNvSpPr txBox="1"/>
          <p:nvPr/>
        </p:nvSpPr>
        <p:spPr>
          <a:xfrm>
            <a:off x="284354" y="53953"/>
            <a:ext cx="1709909" cy="523220"/>
          </a:xfrm>
          <a:prstGeom prst="rect">
            <a:avLst/>
          </a:prstGeom>
          <a:noFill/>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34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Control</a:t>
            </a:r>
            <a:endParaRPr lang="zh-CN" altLang="en-US" sz="34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 name="文本框 2"/>
          <p:cNvSpPr txBox="1"/>
          <p:nvPr/>
        </p:nvSpPr>
        <p:spPr>
          <a:xfrm>
            <a:off x="521284" y="683105"/>
            <a:ext cx="11583629" cy="461665"/>
          </a:xfrm>
          <a:prstGeom prst="rect">
            <a:avLst/>
          </a:prstGeom>
          <a:noFill/>
        </p:spPr>
        <p:txBody>
          <a:bodyPr wrap="square">
            <a:spAutoFit/>
          </a:bodyPr>
          <a:lstStyle/>
          <a:p>
            <a:r>
              <a:rPr lang="en-US" altLang="zh-CN" sz="2400" b="1" dirty="0">
                <a:latin typeface="Times New Roman" panose="02020603050405020304" pitchFamily="18" charset="0"/>
                <a:ea typeface="微软雅黑" panose="020B0503020204020204" pitchFamily="34" charset="-122"/>
                <a:cs typeface="Times New Roman" panose="02020603050405020304" pitchFamily="18" charset="0"/>
              </a:rPr>
              <a:t>An obstacle avoidance system composed of an ultrasonic sensor and a stepper motor</a:t>
            </a:r>
            <a:endParaRPr lang="zh-CN" altLang="en-US" sz="2400" b="1" dirty="0">
              <a:latin typeface="Times New Roman" panose="02020603050405020304" pitchFamily="18" charset="0"/>
              <a:cs typeface="Times New Roman" panose="02020603050405020304" pitchFamily="18" charset="0"/>
            </a:endParaRPr>
          </a:p>
        </p:txBody>
      </p:sp>
      <p:sp>
        <p:nvSpPr>
          <p:cNvPr id="10" name="文本框 9"/>
          <p:cNvSpPr txBox="1"/>
          <p:nvPr/>
        </p:nvSpPr>
        <p:spPr>
          <a:xfrm>
            <a:off x="521284" y="1250702"/>
            <a:ext cx="11268380" cy="1938020"/>
          </a:xfrm>
          <a:prstGeom prst="rect">
            <a:avLst/>
          </a:prstGeom>
          <a:noFill/>
        </p:spPr>
        <p:txBody>
          <a:bodyPr wrap="square" rtlCol="0">
            <a:spAutoFit/>
          </a:bodyPr>
          <a:lstStyle/>
          <a:p>
            <a:r>
              <a:rPr lang="en-US" altLang="zh-CN" sz="2000" dirty="0">
                <a:latin typeface="Times New Roman" panose="02020603050405020304" pitchFamily="18" charset="0"/>
                <a:cs typeface="Times New Roman" panose="02020603050405020304" pitchFamily="18" charset="0"/>
              </a:rPr>
              <a:t>We use a </a:t>
            </a:r>
            <a:r>
              <a:rPr lang="en-US" altLang="zh-CN" sz="2000" b="1" dirty="0">
                <a:latin typeface="Times New Roman" panose="02020603050405020304" pitchFamily="18" charset="0"/>
                <a:cs typeface="Times New Roman" panose="02020603050405020304" pitchFamily="18" charset="0"/>
              </a:rPr>
              <a:t>stepper motor </a:t>
            </a:r>
            <a:r>
              <a:rPr lang="en-US" altLang="zh-CN" sz="2000" dirty="0">
                <a:latin typeface="Times New Roman" panose="02020603050405020304" pitchFamily="18" charset="0"/>
                <a:cs typeface="Times New Roman" panose="02020603050405020304" pitchFamily="18" charset="0"/>
              </a:rPr>
              <a:t>to drive the </a:t>
            </a:r>
            <a:r>
              <a:rPr lang="en-US" altLang="zh-CN" sz="2000" b="1" dirty="0">
                <a:latin typeface="Times New Roman" panose="02020603050405020304" pitchFamily="18" charset="0"/>
                <a:cs typeface="Times New Roman" panose="02020603050405020304" pitchFamily="18" charset="0"/>
              </a:rPr>
              <a:t>ultrasonic sensor </a:t>
            </a:r>
            <a:r>
              <a:rPr lang="en-US" altLang="zh-CN" sz="2000" dirty="0">
                <a:latin typeface="Times New Roman" panose="02020603050405020304" pitchFamily="18" charset="0"/>
                <a:cs typeface="Times New Roman" panose="02020603050405020304" pitchFamily="18" charset="0"/>
              </a:rPr>
              <a:t>installed on the </a:t>
            </a:r>
            <a:r>
              <a:rPr lang="en-US" altLang="zh-CN" sz="2000" b="1" dirty="0">
                <a:latin typeface="Times New Roman" panose="02020603050405020304" pitchFamily="18" charset="0"/>
                <a:cs typeface="Times New Roman" panose="02020603050405020304" pitchFamily="18" charset="0"/>
              </a:rPr>
              <a:t>conductive slip ring </a:t>
            </a:r>
            <a:r>
              <a:rPr lang="en-US" altLang="zh-CN" sz="2000" dirty="0">
                <a:latin typeface="Times New Roman" panose="02020603050405020304" pitchFamily="18" charset="0"/>
                <a:cs typeface="Times New Roman" panose="02020603050405020304" pitchFamily="18" charset="0"/>
              </a:rPr>
              <a:t>through a </a:t>
            </a:r>
            <a:r>
              <a:rPr lang="en-US" altLang="zh-CN" sz="2000" b="1" dirty="0">
                <a:latin typeface="Times New Roman" panose="02020603050405020304" pitchFamily="18" charset="0"/>
                <a:cs typeface="Times New Roman" panose="02020603050405020304" pitchFamily="18" charset="0"/>
              </a:rPr>
              <a:t>gear mechanism</a:t>
            </a:r>
            <a:r>
              <a:rPr lang="en-US" altLang="zh-CN" sz="2000" dirty="0">
                <a:latin typeface="Times New Roman" panose="02020603050405020304" pitchFamily="18" charset="0"/>
                <a:cs typeface="Times New Roman" panose="02020603050405020304" pitchFamily="18" charset="0"/>
              </a:rPr>
              <a:t>, causing it to </a:t>
            </a:r>
            <a:r>
              <a:rPr lang="en-US" altLang="zh-CN" sz="2000" b="1" dirty="0">
                <a:latin typeface="Times New Roman" panose="02020603050405020304" pitchFamily="18" charset="0"/>
                <a:cs typeface="Times New Roman" panose="02020603050405020304" pitchFamily="18" charset="0"/>
              </a:rPr>
              <a:t>rotate continuously</a:t>
            </a:r>
            <a:r>
              <a:rPr lang="en-US" altLang="zh-CN" sz="2000" dirty="0">
                <a:latin typeface="Times New Roman" panose="02020603050405020304" pitchFamily="18" charset="0"/>
                <a:cs typeface="Times New Roman" panose="02020603050405020304" pitchFamily="18" charset="0"/>
              </a:rPr>
              <a:t>. By combining the </a:t>
            </a:r>
            <a:r>
              <a:rPr lang="en-US" altLang="zh-CN" sz="2000" b="1" dirty="0">
                <a:latin typeface="Times New Roman" panose="02020603050405020304" pitchFamily="18" charset="0"/>
                <a:cs typeface="Times New Roman" panose="02020603050405020304" pitchFamily="18" charset="0"/>
              </a:rPr>
              <a:t>angle information </a:t>
            </a:r>
            <a:r>
              <a:rPr lang="en-US" altLang="zh-CN" sz="2000" dirty="0">
                <a:latin typeface="Times New Roman" panose="02020603050405020304" pitchFamily="18" charset="0"/>
                <a:cs typeface="Times New Roman" panose="02020603050405020304" pitchFamily="18" charset="0"/>
              </a:rPr>
              <a:t>from the stepper motor with the </a:t>
            </a:r>
            <a:r>
              <a:rPr lang="en-US" altLang="zh-CN" sz="2000" b="1" dirty="0">
                <a:latin typeface="Times New Roman" panose="02020603050405020304" pitchFamily="18" charset="0"/>
                <a:cs typeface="Times New Roman" panose="02020603050405020304" pitchFamily="18" charset="0"/>
              </a:rPr>
              <a:t>distance information </a:t>
            </a:r>
            <a:r>
              <a:rPr lang="en-US" altLang="zh-CN" sz="2000" dirty="0">
                <a:latin typeface="Times New Roman" panose="02020603050405020304" pitchFamily="18" charset="0"/>
                <a:cs typeface="Times New Roman" panose="02020603050405020304" pitchFamily="18" charset="0"/>
              </a:rPr>
              <a:t>input by the ultrasonic sensor, we can establish a </a:t>
            </a:r>
            <a:r>
              <a:rPr lang="en-US" altLang="zh-CN" sz="2000" b="1" dirty="0">
                <a:latin typeface="Times New Roman" panose="02020603050405020304" pitchFamily="18" charset="0"/>
                <a:cs typeface="Times New Roman" panose="02020603050405020304" pitchFamily="18" charset="0"/>
              </a:rPr>
              <a:t>polar coordinate system </a:t>
            </a:r>
            <a:r>
              <a:rPr lang="en-US" altLang="zh-CN" sz="2000" dirty="0">
                <a:latin typeface="Times New Roman" panose="02020603050405020304" pitchFamily="18" charset="0"/>
                <a:cs typeface="Times New Roman" panose="02020603050405020304" pitchFamily="18" charset="0"/>
              </a:rPr>
              <a:t>with the AGV as the origin to describe the information about the surrounding obstacles. Through the following algorithm, the obstacle information in the polar coordinate system can be converted into </a:t>
            </a:r>
            <a:r>
              <a:rPr lang="en-US" altLang="zh-CN" sz="2000" b="1" dirty="0">
                <a:latin typeface="Times New Roman" panose="02020603050405020304" pitchFamily="18" charset="0"/>
                <a:cs typeface="Times New Roman" panose="02020603050405020304" pitchFamily="18" charset="0"/>
              </a:rPr>
              <a:t>Cartesian coordinates</a:t>
            </a:r>
            <a:r>
              <a:rPr lang="en-US" altLang="zh-CN" sz="2000" dirty="0">
                <a:latin typeface="Times New Roman" panose="02020603050405020304" pitchFamily="18" charset="0"/>
                <a:cs typeface="Times New Roman" panose="02020603050405020304" pitchFamily="18" charset="0"/>
              </a:rPr>
              <a:t>.</a:t>
            </a:r>
            <a:endParaRPr lang="zh-CN" altLang="en-US" sz="2000"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5" name="文本框 4"/>
              <p:cNvSpPr txBox="1"/>
              <p:nvPr/>
            </p:nvSpPr>
            <p:spPr>
              <a:xfrm>
                <a:off x="5298921" y="3189694"/>
                <a:ext cx="2828595" cy="617861"/>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d>
                        <m:dPr>
                          <m:begChr m:val="{"/>
                          <m:endChr m:val=""/>
                          <m:ctrlPr>
                            <a:rPr lang="en-US" altLang="zh-CN" i="1" smtClean="0">
                              <a:latin typeface="Cambria Math" panose="02040503050406030204" pitchFamily="18" charset="0"/>
                            </a:rPr>
                          </m:ctrlPr>
                        </m:dPr>
                        <m:e>
                          <m:eqArr>
                            <m:eqArrPr>
                              <m:ctrlPr>
                                <a:rPr lang="en-US" altLang="zh-CN" i="1" smtClean="0">
                                  <a:latin typeface="Cambria Math" panose="02040503050406030204" pitchFamily="18" charset="0"/>
                                </a:rPr>
                              </m:ctrlPr>
                            </m:eqArrPr>
                            <m:e>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𝑜𝑏𝑠𝑡𝑎𝑐𝑙𝑒</m:t>
                                  </m:r>
                                </m:sub>
                              </m:sSub>
                              <m:r>
                                <a:rPr lang="en-US" altLang="zh-CN" b="0" i="1" smtClean="0">
                                  <a:latin typeface="Cambria Math" panose="02040503050406030204" pitchFamily="18" charset="0"/>
                                </a:rPr>
                                <m:t>=</m:t>
                              </m:r>
                              <m:r>
                                <m:rPr>
                                  <m:sty m:val="p"/>
                                </m:rPr>
                                <a:rPr lang="en-US" altLang="zh-CN">
                                  <a:latin typeface="Cambria Math" panose="02040503050406030204" pitchFamily="18" charset="0"/>
                                </a:rPr>
                                <m:t>Rcos</m:t>
                              </m:r>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zh-CN" altLang="en-US" i="1">
                                      <a:latin typeface="Cambria Math" panose="02040503050406030204" pitchFamily="18" charset="0"/>
                                    </a:rPr>
                                    <m:t>𝜙</m:t>
                                  </m:r>
                                </m:e>
                                <m:sub>
                                  <m:r>
                                    <a:rPr lang="en-US" altLang="zh-CN" b="0" i="1" smtClean="0">
                                      <a:latin typeface="Cambria Math" panose="02040503050406030204" pitchFamily="18" charset="0"/>
                                    </a:rPr>
                                    <m:t>𝑜𝑏𝑠𝑡𝑎𝑐𝑙𝑒</m:t>
                                  </m:r>
                                </m:sub>
                              </m:sSub>
                              <m:r>
                                <a:rPr lang="en-US" altLang="zh-CN" b="0" i="1" smtClean="0">
                                  <a:latin typeface="Cambria Math" panose="02040503050406030204" pitchFamily="18" charset="0"/>
                                </a:rPr>
                                <m:t>)</m:t>
                              </m:r>
                            </m:e>
                            <m:e>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𝑦</m:t>
                                  </m:r>
                                </m:e>
                                <m:sub>
                                  <m:r>
                                    <a:rPr lang="en-US" altLang="zh-CN" b="0" i="1" smtClean="0">
                                      <a:latin typeface="Cambria Math" panose="02040503050406030204" pitchFamily="18" charset="0"/>
                                    </a:rPr>
                                    <m:t>𝑜𝑏𝑠𝑡𝑎𝑐𝑙𝑒</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𝑅𝑠𝑖𝑛</m:t>
                              </m:r>
                              <m:r>
                                <a:rPr lang="en-US" altLang="zh-CN" b="0" i="1" smtClean="0">
                                  <a:latin typeface="Cambria Math" panose="02040503050406030204" pitchFamily="18" charset="0"/>
                                </a:rPr>
                                <m:t>(</m:t>
                              </m:r>
                              <m:sSub>
                                <m:sSubPr>
                                  <m:ctrlPr>
                                    <a:rPr lang="en-US" altLang="zh-CN" i="1">
                                      <a:latin typeface="Cambria Math" panose="02040503050406030204" pitchFamily="18" charset="0"/>
                                    </a:rPr>
                                  </m:ctrlPr>
                                </m:sSubPr>
                                <m:e>
                                  <m:r>
                                    <a:rPr lang="zh-CN" altLang="en-US" i="1">
                                      <a:latin typeface="Cambria Math" panose="02040503050406030204" pitchFamily="18" charset="0"/>
                                    </a:rPr>
                                    <m:t>𝜙</m:t>
                                  </m:r>
                                </m:e>
                                <m:sub>
                                  <m:r>
                                    <a:rPr lang="en-US" altLang="zh-CN" b="0" i="1" smtClean="0">
                                      <a:latin typeface="Cambria Math" panose="02040503050406030204" pitchFamily="18" charset="0"/>
                                    </a:rPr>
                                    <m:t>𝑜𝑏𝑠𝑡𝑎𝑐𝑙𝑒</m:t>
                                  </m:r>
                                </m:sub>
                              </m:sSub>
                              <m:r>
                                <a:rPr lang="en-US" altLang="zh-CN" b="0" i="1" smtClean="0">
                                  <a:latin typeface="Cambria Math" panose="02040503050406030204" pitchFamily="18" charset="0"/>
                                </a:rPr>
                                <m:t>)</m:t>
                              </m:r>
                            </m:e>
                          </m:eqArr>
                        </m:e>
                      </m:d>
                    </m:oMath>
                  </m:oMathPara>
                </a14:m>
                <a:endParaRPr lang="zh-CN" altLang="en-US" dirty="0"/>
              </a:p>
            </p:txBody>
          </p:sp>
        </mc:Choice>
        <mc:Fallback>
          <p:sp>
            <p:nvSpPr>
              <p:cNvPr id="5" name="文本框 4"/>
              <p:cNvSpPr txBox="1">
                <a:spLocks noRot="1" noChangeAspect="1" noMove="1" noResize="1" noEditPoints="1" noAdjustHandles="1" noChangeArrowheads="1" noChangeShapeType="1" noTextEdit="1"/>
              </p:cNvSpPr>
              <p:nvPr/>
            </p:nvSpPr>
            <p:spPr>
              <a:xfrm>
                <a:off x="5298921" y="3189694"/>
                <a:ext cx="2828595" cy="617861"/>
              </a:xfrm>
              <a:prstGeom prst="rect">
                <a:avLst/>
              </a:prstGeom>
              <a:blipFill rotWithShape="1">
                <a:blip r:embed="rId3"/>
                <a:stretch>
                  <a:fillRect l="-17" t="-14" r="-1701" b="15"/>
                </a:stretch>
              </a:blipFill>
            </p:spPr>
            <p:txBody>
              <a:bodyPr/>
              <a:lstStyle/>
              <a:p>
                <a:r>
                  <a:rPr lang="zh-CN" altLang="en-US">
                    <a:noFill/>
                  </a:rPr>
                  <a:t> </a:t>
                </a:r>
              </a:p>
            </p:txBody>
          </p:sp>
        </mc:Fallback>
      </mc:AlternateContent>
      <p:sp>
        <p:nvSpPr>
          <p:cNvPr id="7" name="文本框 6"/>
          <p:cNvSpPr txBox="1"/>
          <p:nvPr/>
        </p:nvSpPr>
        <p:spPr>
          <a:xfrm>
            <a:off x="3866030" y="3805118"/>
            <a:ext cx="7923633" cy="922020"/>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We can also utilize the </a:t>
            </a:r>
            <a:r>
              <a:rPr lang="en-US" altLang="zh-CN" b="1" dirty="0">
                <a:latin typeface="Times New Roman" panose="02020603050405020304" pitchFamily="18" charset="0"/>
                <a:cs typeface="Times New Roman" panose="02020603050405020304" pitchFamily="18" charset="0"/>
              </a:rPr>
              <a:t>inertial navigation system </a:t>
            </a:r>
            <a:r>
              <a:rPr lang="en-US" altLang="zh-CN" dirty="0">
                <a:latin typeface="Times New Roman" panose="02020603050405020304" pitchFamily="18" charset="0"/>
                <a:cs typeface="Times New Roman" panose="02020603050405020304" pitchFamily="18" charset="0"/>
              </a:rPr>
              <a:t>of the AGV to transform the obstacle information from the </a:t>
            </a:r>
            <a:r>
              <a:rPr lang="en-US" altLang="zh-CN" b="1" dirty="0">
                <a:latin typeface="Times New Roman" panose="02020603050405020304" pitchFamily="18" charset="0"/>
                <a:cs typeface="Times New Roman" panose="02020603050405020304" pitchFamily="18" charset="0"/>
              </a:rPr>
              <a:t>robot's coordinate system </a:t>
            </a:r>
            <a:r>
              <a:rPr lang="en-US" altLang="zh-CN" dirty="0">
                <a:latin typeface="Times New Roman" panose="02020603050405020304" pitchFamily="18" charset="0"/>
                <a:cs typeface="Times New Roman" panose="02020603050405020304" pitchFamily="18" charset="0"/>
              </a:rPr>
              <a:t>to the </a:t>
            </a:r>
            <a:r>
              <a:rPr lang="en-US" altLang="zh-CN" b="1" dirty="0">
                <a:latin typeface="Times New Roman" panose="02020603050405020304" pitchFamily="18" charset="0"/>
                <a:cs typeface="Times New Roman" panose="02020603050405020304" pitchFamily="18" charset="0"/>
              </a:rPr>
              <a:t>world coordinate system</a:t>
            </a: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8" name="文本框 7"/>
              <p:cNvSpPr txBox="1"/>
              <p:nvPr/>
            </p:nvSpPr>
            <p:spPr>
              <a:xfrm>
                <a:off x="3866028" y="4803876"/>
                <a:ext cx="5694379" cy="520592"/>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d>
                        <m:dPr>
                          <m:begChr m:val="["/>
                          <m:endChr m:val="]"/>
                          <m:ctrlPr>
                            <a:rPr lang="en-US" altLang="zh-CN" i="1" smtClean="0">
                              <a:latin typeface="Cambria Math" panose="02040503050406030204" pitchFamily="18" charset="0"/>
                            </a:rPr>
                          </m:ctrlPr>
                        </m:dPr>
                        <m:e>
                          <m:m>
                            <m:mPr>
                              <m:mcs>
                                <m:mc>
                                  <m:mcPr>
                                    <m:count m:val="1"/>
                                    <m:mcJc m:val="center"/>
                                  </m:mcPr>
                                </m:mc>
                              </m:mcs>
                              <m:ctrlPr>
                                <a:rPr lang="en-US" altLang="zh-CN" i="1" smtClean="0">
                                  <a:latin typeface="Cambria Math" panose="02040503050406030204" pitchFamily="18" charset="0"/>
                                </a:rPr>
                              </m:ctrlPr>
                            </m:mPr>
                            <m:mr>
                              <m:e>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𝑤𝑜𝑟𝑙𝑑</m:t>
                                    </m:r>
                                  </m:sub>
                                </m:sSub>
                              </m:e>
                            </m:mr>
                            <m:mr>
                              <m:e>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𝑦</m:t>
                                    </m:r>
                                  </m:e>
                                  <m:sub>
                                    <m:r>
                                      <a:rPr lang="en-US" altLang="zh-CN" b="0" i="1" smtClean="0">
                                        <a:latin typeface="Cambria Math" panose="02040503050406030204" pitchFamily="18" charset="0"/>
                                      </a:rPr>
                                      <m:t>𝑤𝑜𝑟𝑙𝑑</m:t>
                                    </m:r>
                                  </m:sub>
                                </m:sSub>
                              </m:e>
                            </m:mr>
                          </m:m>
                        </m:e>
                      </m:d>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m>
                            <m:mPr>
                              <m:mcs>
                                <m:mc>
                                  <m:mcPr>
                                    <m:count m:val="2"/>
                                    <m:mcJc m:val="center"/>
                                  </m:mcPr>
                                </m:mc>
                              </m:mcs>
                              <m:ctrlPr>
                                <a:rPr lang="en-US" altLang="zh-CN" b="0" i="1" smtClean="0">
                                  <a:latin typeface="Cambria Math" panose="02040503050406030204" pitchFamily="18" charset="0"/>
                                </a:rPr>
                              </m:ctrlPr>
                            </m:mPr>
                            <m:mr>
                              <m:e>
                                <m:r>
                                  <m:rPr>
                                    <m:brk m:alnAt="7"/>
                                  </m:rPr>
                                  <a:rPr lang="en-US" altLang="zh-CN" b="0" i="1" smtClean="0">
                                    <a:latin typeface="Cambria Math" panose="02040503050406030204" pitchFamily="18" charset="0"/>
                                  </a:rPr>
                                  <m:t>𝑐</m:t>
                                </m:r>
                                <m:r>
                                  <a:rPr lang="en-US" altLang="zh-CN" b="0" i="1" smtClean="0">
                                    <a:latin typeface="Cambria Math" panose="02040503050406030204" pitchFamily="18" charset="0"/>
                                  </a:rPr>
                                  <m:t>𝑜𝑠</m:t>
                                </m:r>
                                <m:sSub>
                                  <m:sSubPr>
                                    <m:ctrlPr>
                                      <a:rPr lang="en-US" altLang="zh-CN" b="0" i="1" smtClean="0">
                                        <a:latin typeface="Cambria Math" panose="02040503050406030204" pitchFamily="18" charset="0"/>
                                      </a:rPr>
                                    </m:ctrlPr>
                                  </m:sSubPr>
                                  <m:e>
                                    <m:r>
                                      <a:rPr lang="zh-CN" altLang="en-US" b="0" i="1" smtClean="0">
                                        <a:latin typeface="Cambria Math" panose="02040503050406030204" pitchFamily="18" charset="0"/>
                                      </a:rPr>
                                      <m:t>𝜃</m:t>
                                    </m:r>
                                  </m:e>
                                  <m:sub>
                                    <m:r>
                                      <a:rPr lang="en-US" altLang="zh-CN" b="0" i="1" smtClean="0">
                                        <a:latin typeface="Cambria Math" panose="02040503050406030204" pitchFamily="18" charset="0"/>
                                      </a:rPr>
                                      <m:t>𝑟𝑜𝑏𝑜𝑡</m:t>
                                    </m:r>
                                  </m:sub>
                                </m:sSub>
                              </m:e>
                              <m:e>
                                <m:r>
                                  <a:rPr lang="en-US" altLang="zh-CN" b="0" i="1" smtClean="0">
                                    <a:latin typeface="Cambria Math" panose="02040503050406030204" pitchFamily="18" charset="0"/>
                                  </a:rPr>
                                  <m:t>−</m:t>
                                </m:r>
                                <m:r>
                                  <a:rPr lang="en-US" altLang="zh-CN" b="0" i="1" smtClean="0">
                                    <a:latin typeface="Cambria Math" panose="02040503050406030204" pitchFamily="18" charset="0"/>
                                  </a:rPr>
                                  <m:t>𝑠𝑖𝑛</m:t>
                                </m:r>
                                <m:sSub>
                                  <m:sSubPr>
                                    <m:ctrlPr>
                                      <a:rPr lang="en-US" altLang="zh-CN" i="1">
                                        <a:latin typeface="Cambria Math" panose="02040503050406030204" pitchFamily="18" charset="0"/>
                                      </a:rPr>
                                    </m:ctrlPr>
                                  </m:sSubPr>
                                  <m:e>
                                    <m:r>
                                      <a:rPr lang="zh-CN" altLang="en-US" i="1">
                                        <a:latin typeface="Cambria Math" panose="02040503050406030204" pitchFamily="18" charset="0"/>
                                      </a:rPr>
                                      <m:t>𝜃</m:t>
                                    </m:r>
                                  </m:e>
                                  <m:sub>
                                    <m:r>
                                      <a:rPr lang="en-US" altLang="zh-CN" i="1">
                                        <a:latin typeface="Cambria Math" panose="02040503050406030204" pitchFamily="18" charset="0"/>
                                      </a:rPr>
                                      <m:t>𝑟𝑜𝑏𝑜𝑡</m:t>
                                    </m:r>
                                  </m:sub>
                                </m:sSub>
                              </m:e>
                            </m:mr>
                            <m:mr>
                              <m:e>
                                <m:r>
                                  <a:rPr lang="en-US" altLang="zh-CN" b="0" i="1" smtClean="0">
                                    <a:latin typeface="Cambria Math" panose="02040503050406030204" pitchFamily="18" charset="0"/>
                                  </a:rPr>
                                  <m:t>𝑠𝑖𝑛</m:t>
                                </m:r>
                                <m:sSub>
                                  <m:sSubPr>
                                    <m:ctrlPr>
                                      <a:rPr lang="en-US" altLang="zh-CN" i="1">
                                        <a:latin typeface="Cambria Math" panose="02040503050406030204" pitchFamily="18" charset="0"/>
                                      </a:rPr>
                                    </m:ctrlPr>
                                  </m:sSubPr>
                                  <m:e>
                                    <m:r>
                                      <a:rPr lang="zh-CN" altLang="en-US" i="1">
                                        <a:latin typeface="Cambria Math" panose="02040503050406030204" pitchFamily="18" charset="0"/>
                                      </a:rPr>
                                      <m:t>𝜃</m:t>
                                    </m:r>
                                  </m:e>
                                  <m:sub>
                                    <m:r>
                                      <a:rPr lang="en-US" altLang="zh-CN" i="1">
                                        <a:latin typeface="Cambria Math" panose="02040503050406030204" pitchFamily="18" charset="0"/>
                                      </a:rPr>
                                      <m:t>𝑟𝑜𝑏𝑜𝑡</m:t>
                                    </m:r>
                                  </m:sub>
                                </m:sSub>
                              </m:e>
                              <m:e>
                                <m:r>
                                  <m:rPr>
                                    <m:brk m:alnAt="7"/>
                                  </m:rPr>
                                  <a:rPr lang="en-US" altLang="zh-CN" i="1">
                                    <a:latin typeface="Cambria Math" panose="02040503050406030204" pitchFamily="18" charset="0"/>
                                  </a:rPr>
                                  <m:t>𝑐</m:t>
                                </m:r>
                                <m:r>
                                  <a:rPr lang="en-US" altLang="zh-CN" i="1">
                                    <a:latin typeface="Cambria Math" panose="02040503050406030204" pitchFamily="18" charset="0"/>
                                  </a:rPr>
                                  <m:t>𝑜𝑠</m:t>
                                </m:r>
                                <m:sSub>
                                  <m:sSubPr>
                                    <m:ctrlPr>
                                      <a:rPr lang="en-US" altLang="zh-CN" i="1">
                                        <a:latin typeface="Cambria Math" panose="02040503050406030204" pitchFamily="18" charset="0"/>
                                      </a:rPr>
                                    </m:ctrlPr>
                                  </m:sSubPr>
                                  <m:e>
                                    <m:r>
                                      <a:rPr lang="zh-CN" altLang="en-US" i="1">
                                        <a:latin typeface="Cambria Math" panose="02040503050406030204" pitchFamily="18" charset="0"/>
                                      </a:rPr>
                                      <m:t>𝜃</m:t>
                                    </m:r>
                                  </m:e>
                                  <m:sub>
                                    <m:r>
                                      <a:rPr lang="en-US" altLang="zh-CN" i="1">
                                        <a:latin typeface="Cambria Math" panose="02040503050406030204" pitchFamily="18" charset="0"/>
                                      </a:rPr>
                                      <m:t>𝑟𝑜𝑏𝑜𝑡</m:t>
                                    </m:r>
                                  </m:sub>
                                </m:sSub>
                              </m:e>
                            </m:mr>
                          </m:m>
                        </m:e>
                      </m:d>
                      <m:d>
                        <m:dPr>
                          <m:begChr m:val="["/>
                          <m:endChr m:val="]"/>
                          <m:ctrlPr>
                            <a:rPr lang="en-US" altLang="zh-CN" b="0" i="1" smtClean="0">
                              <a:latin typeface="Cambria Math" panose="02040503050406030204" pitchFamily="18" charset="0"/>
                            </a:rPr>
                          </m:ctrlPr>
                        </m:dPr>
                        <m:e>
                          <m:m>
                            <m:mPr>
                              <m:mcs>
                                <m:mc>
                                  <m:mcPr>
                                    <m:count m:val="1"/>
                                    <m:mcJc m:val="center"/>
                                  </m:mcPr>
                                </m:mc>
                              </m:mcs>
                              <m:ctrlPr>
                                <a:rPr lang="en-US" altLang="zh-CN" b="0" i="1" smtClean="0">
                                  <a:latin typeface="Cambria Math" panose="02040503050406030204" pitchFamily="18" charset="0"/>
                                </a:rPr>
                              </m:ctrlPr>
                            </m:mPr>
                            <m:m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𝑜𝑏𝑠𝑡𝑎𝑐𝑙𝑒</m:t>
                                    </m:r>
                                  </m:sub>
                                </m:sSub>
                              </m:e>
                            </m:mr>
                            <m:m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𝑦</m:t>
                                    </m:r>
                                  </m:e>
                                  <m:sub>
                                    <m:r>
                                      <a:rPr lang="en-US" altLang="zh-CN" b="0" i="1" smtClean="0">
                                        <a:latin typeface="Cambria Math" panose="02040503050406030204" pitchFamily="18" charset="0"/>
                                      </a:rPr>
                                      <m:t>𝑜𝑏𝑠𝑡𝑎𝑐𝑙𝑒</m:t>
                                    </m:r>
                                  </m:sub>
                                </m:sSub>
                              </m:e>
                            </m:mr>
                          </m:m>
                        </m:e>
                      </m:d>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m>
                            <m:mPr>
                              <m:mcs>
                                <m:mc>
                                  <m:mcPr>
                                    <m:count m:val="1"/>
                                    <m:mcJc m:val="center"/>
                                  </m:mcPr>
                                </m:mc>
                              </m:mcs>
                              <m:ctrlPr>
                                <a:rPr lang="en-US" altLang="zh-CN" b="0" i="1" smtClean="0">
                                  <a:latin typeface="Cambria Math" panose="02040503050406030204" pitchFamily="18" charset="0"/>
                                </a:rPr>
                              </m:ctrlPr>
                            </m:mPr>
                            <m:m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𝑟𝑜𝑏𝑜𝑡</m:t>
                                    </m:r>
                                  </m:sub>
                                </m:sSub>
                              </m:e>
                            </m:mr>
                            <m:m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𝑦</m:t>
                                    </m:r>
                                  </m:e>
                                  <m:sub>
                                    <m:r>
                                      <a:rPr lang="en-US" altLang="zh-CN" b="0" i="1" smtClean="0">
                                        <a:latin typeface="Cambria Math" panose="02040503050406030204" pitchFamily="18" charset="0"/>
                                      </a:rPr>
                                      <m:t>𝑟𝑜𝑏𝑜𝑡</m:t>
                                    </m:r>
                                  </m:sub>
                                </m:sSub>
                              </m:e>
                            </m:mr>
                          </m:m>
                        </m:e>
                      </m:d>
                    </m:oMath>
                  </m:oMathPara>
                </a14:m>
                <a:endParaRPr lang="zh-CN" altLang="en-US" dirty="0"/>
              </a:p>
            </p:txBody>
          </p:sp>
        </mc:Choice>
        <mc:Fallback>
          <p:sp>
            <p:nvSpPr>
              <p:cNvPr id="8" name="文本框 7"/>
              <p:cNvSpPr txBox="1">
                <a:spLocks noRot="1" noChangeAspect="1" noMove="1" noResize="1" noEditPoints="1" noAdjustHandles="1" noChangeArrowheads="1" noChangeShapeType="1" noTextEdit="1"/>
              </p:cNvSpPr>
              <p:nvPr/>
            </p:nvSpPr>
            <p:spPr>
              <a:xfrm>
                <a:off x="3866028" y="4803876"/>
                <a:ext cx="5694379" cy="520592"/>
              </a:xfrm>
              <a:prstGeom prst="rect">
                <a:avLst/>
              </a:prstGeom>
              <a:blipFill rotWithShape="1">
                <a:blip r:embed="rId4"/>
                <a:stretch>
                  <a:fillRect l="-3" t="-19" r="-605" b="121"/>
                </a:stretch>
              </a:blipFill>
            </p:spPr>
            <p:txBody>
              <a:bodyPr/>
              <a:lstStyle/>
              <a:p>
                <a:r>
                  <a:rPr lang="zh-CN" altLang="en-US">
                    <a:noFill/>
                  </a:rPr>
                  <a:t> </a:t>
                </a:r>
              </a:p>
            </p:txBody>
          </p:sp>
        </mc:Fallback>
      </mc:AlternateContent>
      <p:sp>
        <p:nvSpPr>
          <p:cNvPr id="9" name="文本框 8"/>
          <p:cNvSpPr txBox="1"/>
          <p:nvPr/>
        </p:nvSpPr>
        <p:spPr>
          <a:xfrm>
            <a:off x="3873648" y="5399897"/>
            <a:ext cx="7923633" cy="645160"/>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The host computer records all the obstacle points detected by the AGV. We can even implement a simple </a:t>
            </a:r>
            <a:r>
              <a:rPr lang="en-US" altLang="zh-CN" b="1" dirty="0">
                <a:latin typeface="Times New Roman" panose="02020603050405020304" pitchFamily="18" charset="0"/>
                <a:cs typeface="Times New Roman" panose="02020603050405020304" pitchFamily="18" charset="0"/>
              </a:rPr>
              <a:t>SLAM </a:t>
            </a:r>
            <a:r>
              <a:rPr lang="en-US" altLang="zh-CN" dirty="0">
                <a:latin typeface="Times New Roman" panose="02020603050405020304" pitchFamily="18" charset="0"/>
                <a:cs typeface="Times New Roman" panose="02020603050405020304" pitchFamily="18" charset="0"/>
              </a:rPr>
              <a:t>system.</a:t>
            </a:r>
            <a:endParaRPr lang="zh-CN" altLang="en-US" dirty="0">
              <a:latin typeface="Times New Roman" panose="02020603050405020304" pitchFamily="18" charset="0"/>
              <a:cs typeface="Times New Roman" panose="02020603050405020304" pitchFamily="18" charset="0"/>
            </a:endParaRPr>
          </a:p>
        </p:txBody>
      </p:sp>
      <p:pic>
        <p:nvPicPr>
          <p:cNvPr id="16" name="图片 15"/>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0" y="3962403"/>
            <a:ext cx="3868688" cy="2900382"/>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 name="图片 32"/>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182014" y="102721"/>
            <a:ext cx="1800318" cy="540096"/>
          </a:xfrm>
          <a:prstGeom prst="rect">
            <a:avLst/>
          </a:prstGeom>
        </p:spPr>
      </p:pic>
      <p:sp>
        <p:nvSpPr>
          <p:cNvPr id="10" name="文本框 40"/>
          <p:cNvSpPr txBox="1"/>
          <p:nvPr/>
        </p:nvSpPr>
        <p:spPr>
          <a:xfrm>
            <a:off x="442469" y="25378"/>
            <a:ext cx="1446037" cy="523220"/>
          </a:xfrm>
          <a:prstGeom prst="rect">
            <a:avLst/>
          </a:prstGeom>
          <a:noFill/>
        </p:spPr>
        <p:txBody>
          <a:bodyPr wrap="non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34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Control</a:t>
            </a:r>
            <a:endParaRPr lang="zh-CN" altLang="en-US" sz="34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endParaRPr>
          </a:p>
        </p:txBody>
      </p:sp>
      <p:cxnSp>
        <p:nvCxnSpPr>
          <p:cNvPr id="26" name="PA-直接连接符 17"/>
          <p:cNvCxnSpPr/>
          <p:nvPr>
            <p:custDataLst>
              <p:tags r:id="rId2"/>
            </p:custDataLst>
          </p:nvPr>
        </p:nvCxnSpPr>
        <p:spPr>
          <a:xfrm>
            <a:off x="442468" y="580780"/>
            <a:ext cx="11307064" cy="0"/>
          </a:xfrm>
          <a:prstGeom prst="line">
            <a:avLst/>
          </a:prstGeom>
          <a:gradFill flip="none" rotWithShape="1">
            <a:gsLst>
              <a:gs pos="0">
                <a:srgbClr val="E6564F"/>
              </a:gs>
              <a:gs pos="70000">
                <a:srgbClr val="D12A22"/>
              </a:gs>
            </a:gsLst>
            <a:lin ang="5400000" scaled="1"/>
            <a:tileRect/>
          </a:gradFill>
          <a:ln w="19050" cap="flat" cmpd="sng" algn="ctr">
            <a:gradFill>
              <a:gsLst>
                <a:gs pos="30000">
                  <a:schemeClr val="accent1"/>
                </a:gs>
                <a:gs pos="100000">
                  <a:schemeClr val="accent6">
                    <a:lumMod val="0"/>
                    <a:lumOff val="100000"/>
                  </a:schemeClr>
                </a:gs>
              </a:gsLst>
              <a:lin ang="0" scaled="0"/>
            </a:gradFill>
            <a:prstDash val="solid"/>
            <a:miter lim="800000"/>
          </a:ln>
          <a:effectLst/>
        </p:spPr>
      </p:cxnSp>
      <p:cxnSp>
        <p:nvCxnSpPr>
          <p:cNvPr id="43" name="直接连接符 42"/>
          <p:cNvCxnSpPr/>
          <p:nvPr/>
        </p:nvCxnSpPr>
        <p:spPr>
          <a:xfrm flipH="1">
            <a:off x="11597" y="3640703"/>
            <a:ext cx="12178665" cy="127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4" name="文本框 3"/>
          <p:cNvSpPr txBox="1"/>
          <p:nvPr/>
        </p:nvSpPr>
        <p:spPr>
          <a:xfrm>
            <a:off x="389255" y="642620"/>
            <a:ext cx="6905625" cy="460375"/>
          </a:xfrm>
          <a:prstGeom prst="rect">
            <a:avLst/>
          </a:prstGeom>
          <a:noFill/>
        </p:spPr>
        <p:txBody>
          <a:bodyPr wrap="square" rtlCol="0">
            <a:spAutoFit/>
          </a:bodyPr>
          <a:lstStyle/>
          <a:p>
            <a:r>
              <a:rPr lang="en-US" altLang="zh-CN" sz="2400" b="1">
                <a:latin typeface="Times New Roman" panose="02020603050405020304" pitchFamily="18" charset="0"/>
                <a:cs typeface="Times New Roman" panose="02020603050405020304" pitchFamily="18" charset="0"/>
              </a:rPr>
              <a:t>Personal Task Assignment and Progress Schedule</a:t>
            </a:r>
            <a:endParaRPr lang="en-US" altLang="zh-CN" sz="2400" b="1">
              <a:latin typeface="Times New Roman" panose="02020603050405020304" pitchFamily="18" charset="0"/>
              <a:cs typeface="Times New Roman" panose="02020603050405020304" pitchFamily="18" charset="0"/>
            </a:endParaRPr>
          </a:p>
        </p:txBody>
      </p:sp>
      <p:graphicFrame>
        <p:nvGraphicFramePr>
          <p:cNvPr id="6" name="表格 5"/>
          <p:cNvGraphicFramePr/>
          <p:nvPr>
            <p:custDataLst>
              <p:tags r:id="rId3"/>
            </p:custDataLst>
          </p:nvPr>
        </p:nvGraphicFramePr>
        <p:xfrm>
          <a:off x="442595" y="1102995"/>
          <a:ext cx="10621010" cy="2225675"/>
        </p:xfrm>
        <a:graphic>
          <a:graphicData uri="http://schemas.openxmlformats.org/drawingml/2006/table">
            <a:tbl>
              <a:tblPr firstRow="1" bandRow="1">
                <a:tableStyleId>{5C22544A-7EE6-4342-B048-85BDC9FD1C3A}</a:tableStyleId>
              </a:tblPr>
              <a:tblGrid>
                <a:gridCol w="5296354"/>
                <a:gridCol w="5324656"/>
              </a:tblGrid>
              <a:tr h="550545">
                <a:tc>
                  <a:txBody>
                    <a:bodyPr/>
                    <a:lstStyle/>
                    <a:p>
                      <a:pPr algn="ctr">
                        <a:buNone/>
                      </a:pPr>
                      <a:r>
                        <a:rPr lang="en-US" altLang="zh-CN" sz="2000">
                          <a:latin typeface="Times New Roman" panose="02020603050405020304" pitchFamily="18" charset="0"/>
                          <a:cs typeface="Times New Roman" panose="02020603050405020304" pitchFamily="18" charset="0"/>
                        </a:rPr>
                        <a:t>Subtasks</a:t>
                      </a:r>
                      <a:endParaRPr lang="en-US" altLang="zh-CN" sz="2000">
                        <a:latin typeface="Times New Roman" panose="02020603050405020304" pitchFamily="18" charset="0"/>
                        <a:cs typeface="Times New Roman" panose="02020603050405020304" pitchFamily="18" charset="0"/>
                      </a:endParaRPr>
                    </a:p>
                  </a:txBody>
                  <a:tcPr anchor="ctr"/>
                </a:tc>
                <a:tc>
                  <a:txBody>
                    <a:bodyPr/>
                    <a:lstStyle/>
                    <a:p>
                      <a:pPr algn="ctr">
                        <a:buNone/>
                      </a:pPr>
                      <a:r>
                        <a:rPr lang="en-US" altLang="zh-CN" sz="2000">
                          <a:latin typeface="Times New Roman" panose="02020603050405020304" pitchFamily="18" charset="0"/>
                          <a:cs typeface="Times New Roman" panose="02020603050405020304" pitchFamily="18" charset="0"/>
                        </a:rPr>
                        <a:t>Specific Content</a:t>
                      </a:r>
                      <a:endParaRPr lang="en-US" altLang="zh-CN" sz="2000">
                        <a:latin typeface="Times New Roman" panose="02020603050405020304" pitchFamily="18" charset="0"/>
                        <a:cs typeface="Times New Roman" panose="02020603050405020304" pitchFamily="18" charset="0"/>
                      </a:endParaRPr>
                    </a:p>
                  </a:txBody>
                  <a:tcPr anchor="ctr"/>
                </a:tc>
              </a:tr>
              <a:tr h="550545">
                <a:tc>
                  <a:txBody>
                    <a:bodyPr/>
                    <a:lstStyle/>
                    <a:p>
                      <a:pPr>
                        <a:buNone/>
                      </a:pPr>
                      <a:r>
                        <a:rPr lang="en-US" altLang="zh-CN" sz="2000" dirty="0">
                          <a:latin typeface="Times New Roman" panose="02020603050405020304" pitchFamily="18" charset="0"/>
                          <a:cs typeface="Times New Roman" panose="02020603050405020304" pitchFamily="18" charset="0"/>
                        </a:rPr>
                        <a:t>2.1 Module Programming</a:t>
                      </a:r>
                      <a:endParaRPr lang="en-US" altLang="zh-CN" sz="2000" dirty="0">
                        <a:latin typeface="Times New Roman" panose="02020603050405020304" pitchFamily="18" charset="0"/>
                        <a:cs typeface="Times New Roman" panose="02020603050405020304" pitchFamily="18" charset="0"/>
                      </a:endParaRPr>
                    </a:p>
                  </a:txBody>
                  <a:tcPr anchor="ctr"/>
                </a:tc>
                <a:tc>
                  <a:txBody>
                    <a:bodyPr/>
                    <a:lstStyle/>
                    <a:p>
                      <a:pPr>
                        <a:buNone/>
                      </a:pPr>
                      <a:r>
                        <a:rPr lang="en-US" altLang="zh-CN" sz="1400" dirty="0">
                          <a:latin typeface="Times New Roman" panose="02020603050405020304" pitchFamily="18" charset="0"/>
                          <a:cs typeface="Times New Roman" panose="02020603050405020304" pitchFamily="18" charset="0"/>
                        </a:rPr>
                        <a:t>Write the programs for each module, such as the filter module, the controller module, and the navigation system module program.</a:t>
                      </a:r>
                      <a:endParaRPr lang="en-US" altLang="zh-CN" sz="1400" dirty="0">
                        <a:latin typeface="Times New Roman" panose="02020603050405020304" pitchFamily="18" charset="0"/>
                        <a:cs typeface="Times New Roman" panose="02020603050405020304" pitchFamily="18" charset="0"/>
                      </a:endParaRPr>
                    </a:p>
                  </a:txBody>
                  <a:tcPr anchor="ctr"/>
                </a:tc>
              </a:tr>
              <a:tr h="550545">
                <a:tc>
                  <a:txBody>
                    <a:bodyPr/>
                    <a:lstStyle/>
                    <a:p>
                      <a:pPr>
                        <a:buNone/>
                      </a:pPr>
                      <a:r>
                        <a:rPr lang="en-US" altLang="zh-CN" sz="2000" dirty="0">
                          <a:latin typeface="Times New Roman" panose="02020603050405020304" pitchFamily="18" charset="0"/>
                          <a:cs typeface="Times New Roman" panose="02020603050405020304" pitchFamily="18" charset="0"/>
                        </a:rPr>
                        <a:t>2.2 Module Testing</a:t>
                      </a:r>
                      <a:endParaRPr lang="en-US" altLang="zh-CN" sz="2000" dirty="0">
                        <a:latin typeface="Times New Roman" panose="02020603050405020304" pitchFamily="18" charset="0"/>
                        <a:cs typeface="Times New Roman" panose="02020603050405020304" pitchFamily="18" charset="0"/>
                      </a:endParaRPr>
                    </a:p>
                  </a:txBody>
                  <a:tcPr anchor="ctr"/>
                </a:tc>
                <a:tc>
                  <a:txBody>
                    <a:bodyPr/>
                    <a:lstStyle/>
                    <a:p>
                      <a:pPr>
                        <a:buNone/>
                      </a:pPr>
                      <a:r>
                        <a:rPr lang="en-US" altLang="zh-CN" sz="1400" dirty="0">
                          <a:latin typeface="Times New Roman" panose="02020603050405020304" pitchFamily="18" charset="0"/>
                          <a:cs typeface="Times New Roman" panose="02020603050405020304" pitchFamily="18" charset="0"/>
                        </a:rPr>
                        <a:t>Test each module independently to ensure that there are no issues with the modules during the later system development process.</a:t>
                      </a:r>
                      <a:endParaRPr lang="en-US" altLang="zh-CN" sz="1400" dirty="0">
                        <a:latin typeface="Times New Roman" panose="02020603050405020304" pitchFamily="18" charset="0"/>
                        <a:cs typeface="Times New Roman" panose="02020603050405020304" pitchFamily="18" charset="0"/>
                      </a:endParaRPr>
                    </a:p>
                  </a:txBody>
                  <a:tcPr anchor="ctr"/>
                </a:tc>
              </a:tr>
              <a:tr h="574040">
                <a:tc>
                  <a:txBody>
                    <a:bodyPr/>
                    <a:lstStyle/>
                    <a:p>
                      <a:pPr>
                        <a:buNone/>
                      </a:pPr>
                      <a:r>
                        <a:rPr lang="en-US" altLang="zh-CN" sz="2000" dirty="0">
                          <a:latin typeface="Times New Roman" panose="02020603050405020304" pitchFamily="18" charset="0"/>
                          <a:cs typeface="Times New Roman" panose="02020603050405020304" pitchFamily="18" charset="0"/>
                        </a:rPr>
                        <a:t>2.3 MCU System Design</a:t>
                      </a:r>
                      <a:endParaRPr lang="en-US" altLang="zh-CN" sz="2000" dirty="0">
                        <a:latin typeface="Times New Roman" panose="02020603050405020304" pitchFamily="18" charset="0"/>
                        <a:cs typeface="Times New Roman" panose="02020603050405020304" pitchFamily="18" charset="0"/>
                      </a:endParaRPr>
                    </a:p>
                  </a:txBody>
                  <a:tcPr anchor="ctr"/>
                </a:tc>
                <a:tc>
                  <a:txBody>
                    <a:bodyPr/>
                    <a:lstStyle/>
                    <a:p>
                      <a:pPr>
                        <a:buNone/>
                      </a:pPr>
                      <a:r>
                        <a:rPr lang="en-US" altLang="zh-CN" sz="1400" dirty="0">
                          <a:latin typeface="Times New Roman" panose="02020603050405020304" pitchFamily="18" charset="0"/>
                          <a:cs typeface="Times New Roman" panose="02020603050405020304" pitchFamily="18" charset="0"/>
                        </a:rPr>
                        <a:t>Reorganize the previous modules into tasks within the RTOS, maintaining a system design with high cohesion and low coupling.</a:t>
                      </a:r>
                      <a:endParaRPr lang="en-US" altLang="zh-CN" sz="1400" dirty="0">
                        <a:latin typeface="Times New Roman" panose="02020603050405020304" pitchFamily="18" charset="0"/>
                        <a:cs typeface="Times New Roman" panose="02020603050405020304" pitchFamily="18" charset="0"/>
                      </a:endParaRPr>
                    </a:p>
                  </a:txBody>
                  <a:tcPr anchor="ctr"/>
                </a:tc>
              </a:tr>
            </a:tbl>
          </a:graphicData>
        </a:graphic>
      </p:graphicFrame>
      <p:sp>
        <p:nvSpPr>
          <p:cNvPr id="9" name="文本框 8"/>
          <p:cNvSpPr txBox="1"/>
          <p:nvPr/>
        </p:nvSpPr>
        <p:spPr>
          <a:xfrm>
            <a:off x="4746625" y="3651250"/>
            <a:ext cx="3114675" cy="460375"/>
          </a:xfrm>
          <a:prstGeom prst="rect">
            <a:avLst/>
          </a:prstGeom>
          <a:noFill/>
        </p:spPr>
        <p:txBody>
          <a:bodyPr wrap="square" rtlCol="0">
            <a:spAutoFit/>
          </a:bodyPr>
          <a:lstStyle/>
          <a:p>
            <a:r>
              <a:rPr lang="en-US" altLang="zh-CN" sz="2400" b="1">
                <a:solidFill>
                  <a:srgbClr val="FF0000"/>
                </a:solidFill>
                <a:latin typeface="Times New Roman" panose="02020603050405020304" pitchFamily="18" charset="0"/>
                <a:cs typeface="Times New Roman" panose="02020603050405020304" pitchFamily="18" charset="0"/>
                <a:sym typeface="+mn-ea"/>
              </a:rPr>
              <a:t>Progress Schedule</a:t>
            </a:r>
            <a:endParaRPr lang="en-US" altLang="zh-CN" sz="2400" b="1">
              <a:solidFill>
                <a:srgbClr val="FF0000"/>
              </a:solidFill>
              <a:latin typeface="Times New Roman" panose="02020603050405020304" pitchFamily="18" charset="0"/>
              <a:cs typeface="Times New Roman" panose="02020603050405020304" pitchFamily="18" charset="0"/>
              <a:sym typeface="+mn-ea"/>
            </a:endParaRPr>
          </a:p>
        </p:txBody>
      </p:sp>
      <p:pic>
        <p:nvPicPr>
          <p:cNvPr id="2" name="图片 1"/>
          <p:cNvPicPr>
            <a:picLocks noChangeAspect="1"/>
          </p:cNvPicPr>
          <p:nvPr/>
        </p:nvPicPr>
        <p:blipFill>
          <a:blip r:embed="rId4"/>
          <a:stretch>
            <a:fillRect/>
          </a:stretch>
        </p:blipFill>
        <p:spPr>
          <a:xfrm>
            <a:off x="0" y="4342130"/>
            <a:ext cx="12192000" cy="189992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PA-直接连接符 17"/>
          <p:cNvCxnSpPr/>
          <p:nvPr>
            <p:custDataLst>
              <p:tags r:id="rId1"/>
            </p:custDataLst>
          </p:nvPr>
        </p:nvCxnSpPr>
        <p:spPr>
          <a:xfrm>
            <a:off x="482600" y="698001"/>
            <a:ext cx="11307064" cy="0"/>
          </a:xfrm>
          <a:prstGeom prst="line">
            <a:avLst/>
          </a:prstGeom>
          <a:gradFill flip="none" rotWithShape="1">
            <a:gsLst>
              <a:gs pos="0">
                <a:srgbClr val="E6564F"/>
              </a:gs>
              <a:gs pos="70000">
                <a:srgbClr val="D12A22"/>
              </a:gs>
            </a:gsLst>
            <a:lin ang="5400000" scaled="1"/>
            <a:tileRect/>
          </a:gradFill>
          <a:ln w="19050" cap="flat" cmpd="sng" algn="ctr">
            <a:gradFill>
              <a:gsLst>
                <a:gs pos="30000">
                  <a:schemeClr val="accent1"/>
                </a:gs>
                <a:gs pos="100000">
                  <a:schemeClr val="accent6">
                    <a:lumMod val="0"/>
                    <a:lumOff val="100000"/>
                  </a:schemeClr>
                </a:gs>
              </a:gsLst>
              <a:lin ang="0" scaled="0"/>
            </a:gradFill>
            <a:prstDash val="solid"/>
            <a:miter lim="800000"/>
          </a:ln>
          <a:effectLst/>
        </p:spPr>
      </p:cxnSp>
      <p:pic>
        <p:nvPicPr>
          <p:cNvPr id="33" name="图片 3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182014" y="102721"/>
            <a:ext cx="1800318" cy="540096"/>
          </a:xfrm>
          <a:prstGeom prst="rect">
            <a:avLst/>
          </a:prstGeom>
        </p:spPr>
      </p:pic>
      <p:sp>
        <p:nvSpPr>
          <p:cNvPr id="3" name="文本框 40"/>
          <p:cNvSpPr txBox="1"/>
          <p:nvPr/>
        </p:nvSpPr>
        <p:spPr>
          <a:xfrm>
            <a:off x="482600" y="774992"/>
            <a:ext cx="1965960" cy="368935"/>
          </a:xfrm>
          <a:prstGeom prst="rect">
            <a:avLst/>
          </a:prstGeom>
          <a:noFill/>
        </p:spPr>
        <p:txBody>
          <a:bodyPr wrap="non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pt-BR" altLang="zh-CN" sz="24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Core Objective</a:t>
            </a:r>
            <a:endParaRPr lang="pt-BR" altLang="zh-CN" sz="24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文本框 40"/>
          <p:cNvSpPr txBox="1"/>
          <p:nvPr/>
        </p:nvSpPr>
        <p:spPr>
          <a:xfrm>
            <a:off x="473351" y="149243"/>
            <a:ext cx="1907702" cy="523220"/>
          </a:xfrm>
          <a:prstGeom prst="rect">
            <a:avLst/>
          </a:prstGeom>
          <a:noFill/>
        </p:spPr>
        <p:txBody>
          <a:bodyPr wrap="non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pt-BR" altLang="zh-CN" sz="34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Electronic</a:t>
            </a:r>
            <a:endParaRPr lang="pt-BR" altLang="zh-CN" sz="34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6" name="文本框 40"/>
          <p:cNvSpPr txBox="1"/>
          <p:nvPr/>
        </p:nvSpPr>
        <p:spPr>
          <a:xfrm>
            <a:off x="482600" y="2304670"/>
            <a:ext cx="2061462" cy="369332"/>
          </a:xfrm>
          <a:prstGeom prst="rect">
            <a:avLst/>
          </a:prstGeom>
          <a:noFill/>
        </p:spPr>
        <p:txBody>
          <a:bodyPr wrap="non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pt-BR" altLang="zh-CN" sz="24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Design Concept</a:t>
            </a:r>
            <a:endParaRPr lang="pt-BR" altLang="zh-CN" sz="24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0" name="文本框 19"/>
          <p:cNvSpPr txBox="1"/>
          <p:nvPr/>
        </p:nvSpPr>
        <p:spPr>
          <a:xfrm>
            <a:off x="385596" y="1196905"/>
            <a:ext cx="11404067" cy="923330"/>
          </a:xfrm>
          <a:prstGeom prst="rect">
            <a:avLst/>
          </a:prstGeom>
          <a:noFill/>
        </p:spPr>
        <p:txBody>
          <a:bodyPr wrap="square">
            <a:spAutoFit/>
          </a:bodyPr>
          <a:lstStyle/>
          <a:p>
            <a:r>
              <a:rPr lang="en-US" altLang="zh-CN" dirty="0">
                <a:latin typeface="Times New Roman" panose="02020603050405020304" pitchFamily="18" charset="0"/>
                <a:cs typeface="Times New Roman" panose="02020603050405020304" pitchFamily="18" charset="0"/>
              </a:rPr>
              <a:t>Design a </a:t>
            </a:r>
            <a:r>
              <a:rPr lang="en-US" altLang="zh-CN" dirty="0">
                <a:solidFill>
                  <a:srgbClr val="FF0000"/>
                </a:solidFill>
                <a:latin typeface="Times New Roman" panose="02020603050405020304" pitchFamily="18" charset="0"/>
                <a:cs typeface="Times New Roman" panose="02020603050405020304" pitchFamily="18" charset="0"/>
              </a:rPr>
              <a:t>highly integrated, low latency, and highly reliable</a:t>
            </a:r>
            <a:r>
              <a:rPr lang="en-US" altLang="zh-CN" dirty="0">
                <a:latin typeface="Times New Roman" panose="02020603050405020304" pitchFamily="18" charset="0"/>
                <a:cs typeface="Times New Roman" panose="02020603050405020304" pitchFamily="18" charset="0"/>
              </a:rPr>
              <a:t> electronic hardware platform for the autonomous tracking robot of the </a:t>
            </a:r>
            <a:r>
              <a:rPr lang="en-US" altLang="zh-CN" dirty="0" err="1">
                <a:latin typeface="Times New Roman" panose="02020603050405020304" pitchFamily="18" charset="0"/>
                <a:cs typeface="Times New Roman" panose="02020603050405020304" pitchFamily="18" charset="0"/>
              </a:rPr>
              <a:t>Mecanum</a:t>
            </a:r>
            <a:r>
              <a:rPr lang="en-US" altLang="zh-CN" dirty="0">
                <a:latin typeface="Times New Roman" panose="02020603050405020304" pitchFamily="18" charset="0"/>
                <a:cs typeface="Times New Roman" panose="02020603050405020304" pitchFamily="18" charset="0"/>
              </a:rPr>
              <a:t> wheel, achieving main control computation, multi-sensor fusion, and stable power supply, ensuring millisecond level response.</a:t>
            </a:r>
            <a:endParaRPr lang="zh-CN" altLang="en-US" sz="1800" dirty="0">
              <a:latin typeface="Times New Roman" panose="02020603050405020304" pitchFamily="18" charset="0"/>
              <a:cs typeface="Times New Roman" panose="02020603050405020304" pitchFamily="18" charset="0"/>
            </a:endParaRPr>
          </a:p>
        </p:txBody>
      </p:sp>
      <p:sp>
        <p:nvSpPr>
          <p:cNvPr id="5" name="文本框 4"/>
          <p:cNvSpPr txBox="1"/>
          <p:nvPr/>
        </p:nvSpPr>
        <p:spPr>
          <a:xfrm>
            <a:off x="385597" y="4151330"/>
            <a:ext cx="4991074" cy="1200329"/>
          </a:xfrm>
          <a:prstGeom prst="rect">
            <a:avLst/>
          </a:prstGeom>
          <a:noFill/>
        </p:spPr>
        <p:txBody>
          <a:bodyPr wrap="square">
            <a:spAutoFit/>
          </a:bodyPr>
          <a:lstStyle/>
          <a:p>
            <a:r>
              <a:rPr lang="en-US" altLang="zh-CN" b="1" dirty="0">
                <a:latin typeface="Times New Roman" panose="02020603050405020304" pitchFamily="18" charset="0"/>
                <a:cs typeface="Times New Roman" panose="02020603050405020304" pitchFamily="18" charset="0"/>
              </a:rPr>
              <a:t>High performance core: </a:t>
            </a:r>
            <a:endParaRPr lang="en-US" altLang="zh-CN" b="1"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Adopting STM32H723VGT6 (550MHz), it meets the real-time requirements of </a:t>
            </a:r>
            <a:r>
              <a:rPr lang="en-US" altLang="zh-CN" dirty="0" err="1">
                <a:latin typeface="Times New Roman" panose="02020603050405020304" pitchFamily="18" charset="0"/>
                <a:cs typeface="Times New Roman" panose="02020603050405020304" pitchFamily="18" charset="0"/>
              </a:rPr>
              <a:t>Mecanum</a:t>
            </a:r>
            <a:r>
              <a:rPr lang="en-US" altLang="zh-CN" dirty="0">
                <a:latin typeface="Times New Roman" panose="02020603050405020304" pitchFamily="18" charset="0"/>
                <a:cs typeface="Times New Roman" panose="02020603050405020304" pitchFamily="18" charset="0"/>
              </a:rPr>
              <a:t> wheel kinematics calculation and multi-source data fusion.</a:t>
            </a:r>
            <a:endParaRPr lang="zh-CN" altLang="en-US" sz="1800" dirty="0">
              <a:latin typeface="Times New Roman" panose="02020603050405020304" pitchFamily="18" charset="0"/>
              <a:cs typeface="Times New Roman" panose="02020603050405020304" pitchFamily="18" charset="0"/>
            </a:endParaRPr>
          </a:p>
        </p:txBody>
      </p:sp>
      <p:sp>
        <p:nvSpPr>
          <p:cNvPr id="6" name="文本框 5"/>
          <p:cNvSpPr txBox="1"/>
          <p:nvPr/>
        </p:nvSpPr>
        <p:spPr>
          <a:xfrm>
            <a:off x="385597" y="2674002"/>
            <a:ext cx="4991074" cy="1477328"/>
          </a:xfrm>
          <a:prstGeom prst="rect">
            <a:avLst/>
          </a:prstGeom>
          <a:noFill/>
        </p:spPr>
        <p:txBody>
          <a:bodyPr wrap="square">
            <a:spAutoFit/>
          </a:bodyPr>
          <a:lstStyle/>
          <a:p>
            <a:r>
              <a:rPr lang="en-US" altLang="zh-CN" b="1" dirty="0">
                <a:latin typeface="Times New Roman" panose="02020603050405020304" pitchFamily="18" charset="0"/>
                <a:cs typeface="Times New Roman" panose="02020603050405020304" pitchFamily="18" charset="0"/>
              </a:rPr>
              <a:t>Integrated driver and control: </a:t>
            </a:r>
            <a:endParaRPr lang="en-US" altLang="zh-CN" b="1"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High-density integration of the main control MCU, power array, and peripheral interfaces on a single carrier board, compressing space and improving system compactness.</a:t>
            </a:r>
            <a:endParaRPr lang="zh-CN" altLang="en-US" sz="1800" dirty="0">
              <a:latin typeface="Times New Roman" panose="02020603050405020304" pitchFamily="18" charset="0"/>
              <a:cs typeface="Times New Roman" panose="02020603050405020304" pitchFamily="18" charset="0"/>
            </a:endParaRPr>
          </a:p>
        </p:txBody>
      </p:sp>
      <p:sp>
        <p:nvSpPr>
          <p:cNvPr id="7" name="文本框 6"/>
          <p:cNvSpPr txBox="1"/>
          <p:nvPr/>
        </p:nvSpPr>
        <p:spPr>
          <a:xfrm>
            <a:off x="385597" y="5351659"/>
            <a:ext cx="4991074" cy="923330"/>
          </a:xfrm>
          <a:prstGeom prst="rect">
            <a:avLst/>
          </a:prstGeom>
          <a:noFill/>
        </p:spPr>
        <p:txBody>
          <a:bodyPr wrap="square">
            <a:spAutoFit/>
          </a:bodyPr>
          <a:lstStyle/>
          <a:p>
            <a:r>
              <a:rPr lang="en-US" altLang="zh-CN" b="1" dirty="0">
                <a:latin typeface="Times New Roman" panose="02020603050405020304" pitchFamily="18" charset="0"/>
                <a:cs typeface="Times New Roman" panose="02020603050405020304" pitchFamily="18" charset="0"/>
              </a:rPr>
              <a:t>Anti interference foundation: </a:t>
            </a:r>
            <a:endParaRPr lang="en-US" altLang="zh-CN" b="1"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Optimize power topology and communication bus, and build a robust hardware foundation.</a:t>
            </a:r>
            <a:endParaRPr lang="zh-CN" altLang="en-US" sz="1800" dirty="0">
              <a:latin typeface="Times New Roman" panose="02020603050405020304" pitchFamily="18" charset="0"/>
              <a:cs typeface="Times New Roman" panose="02020603050405020304" pitchFamily="18" charset="0"/>
            </a:endParaRPr>
          </a:p>
        </p:txBody>
      </p:sp>
      <p:pic>
        <p:nvPicPr>
          <p:cNvPr id="9" name="图片 8"/>
          <p:cNvPicPr>
            <a:picLocks noChangeAspect="1"/>
          </p:cNvPicPr>
          <p:nvPr/>
        </p:nvPicPr>
        <p:blipFill>
          <a:blip r:embed="rId3"/>
          <a:stretch>
            <a:fillRect/>
          </a:stretch>
        </p:blipFill>
        <p:spPr>
          <a:xfrm>
            <a:off x="5473674" y="2239049"/>
            <a:ext cx="6579385" cy="4280613"/>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PA-直接连接符 17"/>
          <p:cNvCxnSpPr/>
          <p:nvPr>
            <p:custDataLst>
              <p:tags r:id="rId1"/>
            </p:custDataLst>
          </p:nvPr>
        </p:nvCxnSpPr>
        <p:spPr>
          <a:xfrm>
            <a:off x="482600" y="698001"/>
            <a:ext cx="11307064" cy="0"/>
          </a:xfrm>
          <a:prstGeom prst="line">
            <a:avLst/>
          </a:prstGeom>
          <a:gradFill flip="none" rotWithShape="1">
            <a:gsLst>
              <a:gs pos="0">
                <a:srgbClr val="E6564F"/>
              </a:gs>
              <a:gs pos="70000">
                <a:srgbClr val="D12A22"/>
              </a:gs>
            </a:gsLst>
            <a:lin ang="5400000" scaled="1"/>
            <a:tileRect/>
          </a:gradFill>
          <a:ln w="19050" cap="flat" cmpd="sng" algn="ctr">
            <a:gradFill>
              <a:gsLst>
                <a:gs pos="30000">
                  <a:schemeClr val="accent1"/>
                </a:gs>
                <a:gs pos="100000">
                  <a:schemeClr val="accent6">
                    <a:lumMod val="0"/>
                    <a:lumOff val="100000"/>
                  </a:schemeClr>
                </a:gs>
              </a:gsLst>
              <a:lin ang="0" scaled="0"/>
            </a:gradFill>
            <a:prstDash val="solid"/>
            <a:miter lim="800000"/>
          </a:ln>
          <a:effectLst/>
        </p:spPr>
      </p:cxnSp>
      <p:pic>
        <p:nvPicPr>
          <p:cNvPr id="33" name="图片 3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182014" y="102721"/>
            <a:ext cx="1800318" cy="540096"/>
          </a:xfrm>
          <a:prstGeom prst="rect">
            <a:avLst/>
          </a:prstGeom>
        </p:spPr>
      </p:pic>
      <p:sp>
        <p:nvSpPr>
          <p:cNvPr id="3" name="文本框 40"/>
          <p:cNvSpPr txBox="1"/>
          <p:nvPr/>
        </p:nvSpPr>
        <p:spPr>
          <a:xfrm>
            <a:off x="3671041" y="771057"/>
            <a:ext cx="4803140" cy="368935"/>
          </a:xfrm>
          <a:prstGeom prst="rect">
            <a:avLst/>
          </a:prstGeom>
          <a:noFill/>
        </p:spPr>
        <p:txBody>
          <a:bodyPr wrap="non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4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Detailed plan and technical roadmap</a:t>
            </a:r>
            <a:endParaRPr lang="en-US" altLang="zh-CN" sz="24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文本框 40"/>
          <p:cNvSpPr txBox="1"/>
          <p:nvPr/>
        </p:nvSpPr>
        <p:spPr>
          <a:xfrm>
            <a:off x="473351" y="149243"/>
            <a:ext cx="1907702" cy="523220"/>
          </a:xfrm>
          <a:prstGeom prst="rect">
            <a:avLst/>
          </a:prstGeom>
          <a:noFill/>
        </p:spPr>
        <p:txBody>
          <a:bodyPr wrap="non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pt-BR" altLang="zh-CN" sz="34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Electronic</a:t>
            </a:r>
            <a:endParaRPr lang="pt-BR" altLang="zh-CN" sz="34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4" name="文本框 40"/>
          <p:cNvSpPr txBox="1"/>
          <p:nvPr/>
        </p:nvSpPr>
        <p:spPr>
          <a:xfrm>
            <a:off x="846528" y="1213444"/>
            <a:ext cx="4584653" cy="369332"/>
          </a:xfrm>
          <a:prstGeom prst="rect">
            <a:avLst/>
          </a:prstGeom>
          <a:noFill/>
        </p:spPr>
        <p:txBody>
          <a:bodyPr wrap="non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4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Main control carrier board design</a:t>
            </a:r>
            <a:endParaRPr lang="en-US" altLang="zh-CN" sz="24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endParaRPr>
          </a:p>
        </p:txBody>
      </p:sp>
      <p:cxnSp>
        <p:nvCxnSpPr>
          <p:cNvPr id="13" name="直接连接符 12"/>
          <p:cNvCxnSpPr/>
          <p:nvPr/>
        </p:nvCxnSpPr>
        <p:spPr>
          <a:xfrm flipV="1">
            <a:off x="5912309" y="1213445"/>
            <a:ext cx="0" cy="5563119"/>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 name="直接连接符 1"/>
          <p:cNvCxnSpPr/>
          <p:nvPr/>
        </p:nvCxnSpPr>
        <p:spPr>
          <a:xfrm flipH="1">
            <a:off x="238539" y="3269153"/>
            <a:ext cx="11714919"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6" name="文本框 40"/>
          <p:cNvSpPr txBox="1"/>
          <p:nvPr/>
        </p:nvSpPr>
        <p:spPr>
          <a:xfrm>
            <a:off x="2234728" y="3380463"/>
            <a:ext cx="1808252" cy="369332"/>
          </a:xfrm>
          <a:prstGeom prst="rect">
            <a:avLst/>
          </a:prstGeom>
          <a:noFill/>
        </p:spPr>
        <p:txBody>
          <a:bodyPr wrap="non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4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Sensor circuit</a:t>
            </a:r>
            <a:endParaRPr lang="en-US" altLang="zh-CN" sz="24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7" name="文本框 40"/>
          <p:cNvSpPr txBox="1"/>
          <p:nvPr/>
        </p:nvSpPr>
        <p:spPr>
          <a:xfrm>
            <a:off x="8007530" y="1253456"/>
            <a:ext cx="1882760" cy="369332"/>
          </a:xfrm>
          <a:prstGeom prst="rect">
            <a:avLst/>
          </a:prstGeom>
          <a:noFill/>
        </p:spPr>
        <p:txBody>
          <a:bodyPr wrap="non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4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Power module</a:t>
            </a:r>
            <a:endParaRPr lang="en-US" altLang="zh-CN" sz="24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8" name="文本框 40"/>
          <p:cNvSpPr txBox="1"/>
          <p:nvPr/>
        </p:nvSpPr>
        <p:spPr>
          <a:xfrm>
            <a:off x="7430866" y="3373533"/>
            <a:ext cx="3036088" cy="369332"/>
          </a:xfrm>
          <a:prstGeom prst="rect">
            <a:avLst/>
          </a:prstGeom>
          <a:noFill/>
        </p:spPr>
        <p:txBody>
          <a:bodyPr wrap="non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4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PCB layout and testing</a:t>
            </a:r>
            <a:endParaRPr lang="en-US" altLang="zh-CN" sz="24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9" name="文本框 18"/>
          <p:cNvSpPr txBox="1"/>
          <p:nvPr/>
        </p:nvSpPr>
        <p:spPr>
          <a:xfrm>
            <a:off x="482600" y="1672168"/>
            <a:ext cx="4991074" cy="369332"/>
          </a:xfrm>
          <a:prstGeom prst="rect">
            <a:avLst/>
          </a:prstGeom>
          <a:noFill/>
        </p:spPr>
        <p:txBody>
          <a:bodyPr wrap="square">
            <a:spAutoFit/>
          </a:bodyPr>
          <a:lstStyle/>
          <a:p>
            <a:r>
              <a:rPr lang="en-US" altLang="zh-CN" b="1" dirty="0">
                <a:latin typeface="Times New Roman" panose="02020603050405020304" pitchFamily="18" charset="0"/>
                <a:cs typeface="Times New Roman" panose="02020603050405020304" pitchFamily="18" charset="0"/>
              </a:rPr>
              <a:t>Core: </a:t>
            </a:r>
            <a:r>
              <a:rPr lang="en-US" altLang="zh-CN" dirty="0">
                <a:latin typeface="Times New Roman" panose="02020603050405020304" pitchFamily="18" charset="0"/>
                <a:cs typeface="Times New Roman" panose="02020603050405020304" pitchFamily="18" charset="0"/>
              </a:rPr>
              <a:t>STM32H723VGT6</a:t>
            </a:r>
            <a:endParaRPr lang="en-US" altLang="zh-CN" dirty="0">
              <a:latin typeface="Times New Roman" panose="02020603050405020304" pitchFamily="18" charset="0"/>
              <a:cs typeface="Times New Roman" panose="02020603050405020304" pitchFamily="18" charset="0"/>
            </a:endParaRPr>
          </a:p>
        </p:txBody>
      </p:sp>
      <p:sp>
        <p:nvSpPr>
          <p:cNvPr id="21" name="文本框 20"/>
          <p:cNvSpPr txBox="1"/>
          <p:nvPr/>
        </p:nvSpPr>
        <p:spPr>
          <a:xfrm>
            <a:off x="482600" y="2586246"/>
            <a:ext cx="4991074" cy="646331"/>
          </a:xfrm>
          <a:prstGeom prst="rect">
            <a:avLst/>
          </a:prstGeom>
          <a:noFill/>
        </p:spPr>
        <p:txBody>
          <a:bodyPr wrap="square">
            <a:spAutoFit/>
          </a:bodyPr>
          <a:lstStyle/>
          <a:p>
            <a:r>
              <a:rPr lang="en-US" altLang="zh-CN" b="1" dirty="0">
                <a:latin typeface="Times New Roman" panose="02020603050405020304" pitchFamily="18" charset="0"/>
                <a:cs typeface="Times New Roman" panose="02020603050405020304" pitchFamily="18" charset="0"/>
              </a:rPr>
              <a:t>Clock and reset: </a:t>
            </a:r>
            <a:r>
              <a:rPr lang="en-US" altLang="zh-CN" dirty="0">
                <a:latin typeface="Times New Roman" panose="02020603050405020304" pitchFamily="18" charset="0"/>
                <a:cs typeface="Times New Roman" panose="02020603050405020304" pitchFamily="18" charset="0"/>
              </a:rPr>
              <a:t>high-precision crystal oscillator, hardware watchdog.</a:t>
            </a:r>
            <a:endParaRPr lang="en-US" altLang="zh-CN" dirty="0">
              <a:latin typeface="Times New Roman" panose="02020603050405020304" pitchFamily="18" charset="0"/>
              <a:cs typeface="Times New Roman" panose="02020603050405020304" pitchFamily="18" charset="0"/>
            </a:endParaRPr>
          </a:p>
        </p:txBody>
      </p:sp>
      <p:sp>
        <p:nvSpPr>
          <p:cNvPr id="22" name="文本框 21"/>
          <p:cNvSpPr txBox="1"/>
          <p:nvPr/>
        </p:nvSpPr>
        <p:spPr>
          <a:xfrm>
            <a:off x="482600" y="1975485"/>
            <a:ext cx="5292090" cy="645160"/>
          </a:xfrm>
          <a:prstGeom prst="rect">
            <a:avLst/>
          </a:prstGeom>
          <a:noFill/>
        </p:spPr>
        <p:txBody>
          <a:bodyPr wrap="square">
            <a:spAutoFit/>
          </a:bodyPr>
          <a:lstStyle/>
          <a:p>
            <a:r>
              <a:rPr lang="en-US" altLang="zh-CN" b="1" dirty="0">
                <a:latin typeface="Times New Roman" panose="02020603050405020304" pitchFamily="18" charset="0"/>
                <a:cs typeface="Times New Roman" panose="02020603050405020304" pitchFamily="18" charset="0"/>
              </a:rPr>
              <a:t>Peripheral interface: </a:t>
            </a:r>
            <a:r>
              <a:rPr lang="en-US" altLang="zh-CN" dirty="0">
                <a:latin typeface="Times New Roman" panose="02020603050405020304" pitchFamily="18" charset="0"/>
                <a:cs typeface="Times New Roman" panose="02020603050405020304" pitchFamily="18" charset="0"/>
              </a:rPr>
              <a:t>Reserved UART/I2C/SPI/CAN, compatible with multiple sensors.</a:t>
            </a:r>
            <a:endParaRPr lang="en-US" altLang="zh-CN" dirty="0">
              <a:latin typeface="Times New Roman" panose="02020603050405020304" pitchFamily="18" charset="0"/>
              <a:cs typeface="Times New Roman" panose="02020603050405020304" pitchFamily="18" charset="0"/>
            </a:endParaRPr>
          </a:p>
        </p:txBody>
      </p:sp>
      <p:sp>
        <p:nvSpPr>
          <p:cNvPr id="23" name="文本框 22"/>
          <p:cNvSpPr txBox="1"/>
          <p:nvPr/>
        </p:nvSpPr>
        <p:spPr>
          <a:xfrm>
            <a:off x="6565926" y="1996535"/>
            <a:ext cx="4991074" cy="646331"/>
          </a:xfrm>
          <a:prstGeom prst="rect">
            <a:avLst/>
          </a:prstGeom>
          <a:noFill/>
        </p:spPr>
        <p:txBody>
          <a:bodyPr wrap="square">
            <a:spAutoFit/>
          </a:bodyPr>
          <a:lstStyle/>
          <a:p>
            <a:r>
              <a:rPr lang="en-US" altLang="zh-CN" b="1" dirty="0">
                <a:latin typeface="Times New Roman" panose="02020603050405020304" pitchFamily="18" charset="0"/>
                <a:cs typeface="Times New Roman" panose="02020603050405020304" pitchFamily="18" charset="0"/>
              </a:rPr>
              <a:t>Output: </a:t>
            </a:r>
            <a:r>
              <a:rPr lang="en-US" altLang="zh-CN" dirty="0">
                <a:latin typeface="Times New Roman" panose="02020603050405020304" pitchFamily="18" charset="0"/>
                <a:cs typeface="Times New Roman" panose="02020603050405020304" pitchFamily="18" charset="0"/>
              </a:rPr>
              <a:t>Multiple independent LDOs provide power to MCU and sensors, with low noise.</a:t>
            </a:r>
            <a:endParaRPr lang="en-US" altLang="zh-CN" dirty="0">
              <a:latin typeface="Times New Roman" panose="02020603050405020304" pitchFamily="18" charset="0"/>
              <a:cs typeface="Times New Roman" panose="02020603050405020304" pitchFamily="18" charset="0"/>
            </a:endParaRPr>
          </a:p>
        </p:txBody>
      </p:sp>
      <p:sp>
        <p:nvSpPr>
          <p:cNvPr id="25" name="文本框 24"/>
          <p:cNvSpPr txBox="1"/>
          <p:nvPr/>
        </p:nvSpPr>
        <p:spPr>
          <a:xfrm>
            <a:off x="6565926" y="2588757"/>
            <a:ext cx="4991074" cy="646331"/>
          </a:xfrm>
          <a:prstGeom prst="rect">
            <a:avLst/>
          </a:prstGeom>
          <a:noFill/>
        </p:spPr>
        <p:txBody>
          <a:bodyPr wrap="square">
            <a:spAutoFit/>
          </a:bodyPr>
          <a:lstStyle/>
          <a:p>
            <a:r>
              <a:rPr lang="en-US" altLang="zh-CN" b="1" dirty="0">
                <a:latin typeface="Times New Roman" panose="02020603050405020304" pitchFamily="18" charset="0"/>
                <a:cs typeface="Times New Roman" panose="02020603050405020304" pitchFamily="18" charset="0"/>
              </a:rPr>
              <a:t>Redundant design: </a:t>
            </a:r>
            <a:r>
              <a:rPr lang="en-US" altLang="zh-CN" dirty="0">
                <a:latin typeface="Times New Roman" panose="02020603050405020304" pitchFamily="18" charset="0"/>
                <a:cs typeface="Times New Roman" panose="02020603050405020304" pitchFamily="18" charset="0"/>
              </a:rPr>
              <a:t>Dual power hot backup to ensure operational stability.</a:t>
            </a:r>
            <a:endParaRPr lang="en-US" altLang="zh-CN" dirty="0">
              <a:latin typeface="Times New Roman" panose="02020603050405020304" pitchFamily="18" charset="0"/>
              <a:cs typeface="Times New Roman" panose="02020603050405020304" pitchFamily="18" charset="0"/>
            </a:endParaRPr>
          </a:p>
        </p:txBody>
      </p:sp>
      <p:sp>
        <p:nvSpPr>
          <p:cNvPr id="26" name="文本框 25"/>
          <p:cNvSpPr txBox="1"/>
          <p:nvPr/>
        </p:nvSpPr>
        <p:spPr>
          <a:xfrm>
            <a:off x="6565926" y="1672168"/>
            <a:ext cx="4991074" cy="369332"/>
          </a:xfrm>
          <a:prstGeom prst="rect">
            <a:avLst/>
          </a:prstGeom>
          <a:noFill/>
        </p:spPr>
        <p:txBody>
          <a:bodyPr wrap="square">
            <a:spAutoFit/>
          </a:bodyPr>
          <a:lstStyle/>
          <a:p>
            <a:r>
              <a:rPr lang="en-US" altLang="zh-CN" b="1" dirty="0">
                <a:latin typeface="Times New Roman" panose="02020603050405020304" pitchFamily="18" charset="0"/>
                <a:cs typeface="Times New Roman" panose="02020603050405020304" pitchFamily="18" charset="0"/>
              </a:rPr>
              <a:t>Input: </a:t>
            </a:r>
            <a:r>
              <a:rPr lang="en-US" altLang="zh-CN" dirty="0">
                <a:latin typeface="Times New Roman" panose="02020603050405020304" pitchFamily="18" charset="0"/>
                <a:cs typeface="Times New Roman" panose="02020603050405020304" pitchFamily="18" charset="0"/>
              </a:rPr>
              <a:t>Wide voltage DC-DC pre stabilization.</a:t>
            </a:r>
            <a:endParaRPr lang="en-US" altLang="zh-CN" dirty="0">
              <a:latin typeface="Times New Roman" panose="02020603050405020304" pitchFamily="18" charset="0"/>
              <a:cs typeface="Times New Roman" panose="02020603050405020304" pitchFamily="18" charset="0"/>
            </a:endParaRPr>
          </a:p>
        </p:txBody>
      </p:sp>
      <p:sp>
        <p:nvSpPr>
          <p:cNvPr id="29" name="文本框 18"/>
          <p:cNvSpPr txBox="1"/>
          <p:nvPr/>
        </p:nvSpPr>
        <p:spPr>
          <a:xfrm>
            <a:off x="440107" y="4263635"/>
            <a:ext cx="4991074" cy="646331"/>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latin typeface="Times New Roman" panose="02020603050405020304" pitchFamily="18" charset="0"/>
                <a:cs typeface="Times New Roman" panose="02020603050405020304" pitchFamily="18" charset="0"/>
              </a:rPr>
              <a:t>Infrared locking array: </a:t>
            </a:r>
            <a:r>
              <a:rPr lang="en-US" altLang="zh-CN" dirty="0">
                <a:latin typeface="Times New Roman" panose="02020603050405020304" pitchFamily="18" charset="0"/>
                <a:cs typeface="Times New Roman" panose="02020603050405020304" pitchFamily="18" charset="0"/>
              </a:rPr>
              <a:t>high-frequency infrared transmitter/receiver</a:t>
            </a:r>
            <a:endParaRPr lang="en-US" altLang="zh-CN" dirty="0">
              <a:latin typeface="Times New Roman" panose="02020603050405020304" pitchFamily="18" charset="0"/>
              <a:cs typeface="Times New Roman" panose="02020603050405020304" pitchFamily="18" charset="0"/>
            </a:endParaRPr>
          </a:p>
        </p:txBody>
      </p:sp>
      <p:sp>
        <p:nvSpPr>
          <p:cNvPr id="30" name="文本框 18"/>
          <p:cNvSpPr txBox="1"/>
          <p:nvPr/>
        </p:nvSpPr>
        <p:spPr>
          <a:xfrm>
            <a:off x="440107" y="3724159"/>
            <a:ext cx="4991074" cy="646331"/>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latin typeface="Times New Roman" panose="02020603050405020304" pitchFamily="18" charset="0"/>
                <a:cs typeface="Times New Roman" panose="02020603050405020304" pitchFamily="18" charset="0"/>
              </a:rPr>
              <a:t>360 ° ultrasonic radar: </a:t>
            </a:r>
            <a:r>
              <a:rPr lang="en-US" altLang="zh-CN" dirty="0">
                <a:latin typeface="Times New Roman" panose="02020603050405020304" pitchFamily="18" charset="0"/>
                <a:cs typeface="Times New Roman" panose="02020603050405020304" pitchFamily="18" charset="0"/>
              </a:rPr>
              <a:t>self-developed continuous rotating mechanism</a:t>
            </a:r>
            <a:endParaRPr lang="en-US" altLang="zh-CN" dirty="0">
              <a:latin typeface="Times New Roman" panose="02020603050405020304" pitchFamily="18" charset="0"/>
              <a:cs typeface="Times New Roman" panose="02020603050405020304" pitchFamily="18" charset="0"/>
            </a:endParaRPr>
          </a:p>
        </p:txBody>
      </p:sp>
      <p:sp>
        <p:nvSpPr>
          <p:cNvPr id="31" name="文本框 18"/>
          <p:cNvSpPr txBox="1"/>
          <p:nvPr/>
        </p:nvSpPr>
        <p:spPr>
          <a:xfrm>
            <a:off x="6565926" y="5776031"/>
            <a:ext cx="4991074" cy="646331"/>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latin typeface="Times New Roman" panose="02020603050405020304" pitchFamily="18" charset="0"/>
                <a:cs typeface="Times New Roman" panose="02020603050405020304" pitchFamily="18" charset="0"/>
              </a:rPr>
              <a:t>Test plan: </a:t>
            </a:r>
            <a:r>
              <a:rPr lang="en-US" altLang="zh-CN" dirty="0">
                <a:latin typeface="Times New Roman" panose="02020603050405020304" pitchFamily="18" charset="0"/>
                <a:cs typeface="Times New Roman" panose="02020603050405020304" pitchFamily="18" charset="0"/>
              </a:rPr>
              <a:t>signal integrity test, ripple test, power load pull test, vibration test.</a:t>
            </a:r>
            <a:endParaRPr lang="en-US" altLang="zh-CN" dirty="0">
              <a:latin typeface="Times New Roman" panose="02020603050405020304" pitchFamily="18" charset="0"/>
              <a:cs typeface="Times New Roman" panose="02020603050405020304" pitchFamily="18" charset="0"/>
            </a:endParaRPr>
          </a:p>
        </p:txBody>
      </p:sp>
      <p:sp>
        <p:nvSpPr>
          <p:cNvPr id="32" name="文本框 18"/>
          <p:cNvSpPr txBox="1"/>
          <p:nvPr/>
        </p:nvSpPr>
        <p:spPr>
          <a:xfrm>
            <a:off x="6565926" y="4807632"/>
            <a:ext cx="4991074" cy="923330"/>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latin typeface="Times New Roman" panose="02020603050405020304" pitchFamily="18" charset="0"/>
                <a:cs typeface="Times New Roman" panose="02020603050405020304" pitchFamily="18" charset="0"/>
              </a:rPr>
              <a:t>Thermal distribution simulation: </a:t>
            </a:r>
            <a:r>
              <a:rPr lang="en-US" altLang="zh-CN" dirty="0">
                <a:latin typeface="Times New Roman" panose="02020603050405020304" pitchFamily="18" charset="0"/>
                <a:cs typeface="Times New Roman" panose="02020603050405020304" pitchFamily="18" charset="0"/>
              </a:rPr>
              <a:t>layout optimization of key components (MOSFET, MCU), heat dissipation via holes.</a:t>
            </a:r>
            <a:endParaRPr lang="en-US" altLang="zh-CN" dirty="0">
              <a:latin typeface="Times New Roman" panose="02020603050405020304" pitchFamily="18" charset="0"/>
              <a:cs typeface="Times New Roman" panose="02020603050405020304" pitchFamily="18" charset="0"/>
            </a:endParaRPr>
          </a:p>
        </p:txBody>
      </p:sp>
      <p:sp>
        <p:nvSpPr>
          <p:cNvPr id="34" name="文本框 18"/>
          <p:cNvSpPr txBox="1"/>
          <p:nvPr/>
        </p:nvSpPr>
        <p:spPr>
          <a:xfrm>
            <a:off x="6565926" y="3849320"/>
            <a:ext cx="4991074" cy="923330"/>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latin typeface="Times New Roman" panose="02020603050405020304" pitchFamily="18" charset="0"/>
                <a:cs typeface="Times New Roman" panose="02020603050405020304" pitchFamily="18" charset="0"/>
              </a:rPr>
              <a:t>Signal conditioning: </a:t>
            </a:r>
            <a:r>
              <a:rPr lang="en-US" altLang="zh-CN" dirty="0">
                <a:latin typeface="Times New Roman" panose="02020603050405020304" pitchFamily="18" charset="0"/>
                <a:cs typeface="Times New Roman" panose="02020603050405020304" pitchFamily="18" charset="0"/>
              </a:rPr>
              <a:t>operational amplifier amplification, comparator shaping, optocoupler isolation.</a:t>
            </a:r>
            <a:endParaRPr lang="en-US" altLang="zh-CN" dirty="0">
              <a:latin typeface="Times New Roman" panose="02020603050405020304" pitchFamily="18" charset="0"/>
              <a:cs typeface="Times New Roman" panose="02020603050405020304" pitchFamily="18" charset="0"/>
            </a:endParaRPr>
          </a:p>
        </p:txBody>
      </p:sp>
      <p:pic>
        <p:nvPicPr>
          <p:cNvPr id="36" name="图片 35"/>
          <p:cNvPicPr>
            <a:picLocks noChangeAspect="1"/>
          </p:cNvPicPr>
          <p:nvPr/>
        </p:nvPicPr>
        <p:blipFill>
          <a:blip r:embed="rId3"/>
          <a:stretch>
            <a:fillRect/>
          </a:stretch>
        </p:blipFill>
        <p:spPr>
          <a:xfrm>
            <a:off x="664687" y="4810516"/>
            <a:ext cx="4541914" cy="2030144"/>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PA-直接连接符 17"/>
          <p:cNvCxnSpPr/>
          <p:nvPr>
            <p:custDataLst>
              <p:tags r:id="rId1"/>
            </p:custDataLst>
          </p:nvPr>
        </p:nvCxnSpPr>
        <p:spPr>
          <a:xfrm>
            <a:off x="482600" y="698001"/>
            <a:ext cx="11307064" cy="0"/>
          </a:xfrm>
          <a:prstGeom prst="line">
            <a:avLst/>
          </a:prstGeom>
          <a:gradFill flip="none" rotWithShape="1">
            <a:gsLst>
              <a:gs pos="0">
                <a:srgbClr val="E6564F"/>
              </a:gs>
              <a:gs pos="70000">
                <a:srgbClr val="D12A22"/>
              </a:gs>
            </a:gsLst>
            <a:lin ang="5400000" scaled="1"/>
            <a:tileRect/>
          </a:gradFill>
          <a:ln w="19050" cap="flat" cmpd="sng" algn="ctr">
            <a:gradFill>
              <a:gsLst>
                <a:gs pos="30000">
                  <a:schemeClr val="accent1"/>
                </a:gs>
                <a:gs pos="100000">
                  <a:schemeClr val="accent6">
                    <a:lumMod val="0"/>
                    <a:lumOff val="100000"/>
                  </a:schemeClr>
                </a:gs>
              </a:gsLst>
              <a:lin ang="0" scaled="0"/>
            </a:gradFill>
            <a:prstDash val="solid"/>
            <a:miter lim="800000"/>
          </a:ln>
          <a:effectLst/>
        </p:spPr>
      </p:cxnSp>
      <p:pic>
        <p:nvPicPr>
          <p:cNvPr id="33" name="图片 3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182014" y="102721"/>
            <a:ext cx="1800318" cy="540096"/>
          </a:xfrm>
          <a:prstGeom prst="rect">
            <a:avLst/>
          </a:prstGeom>
        </p:spPr>
      </p:pic>
      <p:sp>
        <p:nvSpPr>
          <p:cNvPr id="3" name="文本框 40"/>
          <p:cNvSpPr txBox="1"/>
          <p:nvPr/>
        </p:nvSpPr>
        <p:spPr>
          <a:xfrm>
            <a:off x="482600" y="774992"/>
            <a:ext cx="2312035" cy="368935"/>
          </a:xfrm>
          <a:prstGeom prst="rect">
            <a:avLst/>
          </a:prstGeom>
          <a:noFill/>
        </p:spPr>
        <p:txBody>
          <a:bodyPr wrap="non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pt-BR" altLang="zh-CN" sz="24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Innovation Points</a:t>
            </a:r>
            <a:endParaRPr lang="pt-BR" altLang="zh-CN" sz="24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文本框 40"/>
          <p:cNvSpPr txBox="1"/>
          <p:nvPr/>
        </p:nvSpPr>
        <p:spPr>
          <a:xfrm>
            <a:off x="473351" y="149243"/>
            <a:ext cx="1907702" cy="523220"/>
          </a:xfrm>
          <a:prstGeom prst="rect">
            <a:avLst/>
          </a:prstGeom>
          <a:noFill/>
        </p:spPr>
        <p:txBody>
          <a:bodyPr wrap="non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pt-BR" altLang="zh-CN" sz="34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Electronic</a:t>
            </a:r>
            <a:endParaRPr lang="pt-BR" altLang="zh-CN" sz="34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0" name="文本框 19"/>
          <p:cNvSpPr txBox="1"/>
          <p:nvPr/>
        </p:nvSpPr>
        <p:spPr>
          <a:xfrm>
            <a:off x="6569120" y="1540115"/>
            <a:ext cx="5033461" cy="923330"/>
          </a:xfrm>
          <a:prstGeom prst="rect">
            <a:avLst/>
          </a:prstGeom>
          <a:noFill/>
        </p:spPr>
        <p:txBody>
          <a:bodyPr wrap="square">
            <a:spAutoFit/>
          </a:bodyPr>
          <a:lstStyle/>
          <a:p>
            <a:pPr marL="285750" indent="-285750">
              <a:buFont typeface="Arial" panose="020B0604020202020204" pitchFamily="34" charset="0"/>
              <a:buChar char="•"/>
            </a:pPr>
            <a:r>
              <a:rPr lang="en-US" altLang="zh-CN" dirty="0">
                <a:latin typeface="Times New Roman" panose="02020603050405020304" pitchFamily="18" charset="0"/>
                <a:cs typeface="Times New Roman" panose="02020603050405020304" pitchFamily="18" charset="0"/>
              </a:rPr>
              <a:t>Heat dissipation management under high-density integration(Thermal distribution simulation and testing)</a:t>
            </a:r>
            <a:endParaRPr lang="en-US" altLang="zh-CN" dirty="0">
              <a:latin typeface="Times New Roman" panose="02020603050405020304" pitchFamily="18" charset="0"/>
              <a:cs typeface="Times New Roman" panose="02020603050405020304" pitchFamily="18" charset="0"/>
            </a:endParaRPr>
          </a:p>
        </p:txBody>
      </p:sp>
      <p:sp>
        <p:nvSpPr>
          <p:cNvPr id="24" name="文本框 40"/>
          <p:cNvSpPr txBox="1"/>
          <p:nvPr/>
        </p:nvSpPr>
        <p:spPr>
          <a:xfrm>
            <a:off x="6645145" y="789079"/>
            <a:ext cx="2645532" cy="369332"/>
          </a:xfrm>
          <a:prstGeom prst="rect">
            <a:avLst/>
          </a:prstGeom>
          <a:noFill/>
        </p:spPr>
        <p:txBody>
          <a:bodyPr wrap="non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pt-BR" altLang="zh-CN" sz="24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Technical Challenge</a:t>
            </a:r>
            <a:endParaRPr lang="pt-BR" altLang="zh-CN" sz="24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 name="文本框 4"/>
          <p:cNvSpPr txBox="1"/>
          <p:nvPr/>
        </p:nvSpPr>
        <p:spPr>
          <a:xfrm>
            <a:off x="397594" y="1524056"/>
            <a:ext cx="4991074" cy="1200329"/>
          </a:xfrm>
          <a:prstGeom prst="rect">
            <a:avLst/>
          </a:prstGeom>
          <a:noFill/>
        </p:spPr>
        <p:txBody>
          <a:bodyPr wrap="square">
            <a:spAutoFit/>
          </a:bodyPr>
          <a:lstStyle/>
          <a:p>
            <a:pPr marL="285750" indent="-285750">
              <a:buFont typeface="Arial" panose="020B0604020202020204" pitchFamily="34" charset="0"/>
              <a:buChar char="•"/>
            </a:pPr>
            <a:r>
              <a:rPr lang="en-US" altLang="zh-CN" dirty="0">
                <a:latin typeface="Times New Roman" panose="02020603050405020304" pitchFamily="18" charset="0"/>
                <a:cs typeface="Times New Roman" panose="02020603050405020304" pitchFamily="18" charset="0"/>
              </a:rPr>
              <a:t>The single board integrates the main control, power supply, and interface, significantly reducing the size and minimizing interconnect latency.</a:t>
            </a:r>
            <a:endParaRPr lang="en-US" altLang="zh-CN" dirty="0">
              <a:latin typeface="Times New Roman" panose="02020603050405020304" pitchFamily="18" charset="0"/>
              <a:cs typeface="Times New Roman" panose="02020603050405020304" pitchFamily="18" charset="0"/>
            </a:endParaRPr>
          </a:p>
        </p:txBody>
      </p:sp>
      <p:sp>
        <p:nvSpPr>
          <p:cNvPr id="6" name="文本框 5"/>
          <p:cNvSpPr txBox="1"/>
          <p:nvPr/>
        </p:nvSpPr>
        <p:spPr>
          <a:xfrm>
            <a:off x="392680" y="2742009"/>
            <a:ext cx="4991074" cy="646331"/>
          </a:xfrm>
          <a:prstGeom prst="rect">
            <a:avLst/>
          </a:prstGeom>
          <a:noFill/>
        </p:spPr>
        <p:txBody>
          <a:bodyPr wrap="square">
            <a:spAutoFit/>
          </a:bodyPr>
          <a:lstStyle/>
          <a:p>
            <a:pPr marL="285750" indent="-285750">
              <a:buFont typeface="Arial" panose="020B0604020202020204" pitchFamily="34" charset="0"/>
              <a:buChar char="•"/>
            </a:pPr>
            <a:r>
              <a:rPr lang="en-US" altLang="zh-CN" dirty="0">
                <a:latin typeface="Times New Roman" panose="02020603050405020304" pitchFamily="18" charset="0"/>
                <a:cs typeface="Times New Roman" panose="02020603050405020304" pitchFamily="18" charset="0"/>
              </a:rPr>
              <a:t>Achieving 360 ° dynamic environment perception, and improving tracking robustness.</a:t>
            </a:r>
            <a:endParaRPr lang="en-US" altLang="zh-CN" dirty="0">
              <a:latin typeface="Times New Roman" panose="02020603050405020304" pitchFamily="18" charset="0"/>
              <a:cs typeface="Times New Roman" panose="02020603050405020304" pitchFamily="18" charset="0"/>
            </a:endParaRPr>
          </a:p>
        </p:txBody>
      </p:sp>
      <p:sp>
        <p:nvSpPr>
          <p:cNvPr id="9" name="文本框 8"/>
          <p:cNvSpPr txBox="1"/>
          <p:nvPr/>
        </p:nvSpPr>
        <p:spPr>
          <a:xfrm>
            <a:off x="392680" y="3764202"/>
            <a:ext cx="4991074" cy="646331"/>
          </a:xfrm>
          <a:prstGeom prst="rect">
            <a:avLst/>
          </a:prstGeom>
          <a:noFill/>
        </p:spPr>
        <p:txBody>
          <a:bodyPr wrap="square">
            <a:spAutoFit/>
          </a:bodyPr>
          <a:lstStyle/>
          <a:p>
            <a:pPr marL="285750" indent="-285750">
              <a:buFont typeface="Arial" panose="020B0604020202020204" pitchFamily="34" charset="0"/>
              <a:buChar char="•"/>
            </a:pPr>
            <a:r>
              <a:rPr lang="en-US" altLang="zh-CN" dirty="0">
                <a:latin typeface="Times New Roman" panose="02020603050405020304" pitchFamily="18" charset="0"/>
                <a:cs typeface="Times New Roman" panose="02020603050405020304" pitchFamily="18" charset="0"/>
              </a:rPr>
              <a:t>Achieves precise target locking during high-speed motion.</a:t>
            </a:r>
            <a:endParaRPr lang="en-US" altLang="zh-CN" dirty="0">
              <a:latin typeface="Times New Roman" panose="02020603050405020304" pitchFamily="18" charset="0"/>
              <a:cs typeface="Times New Roman" panose="02020603050405020304" pitchFamily="18" charset="0"/>
            </a:endParaRPr>
          </a:p>
        </p:txBody>
      </p:sp>
      <p:sp>
        <p:nvSpPr>
          <p:cNvPr id="10" name="文本框 9"/>
          <p:cNvSpPr txBox="1"/>
          <p:nvPr/>
        </p:nvSpPr>
        <p:spPr>
          <a:xfrm>
            <a:off x="6546912" y="2672200"/>
            <a:ext cx="4991074" cy="923330"/>
          </a:xfrm>
          <a:prstGeom prst="rect">
            <a:avLst/>
          </a:prstGeom>
          <a:noFill/>
        </p:spPr>
        <p:txBody>
          <a:bodyPr wrap="square">
            <a:spAutoFit/>
          </a:bodyPr>
          <a:lstStyle/>
          <a:p>
            <a:pPr marL="285750" indent="-285750">
              <a:buFont typeface="Arial" panose="020B0604020202020204" pitchFamily="34" charset="0"/>
              <a:buChar char="•"/>
            </a:pPr>
            <a:r>
              <a:rPr lang="en-US" altLang="zh-CN" dirty="0">
                <a:latin typeface="Times New Roman" panose="02020603050405020304" pitchFamily="18" charset="0"/>
                <a:cs typeface="Times New Roman" panose="02020603050405020304" pitchFamily="18" charset="0"/>
              </a:rPr>
              <a:t>Signal integrity assurance for 550MHz high-speed signals(Impedance control, crosstalk suppression)</a:t>
            </a:r>
            <a:endParaRPr lang="en-US" altLang="zh-CN" dirty="0">
              <a:latin typeface="Times New Roman" panose="02020603050405020304" pitchFamily="18" charset="0"/>
              <a:cs typeface="Times New Roman" panose="02020603050405020304" pitchFamily="18" charset="0"/>
            </a:endParaRPr>
          </a:p>
        </p:txBody>
      </p:sp>
      <p:sp>
        <p:nvSpPr>
          <p:cNvPr id="11" name="文本框 10"/>
          <p:cNvSpPr txBox="1"/>
          <p:nvPr/>
        </p:nvSpPr>
        <p:spPr>
          <a:xfrm>
            <a:off x="6560130" y="3684489"/>
            <a:ext cx="4991074" cy="646331"/>
          </a:xfrm>
          <a:prstGeom prst="rect">
            <a:avLst/>
          </a:prstGeom>
          <a:noFill/>
        </p:spPr>
        <p:txBody>
          <a:bodyPr wrap="square">
            <a:spAutoFit/>
          </a:bodyPr>
          <a:lstStyle/>
          <a:p>
            <a:pPr marL="285750" indent="-285750">
              <a:buFont typeface="Arial" panose="020B0604020202020204" pitchFamily="34" charset="0"/>
              <a:buChar char="•"/>
            </a:pPr>
            <a:r>
              <a:rPr lang="en-US" altLang="zh-CN" dirty="0">
                <a:latin typeface="Times New Roman" panose="02020603050405020304" pitchFamily="18" charset="0"/>
                <a:cs typeface="Times New Roman" panose="02020603050405020304" pitchFamily="18" charset="0"/>
              </a:rPr>
              <a:t>Hardware latency optimization for multi-sensor synchronization and data fusion</a:t>
            </a:r>
            <a:endParaRPr lang="en-US" altLang="zh-CN" sz="1800" dirty="0">
              <a:latin typeface="Times New Roman" panose="02020603050405020304" pitchFamily="18" charset="0"/>
              <a:cs typeface="Times New Roman" panose="02020603050405020304" pitchFamily="18" charset="0"/>
            </a:endParaRPr>
          </a:p>
        </p:txBody>
      </p:sp>
      <p:cxnSp>
        <p:nvCxnSpPr>
          <p:cNvPr id="13" name="直接连接符 12"/>
          <p:cNvCxnSpPr/>
          <p:nvPr/>
        </p:nvCxnSpPr>
        <p:spPr>
          <a:xfrm flipV="1">
            <a:off x="5912309" y="792821"/>
            <a:ext cx="0" cy="5563119"/>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27" name="文本框 26"/>
          <p:cNvSpPr txBox="1"/>
          <p:nvPr/>
        </p:nvSpPr>
        <p:spPr>
          <a:xfrm>
            <a:off x="392680" y="4777251"/>
            <a:ext cx="4991074" cy="923330"/>
          </a:xfrm>
          <a:prstGeom prst="rect">
            <a:avLst/>
          </a:prstGeom>
          <a:noFill/>
        </p:spPr>
        <p:txBody>
          <a:bodyPr wrap="square">
            <a:spAutoFit/>
          </a:bodyPr>
          <a:lstStyle/>
          <a:p>
            <a:pPr marL="285750" indent="-285750">
              <a:buFont typeface="Arial" panose="020B0604020202020204" pitchFamily="34" charset="0"/>
              <a:buChar char="•"/>
            </a:pPr>
            <a:r>
              <a:rPr lang="en-US" altLang="zh-CN" dirty="0">
                <a:latin typeface="Times New Roman" panose="02020603050405020304" pitchFamily="18" charset="0"/>
                <a:cs typeface="Times New Roman" panose="02020603050405020304" pitchFamily="18" charset="0"/>
              </a:rPr>
              <a:t>Ensure uninterrupted power supply under extreme working conditions and improve system reliability.</a:t>
            </a:r>
            <a:endParaRPr lang="en-US" altLang="zh-CN" dirty="0">
              <a:latin typeface="Times New Roman" panose="02020603050405020304" pitchFamily="18" charset="0"/>
              <a:cs typeface="Times New Roman" panose="02020603050405020304" pitchFamily="18" charset="0"/>
            </a:endParaRPr>
          </a:p>
        </p:txBody>
      </p:sp>
      <p:sp>
        <p:nvSpPr>
          <p:cNvPr id="2" name="文本框 1"/>
          <p:cNvSpPr txBox="1"/>
          <p:nvPr/>
        </p:nvSpPr>
        <p:spPr>
          <a:xfrm>
            <a:off x="6546912" y="4777569"/>
            <a:ext cx="4991074" cy="646331"/>
          </a:xfrm>
          <a:prstGeom prst="rect">
            <a:avLst/>
          </a:prstGeom>
          <a:noFill/>
        </p:spPr>
        <p:txBody>
          <a:bodyPr wrap="square">
            <a:spAutoFit/>
          </a:bodyPr>
          <a:lstStyle/>
          <a:p>
            <a:pPr marL="285750" indent="-285750">
              <a:buFont typeface="Arial" panose="020B0604020202020204" pitchFamily="34" charset="0"/>
              <a:buChar char="•"/>
            </a:pPr>
            <a:r>
              <a:rPr lang="en-US" altLang="zh-CN" dirty="0">
                <a:latin typeface="Times New Roman" panose="02020603050405020304" pitchFamily="18" charset="0"/>
                <a:cs typeface="Times New Roman" panose="02020603050405020304" pitchFamily="18" charset="0"/>
              </a:rPr>
              <a:t>Reliability of connectors and solder joints under vibration environment</a:t>
            </a:r>
            <a:endParaRPr lang="en-US" altLang="zh-C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 name="图片 32"/>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182014" y="102721"/>
            <a:ext cx="1800318" cy="540096"/>
          </a:xfrm>
          <a:prstGeom prst="rect">
            <a:avLst/>
          </a:prstGeom>
        </p:spPr>
      </p:pic>
      <p:cxnSp>
        <p:nvCxnSpPr>
          <p:cNvPr id="26" name="PA-直接连接符 17"/>
          <p:cNvCxnSpPr/>
          <p:nvPr>
            <p:custDataLst>
              <p:tags r:id="rId2"/>
            </p:custDataLst>
          </p:nvPr>
        </p:nvCxnSpPr>
        <p:spPr>
          <a:xfrm>
            <a:off x="442468" y="580780"/>
            <a:ext cx="11307064" cy="0"/>
          </a:xfrm>
          <a:prstGeom prst="line">
            <a:avLst/>
          </a:prstGeom>
          <a:gradFill flip="none" rotWithShape="1">
            <a:gsLst>
              <a:gs pos="0">
                <a:srgbClr val="E6564F"/>
              </a:gs>
              <a:gs pos="70000">
                <a:srgbClr val="D12A22"/>
              </a:gs>
            </a:gsLst>
            <a:lin ang="5400000" scaled="1"/>
            <a:tileRect/>
          </a:gradFill>
          <a:ln w="19050" cap="flat" cmpd="sng" algn="ctr">
            <a:gradFill>
              <a:gsLst>
                <a:gs pos="30000">
                  <a:schemeClr val="accent1"/>
                </a:gs>
                <a:gs pos="100000">
                  <a:schemeClr val="accent6">
                    <a:lumMod val="0"/>
                    <a:lumOff val="100000"/>
                  </a:schemeClr>
                </a:gs>
              </a:gsLst>
              <a:lin ang="0" scaled="0"/>
            </a:gradFill>
            <a:prstDash val="solid"/>
            <a:miter lim="800000"/>
          </a:ln>
          <a:effectLst/>
        </p:spPr>
      </p:cxnSp>
      <p:cxnSp>
        <p:nvCxnSpPr>
          <p:cNvPr id="43" name="直接连接符 42"/>
          <p:cNvCxnSpPr/>
          <p:nvPr/>
        </p:nvCxnSpPr>
        <p:spPr>
          <a:xfrm flipH="1">
            <a:off x="11597" y="4299071"/>
            <a:ext cx="12178665" cy="127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4" name="文本框 3"/>
          <p:cNvSpPr txBox="1"/>
          <p:nvPr/>
        </p:nvSpPr>
        <p:spPr>
          <a:xfrm>
            <a:off x="389255" y="642620"/>
            <a:ext cx="6905625" cy="460375"/>
          </a:xfrm>
          <a:prstGeom prst="rect">
            <a:avLst/>
          </a:prstGeom>
          <a:noFill/>
        </p:spPr>
        <p:txBody>
          <a:bodyPr wrap="square" rtlCol="0">
            <a:spAutoFit/>
          </a:bodyPr>
          <a:lstStyle/>
          <a:p>
            <a:r>
              <a:rPr lang="en-US" altLang="zh-CN" sz="2400" b="1" dirty="0">
                <a:latin typeface="Times New Roman" panose="02020603050405020304" pitchFamily="18" charset="0"/>
                <a:cs typeface="Times New Roman" panose="02020603050405020304" pitchFamily="18" charset="0"/>
              </a:rPr>
              <a:t>Personal Task Assignment and Progress Schedule</a:t>
            </a:r>
            <a:endParaRPr lang="en-US" altLang="zh-CN" sz="2400" b="1" dirty="0">
              <a:latin typeface="Times New Roman" panose="02020603050405020304" pitchFamily="18" charset="0"/>
              <a:cs typeface="Times New Roman" panose="02020603050405020304" pitchFamily="18" charset="0"/>
            </a:endParaRPr>
          </a:p>
        </p:txBody>
      </p:sp>
      <p:graphicFrame>
        <p:nvGraphicFramePr>
          <p:cNvPr id="6" name="表格 5"/>
          <p:cNvGraphicFramePr/>
          <p:nvPr>
            <p:custDataLst>
              <p:tags r:id="rId3"/>
            </p:custDataLst>
          </p:nvPr>
        </p:nvGraphicFramePr>
        <p:xfrm>
          <a:off x="442595" y="1102995"/>
          <a:ext cx="10621010" cy="2980690"/>
        </p:xfrm>
        <a:graphic>
          <a:graphicData uri="http://schemas.openxmlformats.org/drawingml/2006/table">
            <a:tbl>
              <a:tblPr firstRow="1" bandRow="1">
                <a:tableStyleId>{5C22544A-7EE6-4342-B048-85BDC9FD1C3A}</a:tableStyleId>
              </a:tblPr>
              <a:tblGrid>
                <a:gridCol w="5310505"/>
                <a:gridCol w="5310505"/>
              </a:tblGrid>
              <a:tr h="550545">
                <a:tc>
                  <a:txBody>
                    <a:bodyPr/>
                    <a:lstStyle/>
                    <a:p>
                      <a:pPr algn="ctr">
                        <a:buNone/>
                      </a:pPr>
                      <a:r>
                        <a:rPr lang="en-US" altLang="zh-CN" sz="2000">
                          <a:latin typeface="Times New Roman" panose="02020603050405020304" pitchFamily="18" charset="0"/>
                          <a:cs typeface="Times New Roman" panose="02020603050405020304" pitchFamily="18" charset="0"/>
                        </a:rPr>
                        <a:t>Subtasks</a:t>
                      </a:r>
                      <a:endParaRPr lang="en-US" altLang="zh-CN" sz="2000">
                        <a:latin typeface="Times New Roman" panose="02020603050405020304" pitchFamily="18" charset="0"/>
                        <a:cs typeface="Times New Roman" panose="02020603050405020304" pitchFamily="18" charset="0"/>
                      </a:endParaRPr>
                    </a:p>
                  </a:txBody>
                  <a:tcPr anchor="ctr"/>
                </a:tc>
                <a:tc>
                  <a:txBody>
                    <a:bodyPr/>
                    <a:lstStyle/>
                    <a:p>
                      <a:pPr algn="ctr">
                        <a:buNone/>
                      </a:pPr>
                      <a:r>
                        <a:rPr lang="en-US" altLang="zh-CN" sz="2000">
                          <a:latin typeface="Times New Roman" panose="02020603050405020304" pitchFamily="18" charset="0"/>
                          <a:cs typeface="Times New Roman" panose="02020603050405020304" pitchFamily="18" charset="0"/>
                        </a:rPr>
                        <a:t>Specific Content</a:t>
                      </a:r>
                      <a:endParaRPr lang="en-US" altLang="zh-CN" sz="2000">
                        <a:latin typeface="Times New Roman" panose="02020603050405020304" pitchFamily="18" charset="0"/>
                        <a:cs typeface="Times New Roman" panose="02020603050405020304" pitchFamily="18" charset="0"/>
                      </a:endParaRPr>
                    </a:p>
                  </a:txBody>
                  <a:tcPr anchor="ctr"/>
                </a:tc>
              </a:tr>
              <a:tr h="550545">
                <a:tc>
                  <a:txBody>
                    <a:bodyPr/>
                    <a:lstStyle/>
                    <a:p>
                      <a:pPr>
                        <a:buNone/>
                      </a:pPr>
                      <a:r>
                        <a:rPr lang="en-US" altLang="zh-CN" sz="2000" dirty="0">
                          <a:latin typeface="Times New Roman" panose="02020603050405020304" pitchFamily="18" charset="0"/>
                          <a:cs typeface="Times New Roman" panose="02020603050405020304" pitchFamily="18" charset="0"/>
                        </a:rPr>
                        <a:t>3.1 Schematic Design</a:t>
                      </a:r>
                      <a:endParaRPr lang="en-US" altLang="zh-CN" sz="2000" dirty="0">
                        <a:latin typeface="Times New Roman" panose="02020603050405020304" pitchFamily="18" charset="0"/>
                        <a:cs typeface="Times New Roman" panose="02020603050405020304" pitchFamily="18" charset="0"/>
                      </a:endParaRPr>
                    </a:p>
                  </a:txBody>
                  <a:tcPr anchor="ctr"/>
                </a:tc>
                <a:tc>
                  <a:txBody>
                    <a:bodyPr/>
                    <a:lstStyle/>
                    <a:p>
                      <a:pPr>
                        <a:buNone/>
                      </a:pPr>
                      <a:r>
                        <a:rPr lang="en-US" altLang="zh-CN" sz="1400" dirty="0">
                          <a:latin typeface="Times New Roman" panose="02020603050405020304" pitchFamily="18" charset="0"/>
                          <a:cs typeface="Times New Roman" panose="02020603050405020304" pitchFamily="18" charset="0"/>
                        </a:rPr>
                        <a:t>Design complete schematics for main carrier board using Altium Designer. Integrate STM32H723VGT6 MCU, power tree, sensor interfaces, and communication buses.</a:t>
                      </a:r>
                      <a:endParaRPr lang="en-US" altLang="zh-CN" sz="1400" dirty="0">
                        <a:latin typeface="Times New Roman" panose="02020603050405020304" pitchFamily="18" charset="0"/>
                        <a:cs typeface="Times New Roman" panose="02020603050405020304" pitchFamily="18" charset="0"/>
                      </a:endParaRPr>
                    </a:p>
                  </a:txBody>
                  <a:tcPr anchor="ctr"/>
                </a:tc>
              </a:tr>
              <a:tr h="550545">
                <a:tc>
                  <a:txBody>
                    <a:bodyPr/>
                    <a:lstStyle/>
                    <a:p>
                      <a:pPr>
                        <a:buNone/>
                      </a:pPr>
                      <a:r>
                        <a:rPr lang="en-US" altLang="zh-CN" sz="2000" dirty="0">
                          <a:latin typeface="Times New Roman" panose="02020603050405020304" pitchFamily="18" charset="0"/>
                          <a:cs typeface="Times New Roman" panose="02020603050405020304" pitchFamily="18" charset="0"/>
                        </a:rPr>
                        <a:t>3.2 PCB Module Design </a:t>
                      </a:r>
                      <a:endParaRPr lang="en-US" altLang="zh-CN" sz="2000" dirty="0">
                        <a:latin typeface="Times New Roman" panose="02020603050405020304" pitchFamily="18" charset="0"/>
                        <a:cs typeface="Times New Roman" panose="02020603050405020304" pitchFamily="18" charset="0"/>
                      </a:endParaRPr>
                    </a:p>
                  </a:txBody>
                  <a:tcPr anchor="ctr"/>
                </a:tc>
                <a:tc>
                  <a:txBody>
                    <a:bodyPr/>
                    <a:lstStyle/>
                    <a:p>
                      <a:pPr>
                        <a:buNone/>
                      </a:pPr>
                      <a:r>
                        <a:rPr lang="en-US" altLang="zh-CN" sz="1400" dirty="0">
                          <a:latin typeface="Times New Roman" panose="02020603050405020304" pitchFamily="18" charset="0"/>
                          <a:cs typeface="Times New Roman" panose="02020603050405020304" pitchFamily="18" charset="0"/>
                        </a:rPr>
                        <a:t>High-density PCB layout with impedance-controlled routing, thermal optimization, and power integrity design.</a:t>
                      </a:r>
                      <a:endParaRPr lang="en-US" altLang="zh-CN" sz="1400" dirty="0">
                        <a:latin typeface="Times New Roman" panose="02020603050405020304" pitchFamily="18" charset="0"/>
                        <a:cs typeface="Times New Roman" panose="02020603050405020304" pitchFamily="18" charset="0"/>
                      </a:endParaRPr>
                    </a:p>
                  </a:txBody>
                  <a:tcPr anchor="ctr"/>
                </a:tc>
              </a:tr>
              <a:tr h="574040">
                <a:tc>
                  <a:txBody>
                    <a:bodyPr/>
                    <a:lstStyle/>
                    <a:p>
                      <a:pPr>
                        <a:buNone/>
                      </a:pPr>
                      <a:r>
                        <a:rPr lang="en-US" altLang="zh-CN" sz="2000" dirty="0">
                          <a:latin typeface="Times New Roman" panose="02020603050405020304" pitchFamily="18" charset="0"/>
                          <a:cs typeface="Times New Roman" panose="02020603050405020304" pitchFamily="18" charset="0"/>
                        </a:rPr>
                        <a:t>3.3 PCB Module Testing</a:t>
                      </a:r>
                      <a:endParaRPr lang="en-US" altLang="zh-CN" sz="2000" dirty="0">
                        <a:latin typeface="Times New Roman" panose="02020603050405020304" pitchFamily="18" charset="0"/>
                        <a:cs typeface="Times New Roman" panose="02020603050405020304" pitchFamily="18" charset="0"/>
                      </a:endParaRPr>
                    </a:p>
                  </a:txBody>
                  <a:tcPr anchor="ctr"/>
                </a:tc>
                <a:tc>
                  <a:txBody>
                    <a:bodyPr/>
                    <a:lstStyle/>
                    <a:p>
                      <a:pPr>
                        <a:buNone/>
                      </a:pPr>
                      <a:r>
                        <a:rPr lang="en-US" altLang="zh-CN" sz="1400" dirty="0">
                          <a:latin typeface="Times New Roman" panose="02020603050405020304" pitchFamily="18" charset="0"/>
                          <a:cs typeface="Times New Roman" panose="02020603050405020304" pitchFamily="18" charset="0"/>
                        </a:rPr>
                        <a:t>Validate power rails (ripple &lt;100mV), signal integrity, and communication protocols; perform thermal and vibration tests.</a:t>
                      </a:r>
                      <a:endParaRPr lang="en-US" altLang="zh-CN" sz="1400" dirty="0">
                        <a:latin typeface="Times New Roman" panose="02020603050405020304" pitchFamily="18" charset="0"/>
                        <a:cs typeface="Times New Roman" panose="02020603050405020304" pitchFamily="18" charset="0"/>
                      </a:endParaRPr>
                    </a:p>
                  </a:txBody>
                  <a:tcPr anchor="ctr"/>
                </a:tc>
              </a:tr>
              <a:tr h="574040">
                <a:tc>
                  <a:txBody>
                    <a:bodyPr/>
                    <a:lstStyle/>
                    <a:p>
                      <a:pPr>
                        <a:buNone/>
                      </a:pPr>
                      <a:r>
                        <a:rPr lang="en-US" altLang="zh-CN" sz="2000" dirty="0">
                          <a:latin typeface="Times New Roman" panose="02020603050405020304" pitchFamily="18" charset="0"/>
                          <a:cs typeface="Times New Roman" panose="02020603050405020304" pitchFamily="18" charset="0"/>
                        </a:rPr>
                        <a:t>3.4 Carrier Board Design</a:t>
                      </a:r>
                      <a:endParaRPr lang="en-US" altLang="zh-CN" sz="2000" dirty="0">
                        <a:latin typeface="Times New Roman" panose="02020603050405020304" pitchFamily="18" charset="0"/>
                        <a:cs typeface="Times New Roman" panose="02020603050405020304" pitchFamily="18" charset="0"/>
                      </a:endParaRPr>
                    </a:p>
                  </a:txBody>
                  <a:tcPr anchor="ctr"/>
                </a:tc>
                <a:tc>
                  <a:txBody>
                    <a:bodyPr/>
                    <a:lstStyle/>
                    <a:p>
                      <a:pPr>
                        <a:buNone/>
                      </a:pPr>
                      <a:r>
                        <a:rPr lang="en-US" altLang="zh-CN" sz="1400" dirty="0">
                          <a:latin typeface="Times New Roman" panose="02020603050405020304" pitchFamily="18" charset="0"/>
                          <a:cs typeface="Times New Roman" panose="02020603050405020304" pitchFamily="18" charset="0"/>
                        </a:rPr>
                        <a:t>Integrate PCB with motor and sensors; debug MCU–driver–sensor communication; optimize power design.</a:t>
                      </a:r>
                      <a:endParaRPr lang="en-US" altLang="zh-CN" sz="1400" dirty="0">
                        <a:latin typeface="Times New Roman" panose="02020603050405020304" pitchFamily="18" charset="0"/>
                        <a:cs typeface="Times New Roman" panose="02020603050405020304" pitchFamily="18" charset="0"/>
                      </a:endParaRPr>
                    </a:p>
                  </a:txBody>
                  <a:tcPr anchor="ctr"/>
                </a:tc>
              </a:tr>
            </a:tbl>
          </a:graphicData>
        </a:graphic>
      </p:graphicFrame>
      <p:sp>
        <p:nvSpPr>
          <p:cNvPr id="9" name="文本框 8"/>
          <p:cNvSpPr txBox="1"/>
          <p:nvPr/>
        </p:nvSpPr>
        <p:spPr>
          <a:xfrm>
            <a:off x="4784090" y="4340860"/>
            <a:ext cx="2875280" cy="398780"/>
          </a:xfrm>
          <a:prstGeom prst="rect">
            <a:avLst/>
          </a:prstGeom>
          <a:noFill/>
        </p:spPr>
        <p:txBody>
          <a:bodyPr wrap="square" rtlCol="0">
            <a:spAutoFit/>
          </a:bodyPr>
          <a:lstStyle/>
          <a:p>
            <a:r>
              <a:rPr lang="en-US" altLang="zh-CN" sz="2000" b="1" dirty="0">
                <a:solidFill>
                  <a:srgbClr val="FF0000"/>
                </a:solidFill>
                <a:latin typeface="Times New Roman" panose="02020603050405020304" pitchFamily="18" charset="0"/>
                <a:cs typeface="Times New Roman" panose="02020603050405020304" pitchFamily="18" charset="0"/>
                <a:sym typeface="+mn-ea"/>
              </a:rPr>
              <a:t>Progress Schedule</a:t>
            </a:r>
            <a:endParaRPr lang="en-US" altLang="zh-CN" sz="2000" b="1" dirty="0">
              <a:solidFill>
                <a:srgbClr val="FF0000"/>
              </a:solidFill>
              <a:latin typeface="Times New Roman" panose="02020603050405020304" pitchFamily="18" charset="0"/>
              <a:cs typeface="Times New Roman" panose="02020603050405020304" pitchFamily="18" charset="0"/>
              <a:sym typeface="+mn-ea"/>
            </a:endParaRPr>
          </a:p>
        </p:txBody>
      </p:sp>
      <p:pic>
        <p:nvPicPr>
          <p:cNvPr id="3" name="图片 2"/>
          <p:cNvPicPr>
            <a:picLocks noChangeAspect="1"/>
          </p:cNvPicPr>
          <p:nvPr/>
        </p:nvPicPr>
        <p:blipFill>
          <a:blip r:embed="rId4"/>
          <a:stretch>
            <a:fillRect/>
          </a:stretch>
        </p:blipFill>
        <p:spPr>
          <a:xfrm>
            <a:off x="0" y="4709160"/>
            <a:ext cx="12192000" cy="2148840"/>
          </a:xfrm>
          <a:prstGeom prst="rect">
            <a:avLst/>
          </a:prstGeom>
        </p:spPr>
      </p:pic>
      <p:sp>
        <p:nvSpPr>
          <p:cNvPr id="8" name="文本框 40"/>
          <p:cNvSpPr txBox="1"/>
          <p:nvPr/>
        </p:nvSpPr>
        <p:spPr>
          <a:xfrm>
            <a:off x="442871" y="57803"/>
            <a:ext cx="1907702" cy="523220"/>
          </a:xfrm>
          <a:prstGeom prst="rect">
            <a:avLst/>
          </a:prstGeom>
          <a:noFill/>
        </p:spPr>
        <p:txBody>
          <a:bodyPr wrap="non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pt-BR" altLang="zh-CN" sz="34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Electronic</a:t>
            </a:r>
            <a:endParaRPr lang="pt-BR" altLang="zh-CN" sz="34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PA-直接连接符 17"/>
          <p:cNvCxnSpPr/>
          <p:nvPr>
            <p:custDataLst>
              <p:tags r:id="rId1"/>
            </p:custDataLst>
          </p:nvPr>
        </p:nvCxnSpPr>
        <p:spPr>
          <a:xfrm>
            <a:off x="482600" y="698001"/>
            <a:ext cx="11307064" cy="0"/>
          </a:xfrm>
          <a:prstGeom prst="line">
            <a:avLst/>
          </a:prstGeom>
          <a:gradFill flip="none" rotWithShape="1">
            <a:gsLst>
              <a:gs pos="0">
                <a:srgbClr val="E6564F"/>
              </a:gs>
              <a:gs pos="70000">
                <a:srgbClr val="D12A22"/>
              </a:gs>
            </a:gsLst>
            <a:lin ang="5400000" scaled="1"/>
            <a:tileRect/>
          </a:gradFill>
          <a:ln w="19050" cap="flat" cmpd="sng" algn="ctr">
            <a:gradFill>
              <a:gsLst>
                <a:gs pos="30000">
                  <a:schemeClr val="accent1"/>
                </a:gs>
                <a:gs pos="100000">
                  <a:schemeClr val="accent6">
                    <a:lumMod val="0"/>
                    <a:lumOff val="100000"/>
                  </a:schemeClr>
                </a:gs>
              </a:gsLst>
              <a:lin ang="0" scaled="0"/>
            </a:gradFill>
            <a:prstDash val="solid"/>
            <a:miter lim="800000"/>
          </a:ln>
          <a:effectLst/>
        </p:spPr>
      </p:cxnSp>
      <p:sp>
        <p:nvSpPr>
          <p:cNvPr id="5" name="文本框 40"/>
          <p:cNvSpPr txBox="1"/>
          <p:nvPr/>
        </p:nvSpPr>
        <p:spPr>
          <a:xfrm>
            <a:off x="473351" y="149243"/>
            <a:ext cx="1536065" cy="522605"/>
          </a:xfrm>
          <a:prstGeom prst="rect">
            <a:avLst/>
          </a:prstGeom>
          <a:noFill/>
        </p:spPr>
        <p:txBody>
          <a:bodyPr wrap="non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pt-BR" sz="34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VISION</a:t>
            </a:r>
            <a:endParaRPr lang="en-US" altLang="pt-BR" sz="34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33" name="图片 3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182014" y="102721"/>
            <a:ext cx="1800318" cy="540096"/>
          </a:xfrm>
          <a:prstGeom prst="rect">
            <a:avLst/>
          </a:prstGeom>
        </p:spPr>
      </p:pic>
      <p:pic>
        <p:nvPicPr>
          <p:cNvPr id="6" name="图片 5" descr="9a2588fb33581ef8f312600bf16480a4"/>
          <p:cNvPicPr>
            <a:picLocks noChangeAspect="1"/>
          </p:cNvPicPr>
          <p:nvPr/>
        </p:nvPicPr>
        <p:blipFill>
          <a:blip r:embed="rId3"/>
          <a:stretch>
            <a:fillRect/>
          </a:stretch>
        </p:blipFill>
        <p:spPr>
          <a:xfrm>
            <a:off x="330835" y="697865"/>
            <a:ext cx="11650980" cy="615505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PA-直接连接符 17"/>
          <p:cNvCxnSpPr/>
          <p:nvPr>
            <p:custDataLst>
              <p:tags r:id="rId1"/>
            </p:custDataLst>
          </p:nvPr>
        </p:nvCxnSpPr>
        <p:spPr>
          <a:xfrm>
            <a:off x="482600" y="698001"/>
            <a:ext cx="11307064" cy="0"/>
          </a:xfrm>
          <a:prstGeom prst="line">
            <a:avLst/>
          </a:prstGeom>
          <a:gradFill flip="none" rotWithShape="1">
            <a:gsLst>
              <a:gs pos="0">
                <a:srgbClr val="E6564F"/>
              </a:gs>
              <a:gs pos="70000">
                <a:srgbClr val="D12A22"/>
              </a:gs>
            </a:gsLst>
            <a:lin ang="5400000" scaled="1"/>
            <a:tileRect/>
          </a:gradFill>
          <a:ln w="19050" cap="flat" cmpd="sng" algn="ctr">
            <a:gradFill>
              <a:gsLst>
                <a:gs pos="30000">
                  <a:schemeClr val="accent1"/>
                </a:gs>
                <a:gs pos="100000">
                  <a:schemeClr val="accent6">
                    <a:lumMod val="0"/>
                    <a:lumOff val="100000"/>
                  </a:schemeClr>
                </a:gs>
              </a:gsLst>
              <a:lin ang="0" scaled="0"/>
            </a:gradFill>
            <a:prstDash val="solid"/>
            <a:miter lim="800000"/>
          </a:ln>
          <a:effectLst/>
        </p:spPr>
      </p:cxnSp>
      <p:sp>
        <p:nvSpPr>
          <p:cNvPr id="5" name="文本框 40"/>
          <p:cNvSpPr txBox="1"/>
          <p:nvPr/>
        </p:nvSpPr>
        <p:spPr>
          <a:xfrm>
            <a:off x="473351" y="149243"/>
            <a:ext cx="1536065" cy="522605"/>
          </a:xfrm>
          <a:prstGeom prst="rect">
            <a:avLst/>
          </a:prstGeom>
          <a:noFill/>
        </p:spPr>
        <p:txBody>
          <a:bodyPr wrap="non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pt-BR" sz="34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VISION</a:t>
            </a:r>
            <a:endParaRPr lang="en-US" altLang="pt-BR" sz="34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33" name="图片 3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182014" y="102721"/>
            <a:ext cx="1800318" cy="540096"/>
          </a:xfrm>
          <a:prstGeom prst="rect">
            <a:avLst/>
          </a:prstGeom>
        </p:spPr>
      </p:pic>
      <p:pic>
        <p:nvPicPr>
          <p:cNvPr id="2" name="图片 1"/>
          <p:cNvPicPr>
            <a:picLocks noChangeAspect="1"/>
          </p:cNvPicPr>
          <p:nvPr/>
        </p:nvPicPr>
        <p:blipFill>
          <a:blip r:embed="rId3"/>
          <a:stretch>
            <a:fillRect/>
          </a:stretch>
        </p:blipFill>
        <p:spPr>
          <a:xfrm>
            <a:off x="473075" y="697230"/>
            <a:ext cx="11499215" cy="616140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 name="图片 32"/>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182014" y="102721"/>
            <a:ext cx="1800318" cy="540096"/>
          </a:xfrm>
          <a:prstGeom prst="rect">
            <a:avLst/>
          </a:prstGeom>
        </p:spPr>
      </p:pic>
      <p:cxnSp>
        <p:nvCxnSpPr>
          <p:cNvPr id="26" name="PA-直接连接符 17"/>
          <p:cNvCxnSpPr/>
          <p:nvPr>
            <p:custDataLst>
              <p:tags r:id="rId2"/>
            </p:custDataLst>
          </p:nvPr>
        </p:nvCxnSpPr>
        <p:spPr>
          <a:xfrm>
            <a:off x="442468" y="580780"/>
            <a:ext cx="11307064" cy="0"/>
          </a:xfrm>
          <a:prstGeom prst="line">
            <a:avLst/>
          </a:prstGeom>
          <a:gradFill flip="none" rotWithShape="1">
            <a:gsLst>
              <a:gs pos="0">
                <a:srgbClr val="E6564F"/>
              </a:gs>
              <a:gs pos="70000">
                <a:srgbClr val="D12A22"/>
              </a:gs>
            </a:gsLst>
            <a:lin ang="5400000" scaled="1"/>
            <a:tileRect/>
          </a:gradFill>
          <a:ln w="19050" cap="flat" cmpd="sng" algn="ctr">
            <a:gradFill>
              <a:gsLst>
                <a:gs pos="30000">
                  <a:schemeClr val="accent1"/>
                </a:gs>
                <a:gs pos="100000">
                  <a:schemeClr val="accent6">
                    <a:lumMod val="0"/>
                    <a:lumOff val="100000"/>
                  </a:schemeClr>
                </a:gs>
              </a:gsLst>
              <a:lin ang="0" scaled="0"/>
            </a:gradFill>
            <a:prstDash val="solid"/>
            <a:miter lim="800000"/>
          </a:ln>
          <a:effectLst/>
        </p:spPr>
      </p:cxnSp>
      <p:cxnSp>
        <p:nvCxnSpPr>
          <p:cNvPr id="43" name="直接连接符 42"/>
          <p:cNvCxnSpPr/>
          <p:nvPr/>
        </p:nvCxnSpPr>
        <p:spPr>
          <a:xfrm flipH="1">
            <a:off x="11597" y="4069328"/>
            <a:ext cx="12178665" cy="127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4" name="文本框 3"/>
          <p:cNvSpPr txBox="1"/>
          <p:nvPr/>
        </p:nvSpPr>
        <p:spPr>
          <a:xfrm>
            <a:off x="389255" y="642620"/>
            <a:ext cx="6905625" cy="460375"/>
          </a:xfrm>
          <a:prstGeom prst="rect">
            <a:avLst/>
          </a:prstGeom>
          <a:noFill/>
        </p:spPr>
        <p:txBody>
          <a:bodyPr wrap="square" rtlCol="0">
            <a:spAutoFit/>
          </a:bodyPr>
          <a:lstStyle/>
          <a:p>
            <a:r>
              <a:rPr lang="en-US" altLang="zh-CN" sz="2400" b="1">
                <a:latin typeface="Times New Roman" panose="02020603050405020304" pitchFamily="18" charset="0"/>
                <a:cs typeface="Times New Roman" panose="02020603050405020304" pitchFamily="18" charset="0"/>
              </a:rPr>
              <a:t>Personal Task Assignment and Progress Schedule</a:t>
            </a:r>
            <a:endParaRPr lang="en-US" altLang="zh-CN" sz="2400" b="1">
              <a:latin typeface="Times New Roman" panose="02020603050405020304" pitchFamily="18" charset="0"/>
              <a:cs typeface="Times New Roman" panose="02020603050405020304" pitchFamily="18" charset="0"/>
            </a:endParaRPr>
          </a:p>
        </p:txBody>
      </p:sp>
      <p:graphicFrame>
        <p:nvGraphicFramePr>
          <p:cNvPr id="6" name="表格 5"/>
          <p:cNvGraphicFramePr/>
          <p:nvPr>
            <p:custDataLst>
              <p:tags r:id="rId3"/>
            </p:custDataLst>
          </p:nvPr>
        </p:nvGraphicFramePr>
        <p:xfrm>
          <a:off x="442595" y="1102995"/>
          <a:ext cx="11355705" cy="2854960"/>
        </p:xfrm>
        <a:graphic>
          <a:graphicData uri="http://schemas.openxmlformats.org/drawingml/2006/table">
            <a:tbl>
              <a:tblPr firstRow="1" bandRow="1">
                <a:tableStyleId>{5C22544A-7EE6-4342-B048-85BDC9FD1C3A}</a:tableStyleId>
              </a:tblPr>
              <a:tblGrid>
                <a:gridCol w="5653405"/>
                <a:gridCol w="5702300"/>
              </a:tblGrid>
              <a:tr h="485140">
                <a:tc>
                  <a:txBody>
                    <a:bodyPr/>
                    <a:lstStyle/>
                    <a:p>
                      <a:pPr algn="ctr">
                        <a:buNone/>
                      </a:pPr>
                      <a:r>
                        <a:rPr lang="en-US" altLang="zh-CN" sz="2000">
                          <a:latin typeface="Times New Roman" panose="02020603050405020304" pitchFamily="18" charset="0"/>
                          <a:cs typeface="Times New Roman" panose="02020603050405020304" pitchFamily="18" charset="0"/>
                        </a:rPr>
                        <a:t>Subtasks</a:t>
                      </a:r>
                      <a:endParaRPr lang="en-US" altLang="zh-CN" sz="2000">
                        <a:latin typeface="Times New Roman" panose="02020603050405020304" pitchFamily="18" charset="0"/>
                        <a:cs typeface="Times New Roman" panose="02020603050405020304" pitchFamily="18" charset="0"/>
                      </a:endParaRPr>
                    </a:p>
                  </a:txBody>
                  <a:tcPr anchor="ctr"/>
                </a:tc>
                <a:tc>
                  <a:txBody>
                    <a:bodyPr/>
                    <a:lstStyle/>
                    <a:p>
                      <a:pPr algn="ctr">
                        <a:buNone/>
                      </a:pPr>
                      <a:r>
                        <a:rPr lang="en-US" altLang="zh-CN" sz="2000">
                          <a:latin typeface="Times New Roman" panose="02020603050405020304" pitchFamily="18" charset="0"/>
                          <a:cs typeface="Times New Roman" panose="02020603050405020304" pitchFamily="18" charset="0"/>
                        </a:rPr>
                        <a:t>Specific Content</a:t>
                      </a:r>
                      <a:endParaRPr lang="en-US" altLang="zh-CN" sz="2000">
                        <a:latin typeface="Times New Roman" panose="02020603050405020304" pitchFamily="18" charset="0"/>
                        <a:cs typeface="Times New Roman" panose="02020603050405020304" pitchFamily="18" charset="0"/>
                      </a:endParaRPr>
                    </a:p>
                  </a:txBody>
                  <a:tcPr anchor="ctr"/>
                </a:tc>
              </a:tr>
              <a:tr h="831850">
                <a:tc>
                  <a:txBody>
                    <a:bodyPr/>
                    <a:lstStyle/>
                    <a:p>
                      <a:pPr>
                        <a:buNone/>
                      </a:pPr>
                      <a:r>
                        <a:rPr lang="en-US" altLang="zh-CN" sz="2000" dirty="0">
                          <a:latin typeface="Times New Roman" panose="02020603050405020304" pitchFamily="18" charset="0"/>
                          <a:cs typeface="Times New Roman" panose="02020603050405020304" pitchFamily="18" charset="0"/>
                        </a:rPr>
                        <a:t>4.1 Training Set Collection</a:t>
                      </a:r>
                      <a:endParaRPr lang="en-US" altLang="zh-CN" sz="2000" dirty="0">
                        <a:latin typeface="Times New Roman" panose="02020603050405020304" pitchFamily="18" charset="0"/>
                        <a:cs typeface="Times New Roman" panose="02020603050405020304" pitchFamily="18" charset="0"/>
                      </a:endParaRPr>
                    </a:p>
                  </a:txBody>
                  <a:tcPr anchor="ctr"/>
                </a:tc>
                <a:tc>
                  <a:txBody>
                    <a:bodyPr/>
                    <a:lstStyle/>
                    <a:p>
                      <a:pPr>
                        <a:buNone/>
                      </a:pPr>
                      <a:r>
                        <a:rPr lang="en-US" altLang="zh-CN" sz="1400" dirty="0">
                          <a:latin typeface="Times New Roman" panose="02020603050405020304" pitchFamily="18" charset="0"/>
                          <a:cs typeface="Times New Roman" panose="02020603050405020304" pitchFamily="18" charset="0"/>
                        </a:rPr>
                        <a:t>Calibrate the onboard camera and record video data under diverse lighting and road scenarios; extract frames and manually annotate lane boundaries for threshold‑based detection and bounding boxes for YOLO training.</a:t>
                      </a:r>
                      <a:endParaRPr lang="en-US" altLang="zh-CN" sz="1400" dirty="0">
                        <a:latin typeface="Times New Roman" panose="02020603050405020304" pitchFamily="18" charset="0"/>
                        <a:cs typeface="Times New Roman" panose="02020603050405020304" pitchFamily="18" charset="0"/>
                      </a:endParaRPr>
                    </a:p>
                  </a:txBody>
                  <a:tcPr anchor="ctr"/>
                </a:tc>
              </a:tr>
              <a:tr h="518160">
                <a:tc>
                  <a:txBody>
                    <a:bodyPr/>
                    <a:lstStyle/>
                    <a:p>
                      <a:pPr>
                        <a:buNone/>
                      </a:pPr>
                      <a:r>
                        <a:rPr lang="en-US" altLang="zh-CN" sz="2000" dirty="0">
                          <a:latin typeface="Times New Roman" panose="02020603050405020304" pitchFamily="18" charset="0"/>
                          <a:cs typeface="Times New Roman" panose="02020603050405020304" pitchFamily="18" charset="0"/>
                        </a:rPr>
                        <a:t>4.2 Model Training</a:t>
                      </a:r>
                      <a:endParaRPr lang="en-US" altLang="zh-CN" sz="2000" dirty="0">
                        <a:latin typeface="Times New Roman" panose="02020603050405020304" pitchFamily="18" charset="0"/>
                        <a:cs typeface="Times New Roman" panose="02020603050405020304" pitchFamily="18" charset="0"/>
                      </a:endParaRPr>
                    </a:p>
                  </a:txBody>
                  <a:tcPr anchor="ctr"/>
                </a:tc>
                <a:tc>
                  <a:txBody>
                    <a:bodyPr/>
                    <a:lstStyle/>
                    <a:p>
                      <a:pPr>
                        <a:buNone/>
                      </a:pPr>
                      <a:r>
                        <a:rPr lang="en-US" altLang="zh-CN" sz="1400" dirty="0">
                          <a:latin typeface="Times New Roman" panose="02020603050405020304" pitchFamily="18" charset="0"/>
                          <a:cs typeface="Times New Roman" panose="02020603050405020304" pitchFamily="18" charset="0"/>
                        </a:rPr>
                        <a:t>Test each module independently to ensure that there are no issues with the modules during the later system development process.</a:t>
                      </a:r>
                      <a:endParaRPr lang="en-US" altLang="zh-CN" sz="1400" dirty="0">
                        <a:latin typeface="Times New Roman" panose="02020603050405020304" pitchFamily="18" charset="0"/>
                        <a:cs typeface="Times New Roman" panose="02020603050405020304" pitchFamily="18" charset="0"/>
                      </a:endParaRPr>
                    </a:p>
                  </a:txBody>
                  <a:tcPr anchor="ctr"/>
                </a:tc>
              </a:tr>
              <a:tr h="1019810">
                <a:tc>
                  <a:txBody>
                    <a:bodyPr/>
                    <a:lstStyle/>
                    <a:p>
                      <a:pPr>
                        <a:buNone/>
                      </a:pPr>
                      <a:r>
                        <a:rPr lang="en-US" altLang="zh-CN" sz="2000" dirty="0">
                          <a:latin typeface="Times New Roman" panose="02020603050405020304" pitchFamily="18" charset="0"/>
                          <a:cs typeface="Times New Roman" panose="02020603050405020304" pitchFamily="18" charset="0"/>
                        </a:rPr>
                        <a:t>4.3 Model Testing </a:t>
                      </a:r>
                      <a:endParaRPr lang="en-US" altLang="zh-CN" sz="2000" dirty="0">
                        <a:latin typeface="Times New Roman" panose="02020603050405020304" pitchFamily="18" charset="0"/>
                        <a:cs typeface="Times New Roman" panose="02020603050405020304" pitchFamily="18" charset="0"/>
                      </a:endParaRPr>
                    </a:p>
                  </a:txBody>
                  <a:tcPr anchor="ctr"/>
                </a:tc>
                <a:tc>
                  <a:txBody>
                    <a:bodyPr/>
                    <a:lstStyle/>
                    <a:p>
                      <a:pPr>
                        <a:buNone/>
                      </a:pPr>
                      <a:r>
                        <a:rPr lang="en-US" altLang="zh-CN" sz="1400" dirty="0">
                          <a:latin typeface="Times New Roman" panose="02020603050405020304" pitchFamily="18" charset="0"/>
                          <a:cs typeface="Times New Roman" panose="02020603050405020304" pitchFamily="18" charset="0"/>
                        </a:rPr>
                        <a:t>Verify lane mask accuracy, center extraction, and lateral error under varied conditions while ensuring YOLO delivers correct bounding boxes and class scores with effective NMS; run both modules concurrently to assess real‑time performance and format final outputs for control systems.</a:t>
                      </a:r>
                      <a:endParaRPr lang="en-US" altLang="zh-CN" sz="1400" dirty="0">
                        <a:latin typeface="Times New Roman" panose="02020603050405020304" pitchFamily="18" charset="0"/>
                        <a:cs typeface="Times New Roman" panose="02020603050405020304" pitchFamily="18" charset="0"/>
                      </a:endParaRPr>
                    </a:p>
                  </a:txBody>
                  <a:tcPr anchor="ctr"/>
                </a:tc>
              </a:tr>
            </a:tbl>
          </a:graphicData>
        </a:graphic>
      </p:graphicFrame>
      <p:sp>
        <p:nvSpPr>
          <p:cNvPr id="9" name="文本框 8"/>
          <p:cNvSpPr txBox="1"/>
          <p:nvPr/>
        </p:nvSpPr>
        <p:spPr>
          <a:xfrm>
            <a:off x="4495165" y="4226560"/>
            <a:ext cx="2661920" cy="460375"/>
          </a:xfrm>
          <a:prstGeom prst="rect">
            <a:avLst/>
          </a:prstGeom>
          <a:noFill/>
        </p:spPr>
        <p:txBody>
          <a:bodyPr wrap="square" rtlCol="0">
            <a:spAutoFit/>
          </a:bodyPr>
          <a:lstStyle/>
          <a:p>
            <a:r>
              <a:rPr lang="en-US" altLang="zh-CN" sz="2400" b="1">
                <a:solidFill>
                  <a:srgbClr val="FF0000"/>
                </a:solidFill>
                <a:latin typeface="Times New Roman" panose="02020603050405020304" pitchFamily="18" charset="0"/>
                <a:cs typeface="Times New Roman" panose="02020603050405020304" pitchFamily="18" charset="0"/>
                <a:sym typeface="+mn-ea"/>
              </a:rPr>
              <a:t>Progress Schedule</a:t>
            </a:r>
            <a:endParaRPr lang="en-US" altLang="zh-CN" sz="2400" b="1">
              <a:solidFill>
                <a:srgbClr val="FF0000"/>
              </a:solidFill>
              <a:latin typeface="Times New Roman" panose="02020603050405020304" pitchFamily="18" charset="0"/>
              <a:cs typeface="Times New Roman" panose="02020603050405020304" pitchFamily="18" charset="0"/>
              <a:sym typeface="+mn-ea"/>
            </a:endParaRPr>
          </a:p>
        </p:txBody>
      </p:sp>
      <p:sp>
        <p:nvSpPr>
          <p:cNvPr id="3" name="文本框 40"/>
          <p:cNvSpPr txBox="1"/>
          <p:nvPr/>
        </p:nvSpPr>
        <p:spPr>
          <a:xfrm>
            <a:off x="442871" y="58438"/>
            <a:ext cx="1536065" cy="522605"/>
          </a:xfrm>
          <a:prstGeom prst="rect">
            <a:avLst/>
          </a:prstGeom>
          <a:noFill/>
        </p:spPr>
        <p:txBody>
          <a:bodyPr wrap="non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pt-BR" sz="34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VISION</a:t>
            </a:r>
            <a:endParaRPr lang="en-US" altLang="pt-BR" sz="34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7" name="图片 6"/>
          <p:cNvPicPr>
            <a:picLocks noChangeAspect="1"/>
          </p:cNvPicPr>
          <p:nvPr/>
        </p:nvPicPr>
        <p:blipFill>
          <a:blip r:embed="rId4"/>
          <a:stretch>
            <a:fillRect/>
          </a:stretch>
        </p:blipFill>
        <p:spPr>
          <a:xfrm>
            <a:off x="11430" y="4893310"/>
            <a:ext cx="12192000" cy="179768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PA-直接连接符 17"/>
          <p:cNvCxnSpPr/>
          <p:nvPr>
            <p:custDataLst>
              <p:tags r:id="rId1"/>
            </p:custDataLst>
          </p:nvPr>
        </p:nvCxnSpPr>
        <p:spPr>
          <a:xfrm>
            <a:off x="482600" y="698001"/>
            <a:ext cx="11307064" cy="0"/>
          </a:xfrm>
          <a:prstGeom prst="line">
            <a:avLst/>
          </a:prstGeom>
          <a:gradFill flip="none" rotWithShape="1">
            <a:gsLst>
              <a:gs pos="0">
                <a:srgbClr val="E6564F"/>
              </a:gs>
              <a:gs pos="70000">
                <a:srgbClr val="D12A22"/>
              </a:gs>
            </a:gsLst>
            <a:lin ang="5400000" scaled="1"/>
            <a:tileRect/>
          </a:gradFill>
          <a:ln w="19050" cap="flat" cmpd="sng" algn="ctr">
            <a:gradFill>
              <a:gsLst>
                <a:gs pos="30000">
                  <a:schemeClr val="accent1"/>
                </a:gs>
                <a:gs pos="100000">
                  <a:schemeClr val="accent6">
                    <a:lumMod val="0"/>
                    <a:lumOff val="100000"/>
                  </a:schemeClr>
                </a:gs>
              </a:gsLst>
              <a:lin ang="0" scaled="0"/>
            </a:gradFill>
            <a:prstDash val="solid"/>
            <a:miter lim="800000"/>
          </a:ln>
          <a:effectLst/>
        </p:spPr>
      </p:cxnSp>
      <p:pic>
        <p:nvPicPr>
          <p:cNvPr id="33" name="图片 3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182014" y="102721"/>
            <a:ext cx="1800318" cy="540096"/>
          </a:xfrm>
          <a:prstGeom prst="rect">
            <a:avLst/>
          </a:prstGeom>
        </p:spPr>
      </p:pic>
      <p:sp>
        <p:nvSpPr>
          <p:cNvPr id="2" name="文本框 40"/>
          <p:cNvSpPr txBox="1"/>
          <p:nvPr/>
        </p:nvSpPr>
        <p:spPr>
          <a:xfrm>
            <a:off x="284354" y="53953"/>
            <a:ext cx="1709909" cy="522605"/>
          </a:xfrm>
          <a:prstGeom prst="rect">
            <a:avLst/>
          </a:prstGeom>
          <a:noFill/>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34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Software</a:t>
            </a:r>
            <a:endParaRPr lang="en-US" altLang="zh-CN" sz="34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 name="文本框 2"/>
          <p:cNvSpPr txBox="1"/>
          <p:nvPr/>
        </p:nvSpPr>
        <p:spPr>
          <a:xfrm>
            <a:off x="521284" y="683105"/>
            <a:ext cx="11583629" cy="461665"/>
          </a:xfrm>
          <a:prstGeom prst="rect">
            <a:avLst/>
          </a:prstGeom>
          <a:noFill/>
        </p:spPr>
        <p:txBody>
          <a:bodyPr wrap="square">
            <a:spAutoFit/>
          </a:bodyPr>
          <a:lstStyle/>
          <a:p>
            <a:r>
              <a:rPr lang="en-US" altLang="zh-CN"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AGV upper computer software</a:t>
            </a:r>
            <a:endParaRPr lang="en-US" altLang="zh-CN"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13" name="图片 12"/>
          <p:cNvPicPr>
            <a:picLocks noChangeAspect="1"/>
          </p:cNvPicPr>
          <p:nvPr/>
        </p:nvPicPr>
        <p:blipFill>
          <a:blip r:embed="rId3"/>
          <a:stretch>
            <a:fillRect/>
          </a:stretch>
        </p:blipFill>
        <p:spPr>
          <a:xfrm>
            <a:off x="0" y="2018921"/>
            <a:ext cx="3308433" cy="4839079"/>
          </a:xfrm>
          <a:prstGeom prst="rect">
            <a:avLst/>
          </a:prstGeom>
        </p:spPr>
      </p:pic>
      <p:sp>
        <p:nvSpPr>
          <p:cNvPr id="14" name="文本框 13"/>
          <p:cNvSpPr txBox="1"/>
          <p:nvPr/>
        </p:nvSpPr>
        <p:spPr>
          <a:xfrm>
            <a:off x="520668" y="1250702"/>
            <a:ext cx="11268996" cy="646331"/>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We have developed a </a:t>
            </a:r>
            <a:r>
              <a:rPr lang="en-US" altLang="zh-CN" b="1" dirty="0">
                <a:latin typeface="Times New Roman" panose="02020603050405020304" pitchFamily="18" charset="0"/>
                <a:cs typeface="Times New Roman" panose="02020603050405020304" pitchFamily="18" charset="0"/>
              </a:rPr>
              <a:t>cross-platform</a:t>
            </a:r>
            <a:r>
              <a:rPr lang="en-US" altLang="zh-CN" dirty="0">
                <a:latin typeface="Times New Roman" panose="02020603050405020304" pitchFamily="18" charset="0"/>
                <a:cs typeface="Times New Roman" panose="02020603050405020304" pitchFamily="18" charset="0"/>
              </a:rPr>
              <a:t>, </a:t>
            </a:r>
            <a:r>
              <a:rPr lang="en-US" altLang="zh-CN" b="1" dirty="0">
                <a:latin typeface="Times New Roman" panose="02020603050405020304" pitchFamily="18" charset="0"/>
                <a:cs typeface="Times New Roman" panose="02020603050405020304" pitchFamily="18" charset="0"/>
              </a:rPr>
              <a:t>visual,</a:t>
            </a:r>
            <a:r>
              <a:rPr lang="en-US" altLang="zh-CN" dirty="0">
                <a:latin typeface="Times New Roman" panose="02020603050405020304" pitchFamily="18" charset="0"/>
                <a:cs typeface="Times New Roman" panose="02020603050405020304" pitchFamily="18" charset="0"/>
              </a:rPr>
              <a:t> and </a:t>
            </a:r>
            <a:r>
              <a:rPr lang="en-US" altLang="zh-CN" b="1" dirty="0">
                <a:latin typeface="Times New Roman" panose="02020603050405020304" pitchFamily="18" charset="0"/>
                <a:cs typeface="Times New Roman" panose="02020603050405020304" pitchFamily="18" charset="0"/>
              </a:rPr>
              <a:t>user-friendly</a:t>
            </a:r>
            <a:r>
              <a:rPr lang="en-US" altLang="zh-CN" dirty="0">
                <a:latin typeface="Times New Roman" panose="02020603050405020304" pitchFamily="18" charset="0"/>
                <a:cs typeface="Times New Roman" panose="02020603050405020304" pitchFamily="18" charset="0"/>
              </a:rPr>
              <a:t> upper computer software using </a:t>
            </a:r>
            <a:r>
              <a:rPr lang="en-US" altLang="zh-CN" b="1" dirty="0">
                <a:latin typeface="Times New Roman" panose="02020603050405020304" pitchFamily="18" charset="0"/>
                <a:cs typeface="Times New Roman" panose="02020603050405020304" pitchFamily="18" charset="0"/>
              </a:rPr>
              <a:t>Python</a:t>
            </a:r>
            <a:r>
              <a:rPr lang="en-US" altLang="zh-CN" dirty="0">
                <a:latin typeface="Times New Roman" panose="02020603050405020304" pitchFamily="18" charset="0"/>
                <a:cs typeface="Times New Roman" panose="02020603050405020304" pitchFamily="18" charset="0"/>
              </a:rPr>
              <a:t>. Below are the </a:t>
            </a:r>
            <a:r>
              <a:rPr lang="en-US" altLang="zh-CN" b="1" dirty="0">
                <a:latin typeface="Times New Roman" panose="02020603050405020304" pitchFamily="18" charset="0"/>
                <a:cs typeface="Times New Roman" panose="02020603050405020304" pitchFamily="18" charset="0"/>
              </a:rPr>
              <a:t>modules </a:t>
            </a:r>
            <a:r>
              <a:rPr lang="en-US" altLang="zh-CN" dirty="0">
                <a:latin typeface="Times New Roman" panose="02020603050405020304" pitchFamily="18" charset="0"/>
                <a:cs typeface="Times New Roman" panose="02020603050405020304" pitchFamily="18" charset="0"/>
              </a:rPr>
              <a:t>we employed.</a:t>
            </a:r>
            <a:endParaRPr lang="zh-CN" altLang="en-US" dirty="0">
              <a:latin typeface="Times New Roman" panose="02020603050405020304" pitchFamily="18" charset="0"/>
              <a:cs typeface="Times New Roman" panose="02020603050405020304" pitchFamily="18" charset="0"/>
            </a:endParaRPr>
          </a:p>
        </p:txBody>
      </p:sp>
      <p:sp>
        <p:nvSpPr>
          <p:cNvPr id="15" name="文本框 14"/>
          <p:cNvSpPr txBox="1"/>
          <p:nvPr/>
        </p:nvSpPr>
        <p:spPr>
          <a:xfrm>
            <a:off x="4554998" y="1897033"/>
            <a:ext cx="7234666" cy="1200329"/>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We utilize it to create an </a:t>
            </a:r>
            <a:r>
              <a:rPr lang="en-US" altLang="zh-CN" b="1" dirty="0">
                <a:latin typeface="Times New Roman" panose="02020603050405020304" pitchFamily="18" charset="0"/>
                <a:cs typeface="Times New Roman" panose="02020603050405020304" pitchFamily="18" charset="0"/>
              </a:rPr>
              <a:t>elegant GUI interface</a:t>
            </a:r>
            <a:r>
              <a:rPr lang="en-US" altLang="zh-CN" dirty="0">
                <a:latin typeface="Times New Roman" panose="02020603050405020304" pitchFamily="18" charset="0"/>
                <a:cs typeface="Times New Roman" panose="02020603050405020304" pitchFamily="18" charset="0"/>
              </a:rPr>
              <a:t>. The GUI library it provides enabled the implementation of video windows, numerical/string input, and various buttons. It helped us achieve the </a:t>
            </a:r>
            <a:r>
              <a:rPr lang="en-US" altLang="zh-CN" b="1" dirty="0">
                <a:latin typeface="Times New Roman" panose="02020603050405020304" pitchFamily="18" charset="0"/>
                <a:cs typeface="Times New Roman" panose="02020603050405020304" pitchFamily="18" charset="0"/>
              </a:rPr>
              <a:t>visualization</a:t>
            </a:r>
            <a:r>
              <a:rPr lang="en-US" altLang="zh-CN" dirty="0">
                <a:latin typeface="Times New Roman" panose="02020603050405020304" pitchFamily="18" charset="0"/>
                <a:cs typeface="Times New Roman" panose="02020603050405020304" pitchFamily="18" charset="0"/>
              </a:rPr>
              <a:t> of the software, significantly </a:t>
            </a:r>
            <a:r>
              <a:rPr lang="en-US" altLang="zh-CN" b="1" dirty="0">
                <a:latin typeface="Times New Roman" panose="02020603050405020304" pitchFamily="18" charset="0"/>
                <a:cs typeface="Times New Roman" panose="02020603050405020304" pitchFamily="18" charset="0"/>
              </a:rPr>
              <a:t>reducing the barrier </a:t>
            </a:r>
            <a:r>
              <a:rPr lang="en-US" altLang="zh-CN" dirty="0">
                <a:latin typeface="Times New Roman" panose="02020603050405020304" pitchFamily="18" charset="0"/>
                <a:cs typeface="Times New Roman" panose="02020603050405020304" pitchFamily="18" charset="0"/>
              </a:rPr>
              <a:t>for users to use the AGV.</a:t>
            </a:r>
            <a:endParaRPr lang="zh-CN" altLang="en-US" dirty="0">
              <a:latin typeface="Times New Roman" panose="02020603050405020304" pitchFamily="18" charset="0"/>
              <a:cs typeface="Times New Roman" panose="02020603050405020304" pitchFamily="18" charset="0"/>
            </a:endParaRPr>
          </a:p>
        </p:txBody>
      </p:sp>
      <p:sp>
        <p:nvSpPr>
          <p:cNvPr id="18" name="文本框 17"/>
          <p:cNvSpPr txBox="1"/>
          <p:nvPr/>
        </p:nvSpPr>
        <p:spPr>
          <a:xfrm>
            <a:off x="4554998" y="3926576"/>
            <a:ext cx="7234666" cy="923330"/>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We utilize it to achieve </a:t>
            </a:r>
            <a:r>
              <a:rPr lang="en-US" altLang="zh-CN" b="1" dirty="0">
                <a:latin typeface="Times New Roman" panose="02020603050405020304" pitchFamily="18" charset="0"/>
                <a:cs typeface="Times New Roman" panose="02020603050405020304" pitchFamily="18" charset="0"/>
              </a:rPr>
              <a:t>video stream retrieval </a:t>
            </a:r>
            <a:r>
              <a:rPr lang="en-US" altLang="zh-CN" dirty="0">
                <a:latin typeface="Times New Roman" panose="02020603050405020304" pitchFamily="18" charset="0"/>
                <a:cs typeface="Times New Roman" panose="02020603050405020304" pitchFamily="18" charset="0"/>
              </a:rPr>
              <a:t>and </a:t>
            </a:r>
            <a:r>
              <a:rPr lang="en-US" altLang="zh-CN" b="1" dirty="0">
                <a:latin typeface="Times New Roman" panose="02020603050405020304" pitchFamily="18" charset="0"/>
                <a:cs typeface="Times New Roman" panose="02020603050405020304" pitchFamily="18" charset="0"/>
              </a:rPr>
              <a:t>display</a:t>
            </a:r>
            <a:r>
              <a:rPr lang="en-US" altLang="zh-CN" dirty="0">
                <a:latin typeface="Times New Roman" panose="02020603050405020304" pitchFamily="18" charset="0"/>
                <a:cs typeface="Times New Roman" panose="02020603050405020304" pitchFamily="18" charset="0"/>
              </a:rPr>
              <a:t>, and to retain the backend interface for the </a:t>
            </a:r>
            <a:r>
              <a:rPr lang="en-US" altLang="zh-CN" b="1" dirty="0">
                <a:latin typeface="Times New Roman" panose="02020603050405020304" pitchFamily="18" charset="0"/>
                <a:cs typeface="Times New Roman" panose="02020603050405020304" pitchFamily="18" charset="0"/>
              </a:rPr>
              <a:t>tracking algorithm </a:t>
            </a:r>
            <a:r>
              <a:rPr lang="en-US" altLang="zh-CN" dirty="0">
                <a:latin typeface="Times New Roman" panose="02020603050405020304" pitchFamily="18" charset="0"/>
                <a:cs typeface="Times New Roman" panose="02020603050405020304" pitchFamily="18" charset="0"/>
              </a:rPr>
              <a:t>for the vision teamer, allowing them to </a:t>
            </a:r>
            <a:r>
              <a:rPr lang="en-US" altLang="zh-CN" b="1" dirty="0">
                <a:latin typeface="Times New Roman" panose="02020603050405020304" pitchFamily="18" charset="0"/>
                <a:cs typeface="Times New Roman" panose="02020603050405020304" pitchFamily="18" charset="0"/>
              </a:rPr>
              <a:t>input video </a:t>
            </a:r>
            <a:r>
              <a:rPr lang="en-US" altLang="zh-CN" dirty="0">
                <a:latin typeface="Times New Roman" panose="02020603050405020304" pitchFamily="18" charset="0"/>
                <a:cs typeface="Times New Roman" panose="02020603050405020304" pitchFamily="18" charset="0"/>
              </a:rPr>
              <a:t>and </a:t>
            </a:r>
            <a:r>
              <a:rPr lang="en-US" altLang="zh-CN" b="1" dirty="0">
                <a:latin typeface="Times New Roman" panose="02020603050405020304" pitchFamily="18" charset="0"/>
                <a:cs typeface="Times New Roman" panose="02020603050405020304" pitchFamily="18" charset="0"/>
              </a:rPr>
              <a:t>output mask images</a:t>
            </a: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p:txBody>
      </p:sp>
      <p:sp>
        <p:nvSpPr>
          <p:cNvPr id="20" name="文本框 19"/>
          <p:cNvSpPr txBox="1"/>
          <p:nvPr/>
        </p:nvSpPr>
        <p:spPr>
          <a:xfrm>
            <a:off x="4554997" y="5586788"/>
            <a:ext cx="7234667" cy="646331"/>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We use it to establish </a:t>
            </a:r>
            <a:r>
              <a:rPr lang="en-US" altLang="zh-CN" b="1" dirty="0">
                <a:latin typeface="Times New Roman" panose="02020603050405020304" pitchFamily="18" charset="0"/>
                <a:cs typeface="Times New Roman" panose="02020603050405020304" pitchFamily="18" charset="0"/>
              </a:rPr>
              <a:t>serial communication</a:t>
            </a:r>
            <a:r>
              <a:rPr lang="en-US" altLang="zh-CN" dirty="0">
                <a:latin typeface="Times New Roman" panose="02020603050405020304" pitchFamily="18" charset="0"/>
                <a:cs typeface="Times New Roman" panose="02020603050405020304" pitchFamily="18" charset="0"/>
              </a:rPr>
              <a:t> with the AGV, enabling the issuance of commands and the feedback of information.</a:t>
            </a:r>
            <a:endParaRPr lang="zh-CN" altLang="en-US" dirty="0">
              <a:latin typeface="Times New Roman" panose="02020603050405020304" pitchFamily="18" charset="0"/>
              <a:cs typeface="Times New Roman" panose="02020603050405020304" pitchFamily="18" charset="0"/>
            </a:endParaRPr>
          </a:p>
        </p:txBody>
      </p:sp>
      <p:pic>
        <p:nvPicPr>
          <p:cNvPr id="24" name="Picture 24" descr="OpenCV - OpenCV"/>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b="18391"/>
          <a:stretch>
            <a:fillRect/>
          </a:stretch>
        </p:blipFill>
        <p:spPr bwMode="auto">
          <a:xfrm>
            <a:off x="3518394" y="4022961"/>
            <a:ext cx="826638" cy="830997"/>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descr="Qt Logo, Link to main Product page."/>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479281" y="2419031"/>
            <a:ext cx="904863" cy="646331"/>
          </a:xfrm>
          <a:prstGeom prst="rect">
            <a:avLst/>
          </a:prstGeom>
          <a:noFill/>
          <a:extLst>
            <a:ext uri="{909E8E84-426E-40DD-AFC4-6F175D3DCCD1}">
              <a14:hiddenFill xmlns:a14="http://schemas.microsoft.com/office/drawing/2010/main">
                <a:solidFill>
                  <a:srgbClr val="FFFFFF"/>
                </a:solidFill>
              </a14:hiddenFill>
            </a:ext>
          </a:extLst>
        </p:spPr>
      </p:pic>
      <p:pic>
        <p:nvPicPr>
          <p:cNvPr id="4104" name="Picture 8" descr="PySerial"/>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22113" y="5748779"/>
            <a:ext cx="609600" cy="609600"/>
          </a:xfrm>
          <a:prstGeom prst="rect">
            <a:avLst/>
          </a:prstGeom>
          <a:noFill/>
          <a:extLst>
            <a:ext uri="{909E8E84-426E-40DD-AFC4-6F175D3DCCD1}">
              <a14:hiddenFill xmlns:a14="http://schemas.microsoft.com/office/drawing/2010/main">
                <a:solidFill>
                  <a:srgbClr val="FFFFFF"/>
                </a:solidFill>
              </a14:hiddenFill>
            </a:ext>
          </a:extLst>
        </p:spPr>
      </p:pic>
      <p:sp>
        <p:nvSpPr>
          <p:cNvPr id="5" name="文本框 4"/>
          <p:cNvSpPr txBox="1"/>
          <p:nvPr/>
        </p:nvSpPr>
        <p:spPr>
          <a:xfrm>
            <a:off x="3413414" y="2018921"/>
            <a:ext cx="1036601" cy="400110"/>
          </a:xfrm>
          <a:prstGeom prst="rect">
            <a:avLst/>
          </a:prstGeom>
          <a:noFill/>
        </p:spPr>
        <p:txBody>
          <a:bodyPr wrap="square" rtlCol="0">
            <a:spAutoFit/>
          </a:bodyPr>
          <a:lstStyle/>
          <a:p>
            <a:pPr algn="ctr"/>
            <a:r>
              <a:rPr lang="en-US" altLang="zh-CN" sz="2000" b="1" dirty="0">
                <a:latin typeface="Times New Roman" panose="02020603050405020304" pitchFamily="18" charset="0"/>
                <a:cs typeface="Times New Roman" panose="02020603050405020304" pitchFamily="18" charset="0"/>
              </a:rPr>
              <a:t>Pyside6</a:t>
            </a:r>
            <a:endParaRPr lang="en-US" altLang="zh-CN" sz="2000" b="1" dirty="0">
              <a:latin typeface="Times New Roman" panose="02020603050405020304" pitchFamily="18" charset="0"/>
              <a:cs typeface="Times New Roman" panose="02020603050405020304" pitchFamily="18" charset="0"/>
            </a:endParaRPr>
          </a:p>
        </p:txBody>
      </p:sp>
      <p:sp>
        <p:nvSpPr>
          <p:cNvPr id="6" name="文本框 5"/>
          <p:cNvSpPr txBox="1"/>
          <p:nvPr/>
        </p:nvSpPr>
        <p:spPr>
          <a:xfrm>
            <a:off x="3308433" y="3622851"/>
            <a:ext cx="1236963" cy="400110"/>
          </a:xfrm>
          <a:prstGeom prst="rect">
            <a:avLst/>
          </a:prstGeom>
          <a:noFill/>
        </p:spPr>
        <p:txBody>
          <a:bodyPr wrap="square" rtlCol="0">
            <a:spAutoFit/>
          </a:bodyPr>
          <a:lstStyle/>
          <a:p>
            <a:pPr algn="ctr"/>
            <a:r>
              <a:rPr lang="en-US" altLang="zh-CN" sz="2000" b="1" dirty="0">
                <a:latin typeface="Times New Roman" panose="02020603050405020304" pitchFamily="18" charset="0"/>
                <a:cs typeface="Times New Roman" panose="02020603050405020304" pitchFamily="18" charset="0"/>
              </a:rPr>
              <a:t>OpenCV</a:t>
            </a:r>
            <a:endParaRPr lang="en-US" altLang="zh-CN" sz="2000" b="1" dirty="0">
              <a:latin typeface="Times New Roman" panose="02020603050405020304" pitchFamily="18" charset="0"/>
              <a:cs typeface="Times New Roman" panose="02020603050405020304" pitchFamily="18" charset="0"/>
            </a:endParaRPr>
          </a:p>
        </p:txBody>
      </p:sp>
      <p:sp>
        <p:nvSpPr>
          <p:cNvPr id="7" name="文本框 6"/>
          <p:cNvSpPr txBox="1"/>
          <p:nvPr/>
        </p:nvSpPr>
        <p:spPr>
          <a:xfrm>
            <a:off x="3308432" y="5348669"/>
            <a:ext cx="1236963" cy="400110"/>
          </a:xfrm>
          <a:prstGeom prst="rect">
            <a:avLst/>
          </a:prstGeom>
          <a:noFill/>
        </p:spPr>
        <p:txBody>
          <a:bodyPr wrap="square" rtlCol="0">
            <a:spAutoFit/>
          </a:bodyPr>
          <a:lstStyle/>
          <a:p>
            <a:pPr algn="ctr"/>
            <a:r>
              <a:rPr lang="en-US" altLang="zh-CN" sz="2000" b="1" dirty="0" err="1">
                <a:latin typeface="Times New Roman" panose="02020603050405020304" pitchFamily="18" charset="0"/>
                <a:cs typeface="Times New Roman" panose="02020603050405020304" pitchFamily="18" charset="0"/>
              </a:rPr>
              <a:t>Pyserial</a:t>
            </a:r>
            <a:endParaRPr lang="en-US" altLang="zh-CN" sz="2000" b="1" dirty="0" err="1">
              <a:latin typeface="Times New Roman" panose="02020603050405020304" pitchFamily="18" charset="0"/>
              <a:cs typeface="Times New Roman" panose="02020603050405020304"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PA-直接连接符 17"/>
          <p:cNvCxnSpPr/>
          <p:nvPr>
            <p:custDataLst>
              <p:tags r:id="rId1"/>
            </p:custDataLst>
          </p:nvPr>
        </p:nvCxnSpPr>
        <p:spPr>
          <a:xfrm>
            <a:off x="482600" y="698001"/>
            <a:ext cx="11307064" cy="0"/>
          </a:xfrm>
          <a:prstGeom prst="line">
            <a:avLst/>
          </a:prstGeom>
          <a:gradFill flip="none" rotWithShape="1">
            <a:gsLst>
              <a:gs pos="0">
                <a:srgbClr val="E6564F"/>
              </a:gs>
              <a:gs pos="70000">
                <a:srgbClr val="D12A22"/>
              </a:gs>
            </a:gsLst>
            <a:lin ang="5400000" scaled="1"/>
            <a:tileRect/>
          </a:gradFill>
          <a:ln w="19050" cap="flat" cmpd="sng" algn="ctr">
            <a:gradFill>
              <a:gsLst>
                <a:gs pos="30000">
                  <a:schemeClr val="accent1"/>
                </a:gs>
                <a:gs pos="100000">
                  <a:schemeClr val="accent6">
                    <a:lumMod val="0"/>
                    <a:lumOff val="100000"/>
                  </a:schemeClr>
                </a:gs>
              </a:gsLst>
              <a:lin ang="0" scaled="0"/>
            </a:gradFill>
            <a:prstDash val="solid"/>
            <a:miter lim="800000"/>
          </a:ln>
          <a:effectLst/>
        </p:spPr>
      </p:cxnSp>
      <p:pic>
        <p:nvPicPr>
          <p:cNvPr id="33" name="图片 3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182014" y="102721"/>
            <a:ext cx="1800318" cy="540096"/>
          </a:xfrm>
          <a:prstGeom prst="rect">
            <a:avLst/>
          </a:prstGeom>
        </p:spPr>
      </p:pic>
      <p:sp>
        <p:nvSpPr>
          <p:cNvPr id="2" name="文本框 40"/>
          <p:cNvSpPr txBox="1"/>
          <p:nvPr/>
        </p:nvSpPr>
        <p:spPr>
          <a:xfrm>
            <a:off x="284354" y="53953"/>
            <a:ext cx="1709909" cy="522605"/>
          </a:xfrm>
          <a:prstGeom prst="rect">
            <a:avLst/>
          </a:prstGeom>
          <a:noFill/>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34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Software</a:t>
            </a:r>
            <a:endParaRPr lang="en-US" altLang="zh-CN" sz="34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 name="文本框 2"/>
          <p:cNvSpPr txBox="1"/>
          <p:nvPr/>
        </p:nvSpPr>
        <p:spPr>
          <a:xfrm>
            <a:off x="521284" y="683105"/>
            <a:ext cx="11583629" cy="461665"/>
          </a:xfrm>
          <a:prstGeom prst="rect">
            <a:avLst/>
          </a:prstGeom>
          <a:noFill/>
        </p:spPr>
        <p:txBody>
          <a:bodyPr wrap="square">
            <a:spAutoFit/>
          </a:bodyPr>
          <a:lstStyle/>
          <a:p>
            <a:r>
              <a:rPr lang="en-US" altLang="zh-CN"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AGV upper computer software</a:t>
            </a:r>
            <a:endParaRPr lang="en-US" altLang="zh-CN"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4098"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4059390"/>
            <a:ext cx="5100200" cy="2799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文本框 18"/>
          <p:cNvSpPr txBox="1"/>
          <p:nvPr/>
        </p:nvSpPr>
        <p:spPr>
          <a:xfrm>
            <a:off x="1713166" y="1265598"/>
            <a:ext cx="6316137" cy="2031325"/>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We utilize its </a:t>
            </a:r>
            <a:r>
              <a:rPr lang="en-US" altLang="zh-CN" b="1" dirty="0">
                <a:latin typeface="Times New Roman" panose="02020603050405020304" pitchFamily="18" charset="0"/>
                <a:cs typeface="Times New Roman" panose="02020603050405020304" pitchFamily="18" charset="0"/>
              </a:rPr>
              <a:t>Joystick</a:t>
            </a:r>
            <a:r>
              <a:rPr lang="en-US" altLang="zh-CN" dirty="0">
                <a:latin typeface="Times New Roman" panose="02020603050405020304" pitchFamily="18" charset="0"/>
                <a:cs typeface="Times New Roman" panose="02020603050405020304" pitchFamily="18" charset="0"/>
              </a:rPr>
              <a:t> module to implement the input for the game controller, enabling the software to read and process most of the controllers available on the market, making the operation of the AGV more </a:t>
            </a:r>
            <a:r>
              <a:rPr lang="en-US" altLang="zh-CN" b="1" dirty="0">
                <a:latin typeface="Times New Roman" panose="02020603050405020304" pitchFamily="18" charset="0"/>
                <a:cs typeface="Times New Roman" panose="02020603050405020304" pitchFamily="18" charset="0"/>
              </a:rPr>
              <a:t>user-friendly</a:t>
            </a:r>
            <a:r>
              <a:rPr lang="en-US" altLang="zh-CN" dirty="0">
                <a:latin typeface="Times New Roman" panose="02020603050405020304" pitchFamily="18" charset="0"/>
                <a:cs typeface="Times New Roman" panose="02020603050405020304" pitchFamily="18" charset="0"/>
              </a:rPr>
              <a:t>. It also utilize its animation library to develop the </a:t>
            </a:r>
            <a:r>
              <a:rPr lang="en-US" altLang="zh-CN" b="1" dirty="0">
                <a:latin typeface="Times New Roman" panose="02020603050405020304" pitchFamily="18" charset="0"/>
                <a:cs typeface="Times New Roman" panose="02020603050405020304" pitchFamily="18" charset="0"/>
              </a:rPr>
              <a:t>visualization</a:t>
            </a:r>
            <a:r>
              <a:rPr lang="en-US" altLang="zh-CN" dirty="0">
                <a:latin typeface="Times New Roman" panose="02020603050405020304" pitchFamily="18" charset="0"/>
                <a:cs typeface="Times New Roman" panose="02020603050405020304" pitchFamily="18" charset="0"/>
              </a:rPr>
              <a:t> of the obstacle avoidance system and navigation system, making our software more aesthetically pleasing.</a:t>
            </a:r>
            <a:endParaRPr lang="zh-CN" altLang="en-US" dirty="0">
              <a:latin typeface="Times New Roman" panose="02020603050405020304" pitchFamily="18" charset="0"/>
              <a:cs typeface="Times New Roman" panose="02020603050405020304" pitchFamily="18" charset="0"/>
            </a:endParaRPr>
          </a:p>
        </p:txBody>
      </p:sp>
      <p:sp>
        <p:nvSpPr>
          <p:cNvPr id="21" name="文本框 20"/>
          <p:cNvSpPr txBox="1"/>
          <p:nvPr/>
        </p:nvSpPr>
        <p:spPr>
          <a:xfrm>
            <a:off x="6766560" y="4590339"/>
            <a:ext cx="5023104" cy="1754326"/>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We have utilize it to incorporate some </a:t>
            </a:r>
            <a:r>
              <a:rPr lang="en-US" altLang="zh-CN" b="1" dirty="0">
                <a:latin typeface="Times New Roman" panose="02020603050405020304" pitchFamily="18" charset="0"/>
                <a:cs typeface="Times New Roman" panose="02020603050405020304" pitchFamily="18" charset="0"/>
              </a:rPr>
              <a:t>AI </a:t>
            </a:r>
            <a:r>
              <a:rPr lang="en-US" altLang="zh-CN" dirty="0">
                <a:latin typeface="Times New Roman" panose="02020603050405020304" pitchFamily="18" charset="0"/>
                <a:cs typeface="Times New Roman" panose="02020603050405020304" pitchFamily="18" charset="0"/>
              </a:rPr>
              <a:t>models, such as </a:t>
            </a:r>
            <a:r>
              <a:rPr lang="en-US" altLang="zh-CN" b="1" dirty="0" err="1">
                <a:latin typeface="Times New Roman" panose="02020603050405020304" pitchFamily="18" charset="0"/>
                <a:cs typeface="Times New Roman" panose="02020603050405020304" pitchFamily="18" charset="0"/>
              </a:rPr>
              <a:t>ultralytics</a:t>
            </a:r>
            <a:r>
              <a:rPr lang="en-US" altLang="zh-CN" b="1" dirty="0">
                <a:latin typeface="Times New Roman" panose="02020603050405020304" pitchFamily="18" charset="0"/>
                <a:cs typeface="Times New Roman" panose="02020603050405020304" pitchFamily="18" charset="0"/>
              </a:rPr>
              <a:t>' YOLO26</a:t>
            </a:r>
            <a:r>
              <a:rPr lang="en-US" altLang="zh-CN" dirty="0">
                <a:latin typeface="Times New Roman" panose="02020603050405020304" pitchFamily="18" charset="0"/>
                <a:cs typeface="Times New Roman" panose="02020603050405020304" pitchFamily="18" charset="0"/>
              </a:rPr>
              <a:t>, enabling us to accomplish the task of </a:t>
            </a:r>
            <a:r>
              <a:rPr lang="en-US" altLang="zh-CN" b="1" dirty="0">
                <a:latin typeface="Times New Roman" panose="02020603050405020304" pitchFamily="18" charset="0"/>
                <a:cs typeface="Times New Roman" panose="02020603050405020304" pitchFamily="18" charset="0"/>
              </a:rPr>
              <a:t>object detection </a:t>
            </a:r>
            <a:r>
              <a:rPr lang="en-US" altLang="zh-CN" dirty="0">
                <a:latin typeface="Times New Roman" panose="02020603050405020304" pitchFamily="18" charset="0"/>
                <a:cs typeface="Times New Roman" panose="02020603050405020304" pitchFamily="18" charset="0"/>
              </a:rPr>
              <a:t>within the software. In the future, it could even be used as a </a:t>
            </a:r>
            <a:r>
              <a:rPr lang="en-US" altLang="zh-CN" b="1" dirty="0">
                <a:latin typeface="Times New Roman" panose="02020603050405020304" pitchFamily="18" charset="0"/>
                <a:cs typeface="Times New Roman" panose="02020603050405020304" pitchFamily="18" charset="0"/>
              </a:rPr>
              <a:t>embodied intelligence platform</a:t>
            </a:r>
            <a:r>
              <a:rPr lang="en-US" altLang="zh-CN" dirty="0">
                <a:latin typeface="Times New Roman" panose="02020603050405020304" pitchFamily="18" charset="0"/>
                <a:cs typeface="Times New Roman" panose="02020603050405020304" pitchFamily="18" charset="0"/>
              </a:rPr>
              <a:t>, further leveraging this module.</a:t>
            </a:r>
            <a:endParaRPr lang="zh-CN" altLang="en-US" dirty="0">
              <a:latin typeface="Times New Roman" panose="02020603050405020304" pitchFamily="18" charset="0"/>
              <a:cs typeface="Times New Roman" panose="02020603050405020304" pitchFamily="18" charset="0"/>
            </a:endParaRPr>
          </a:p>
        </p:txBody>
      </p:sp>
      <p:pic>
        <p:nvPicPr>
          <p:cNvPr id="22" name="Picture 4" descr="pygame - 2.0.0"/>
          <p:cNvPicPr>
            <a:picLocks noChangeAspect="1" noChangeArrowheads="1"/>
          </p:cNvPicPr>
          <p:nvPr/>
        </p:nvPicPr>
        <p:blipFill>
          <a:blip r:embed="rId4" cstate="print">
            <a:extLst>
              <a:ext uri="{BEBA8EAE-BF5A-486C-A8C5-ECC9F3942E4B}">
                <a14:imgProps xmlns:a14="http://schemas.microsoft.com/office/drawing/2010/main">
                  <a14:imgLayer r:embed="rId5">
                    <a14:imgEffect>
                      <a14:backgroundRemoval t="10000" b="90000" l="10000" r="90000">
                        <a14:foregroundMark x1="42000" y1="37778" x2="42667" y2="39778"/>
                        <a14:foregroundMark x1="52222" y1="36667" x2="42444" y2="27556"/>
                        <a14:foregroundMark x1="42444" y1="27556" x2="48000" y2="34222"/>
                        <a14:foregroundMark x1="66444" y1="37556" x2="62444" y2="32667"/>
                      </a14:backgroundRemoval>
                    </a14:imgEffect>
                  </a14:imgLayer>
                </a14:imgProps>
              </a:ext>
              <a:ext uri="{28A0092B-C50C-407E-A947-70E740481C1C}">
                <a14:useLocalDpi xmlns:a14="http://schemas.microsoft.com/office/drawing/2010/main" val="0"/>
              </a:ext>
            </a:extLst>
          </a:blip>
          <a:srcRect/>
          <a:stretch>
            <a:fillRect/>
          </a:stretch>
        </p:blipFill>
        <p:spPr bwMode="auto">
          <a:xfrm>
            <a:off x="521284" y="1735540"/>
            <a:ext cx="908038" cy="908038"/>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16" descr="Why PyTorch is the Deep Learning Framework of the Future"/>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472148" y="4536576"/>
            <a:ext cx="922464" cy="922464"/>
          </a:xfrm>
          <a:prstGeom prst="rect">
            <a:avLst/>
          </a:prstGeom>
          <a:noFill/>
          <a:extLst>
            <a:ext uri="{909E8E84-426E-40DD-AFC4-6F175D3DCCD1}">
              <a14:hiddenFill xmlns:a14="http://schemas.microsoft.com/office/drawing/2010/main">
                <a:solidFill>
                  <a:srgbClr val="FFFFFF"/>
                </a:solidFill>
              </a14:hiddenFill>
            </a:ext>
          </a:extLst>
        </p:spPr>
      </p:pic>
      <p:pic>
        <p:nvPicPr>
          <p:cNvPr id="6" name="图片 5"/>
          <p:cNvPicPr>
            <a:picLocks noChangeAspect="1"/>
          </p:cNvPicPr>
          <p:nvPr/>
        </p:nvPicPr>
        <p:blipFill>
          <a:blip r:embed="rId7"/>
          <a:stretch>
            <a:fillRect/>
          </a:stretch>
        </p:blipFill>
        <p:spPr>
          <a:xfrm>
            <a:off x="8029303" y="698001"/>
            <a:ext cx="3953029" cy="3157117"/>
          </a:xfrm>
          <a:prstGeom prst="rect">
            <a:avLst/>
          </a:prstGeom>
        </p:spPr>
      </p:pic>
      <p:pic>
        <p:nvPicPr>
          <p:cNvPr id="7" name="Picture 26" descr="ONNX export failure 0.1s unsupported ONNX opset version :17 (#10831 ..."/>
          <p:cNvPicPr>
            <a:picLocks noChangeAspect="1" noChangeArrowheads="1"/>
          </p:cNvPicPr>
          <p:nvPr/>
        </p:nvPicPr>
        <p:blipFill>
          <a:blip r:embed="rId8" cstate="print">
            <a:extLst>
              <a:ext uri="{BEBA8EAE-BF5A-486C-A8C5-ECC9F3942E4B}">
                <a14:imgProps xmlns:a14="http://schemas.microsoft.com/office/drawing/2010/main">
                  <a14:imgLayer r:embed="rId9">
                    <a14:imgEffect>
                      <a14:backgroundRemoval t="10000" b="90000" l="10000" r="90000">
                        <a14:foregroundMark x1="25391" y1="35840" x2="25391" y2="35840"/>
                      </a14:backgroundRemoval>
                    </a14:imgEffect>
                  </a14:imgLayer>
                </a14:imgProps>
              </a:ext>
              <a:ext uri="{28A0092B-C50C-407E-A947-70E740481C1C}">
                <a14:useLocalDpi xmlns:a14="http://schemas.microsoft.com/office/drawing/2010/main" val="0"/>
              </a:ext>
            </a:extLst>
          </a:blip>
          <a:srcRect/>
          <a:stretch>
            <a:fillRect/>
          </a:stretch>
        </p:blipFill>
        <p:spPr bwMode="auto">
          <a:xfrm>
            <a:off x="5436670" y="5467502"/>
            <a:ext cx="922465" cy="922465"/>
          </a:xfrm>
          <a:prstGeom prst="rect">
            <a:avLst/>
          </a:prstGeom>
          <a:noFill/>
          <a:extLst>
            <a:ext uri="{909E8E84-426E-40DD-AFC4-6F175D3DCCD1}">
              <a14:hiddenFill xmlns:a14="http://schemas.microsoft.com/office/drawing/2010/main">
                <a:solidFill>
                  <a:srgbClr val="FFFFFF"/>
                </a:solidFill>
              </a14:hiddenFill>
            </a:ext>
          </a:extLst>
        </p:spPr>
      </p:pic>
      <p:sp>
        <p:nvSpPr>
          <p:cNvPr id="8" name="文本框 7"/>
          <p:cNvSpPr txBox="1"/>
          <p:nvPr/>
        </p:nvSpPr>
        <p:spPr>
          <a:xfrm>
            <a:off x="521284" y="1339640"/>
            <a:ext cx="1036601" cy="400110"/>
          </a:xfrm>
          <a:prstGeom prst="rect">
            <a:avLst/>
          </a:prstGeom>
          <a:noFill/>
        </p:spPr>
        <p:txBody>
          <a:bodyPr wrap="square" rtlCol="0">
            <a:spAutoFit/>
          </a:bodyPr>
          <a:lstStyle/>
          <a:p>
            <a:pPr algn="ctr"/>
            <a:r>
              <a:rPr lang="en-US" altLang="zh-CN" sz="2000" b="1" dirty="0" err="1">
                <a:latin typeface="Times New Roman" panose="02020603050405020304" pitchFamily="18" charset="0"/>
                <a:cs typeface="Times New Roman" panose="02020603050405020304" pitchFamily="18" charset="0"/>
              </a:rPr>
              <a:t>Pygame</a:t>
            </a:r>
            <a:endParaRPr lang="en-US" altLang="zh-CN" sz="2000" b="1" dirty="0" err="1">
              <a:latin typeface="Times New Roman" panose="02020603050405020304" pitchFamily="18" charset="0"/>
              <a:cs typeface="Times New Roman" panose="02020603050405020304" pitchFamily="18" charset="0"/>
            </a:endParaRPr>
          </a:p>
        </p:txBody>
      </p:sp>
      <p:sp>
        <p:nvSpPr>
          <p:cNvPr id="9" name="文本框 8"/>
          <p:cNvSpPr txBox="1"/>
          <p:nvPr/>
        </p:nvSpPr>
        <p:spPr>
          <a:xfrm>
            <a:off x="5379720" y="4182110"/>
            <a:ext cx="1249680" cy="398780"/>
          </a:xfrm>
          <a:prstGeom prst="rect">
            <a:avLst/>
          </a:prstGeom>
          <a:noFill/>
        </p:spPr>
        <p:txBody>
          <a:bodyPr wrap="square" rtlCol="0">
            <a:spAutoFit/>
          </a:bodyPr>
          <a:lstStyle/>
          <a:p>
            <a:pPr algn="ctr"/>
            <a:r>
              <a:rPr lang="en-US" altLang="zh-CN" sz="2000" b="1" dirty="0" err="1">
                <a:latin typeface="Times New Roman" panose="02020603050405020304" pitchFamily="18" charset="0"/>
                <a:cs typeface="Times New Roman" panose="02020603050405020304" pitchFamily="18" charset="0"/>
              </a:rPr>
              <a:t>PyTorch</a:t>
            </a:r>
            <a:endParaRPr lang="en-US" altLang="zh-CN" sz="2000" b="1" dirty="0" err="1">
              <a:latin typeface="Times New Roman" panose="02020603050405020304" pitchFamily="18" charset="0"/>
              <a:cs typeface="Times New Roman" panose="02020603050405020304"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 name="图片 32"/>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182014" y="102721"/>
            <a:ext cx="1800318" cy="540096"/>
          </a:xfrm>
          <a:prstGeom prst="rect">
            <a:avLst/>
          </a:prstGeom>
        </p:spPr>
      </p:pic>
      <p:cxnSp>
        <p:nvCxnSpPr>
          <p:cNvPr id="26" name="PA-直接连接符 17"/>
          <p:cNvCxnSpPr/>
          <p:nvPr>
            <p:custDataLst>
              <p:tags r:id="rId2"/>
            </p:custDataLst>
          </p:nvPr>
        </p:nvCxnSpPr>
        <p:spPr>
          <a:xfrm>
            <a:off x="442468" y="580780"/>
            <a:ext cx="11307064" cy="0"/>
          </a:xfrm>
          <a:prstGeom prst="line">
            <a:avLst/>
          </a:prstGeom>
          <a:gradFill flip="none" rotWithShape="1">
            <a:gsLst>
              <a:gs pos="0">
                <a:srgbClr val="E6564F"/>
              </a:gs>
              <a:gs pos="70000">
                <a:srgbClr val="D12A22"/>
              </a:gs>
            </a:gsLst>
            <a:lin ang="5400000" scaled="1"/>
            <a:tileRect/>
          </a:gradFill>
          <a:ln w="19050" cap="flat" cmpd="sng" algn="ctr">
            <a:gradFill>
              <a:gsLst>
                <a:gs pos="30000">
                  <a:schemeClr val="accent1"/>
                </a:gs>
                <a:gs pos="100000">
                  <a:schemeClr val="accent6">
                    <a:lumMod val="0"/>
                    <a:lumOff val="100000"/>
                  </a:schemeClr>
                </a:gs>
              </a:gsLst>
              <a:lin ang="0" scaled="0"/>
            </a:gradFill>
            <a:prstDash val="solid"/>
            <a:miter lim="800000"/>
          </a:ln>
          <a:effectLst/>
        </p:spPr>
      </p:cxnSp>
      <p:cxnSp>
        <p:nvCxnSpPr>
          <p:cNvPr id="43" name="直接连接符 42"/>
          <p:cNvCxnSpPr/>
          <p:nvPr/>
        </p:nvCxnSpPr>
        <p:spPr>
          <a:xfrm flipH="1">
            <a:off x="11597" y="3640703"/>
            <a:ext cx="12178665" cy="127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4" name="文本框 3"/>
          <p:cNvSpPr txBox="1"/>
          <p:nvPr/>
        </p:nvSpPr>
        <p:spPr>
          <a:xfrm>
            <a:off x="389255" y="642620"/>
            <a:ext cx="6905625" cy="460375"/>
          </a:xfrm>
          <a:prstGeom prst="rect">
            <a:avLst/>
          </a:prstGeom>
          <a:noFill/>
        </p:spPr>
        <p:txBody>
          <a:bodyPr wrap="square" rtlCol="0">
            <a:spAutoFit/>
          </a:bodyPr>
          <a:lstStyle/>
          <a:p>
            <a:r>
              <a:rPr lang="en-US" altLang="zh-CN" sz="2400" b="1">
                <a:latin typeface="Times New Roman" panose="02020603050405020304" pitchFamily="18" charset="0"/>
                <a:cs typeface="Times New Roman" panose="02020603050405020304" pitchFamily="18" charset="0"/>
              </a:rPr>
              <a:t>Personal Task Assignment and Progress Schedule</a:t>
            </a:r>
            <a:endParaRPr lang="en-US" altLang="zh-CN" sz="2400" b="1">
              <a:latin typeface="Times New Roman" panose="02020603050405020304" pitchFamily="18" charset="0"/>
              <a:cs typeface="Times New Roman" panose="02020603050405020304" pitchFamily="18" charset="0"/>
            </a:endParaRPr>
          </a:p>
        </p:txBody>
      </p:sp>
      <p:graphicFrame>
        <p:nvGraphicFramePr>
          <p:cNvPr id="6" name="表格 5"/>
          <p:cNvGraphicFramePr/>
          <p:nvPr>
            <p:custDataLst>
              <p:tags r:id="rId3"/>
            </p:custDataLst>
          </p:nvPr>
        </p:nvGraphicFramePr>
        <p:xfrm>
          <a:off x="442595" y="1102995"/>
          <a:ext cx="10621010" cy="2406650"/>
        </p:xfrm>
        <a:graphic>
          <a:graphicData uri="http://schemas.openxmlformats.org/drawingml/2006/table">
            <a:tbl>
              <a:tblPr firstRow="1" bandRow="1">
                <a:tableStyleId>{5C22544A-7EE6-4342-B048-85BDC9FD1C3A}</a:tableStyleId>
              </a:tblPr>
              <a:tblGrid>
                <a:gridCol w="5287645"/>
                <a:gridCol w="5333365"/>
              </a:tblGrid>
              <a:tr h="550545">
                <a:tc>
                  <a:txBody>
                    <a:bodyPr/>
                    <a:lstStyle/>
                    <a:p>
                      <a:pPr algn="ctr">
                        <a:buNone/>
                      </a:pPr>
                      <a:r>
                        <a:rPr lang="en-US" altLang="zh-CN" sz="2000">
                          <a:latin typeface="Times New Roman" panose="02020603050405020304" pitchFamily="18" charset="0"/>
                          <a:cs typeface="Times New Roman" panose="02020603050405020304" pitchFamily="18" charset="0"/>
                        </a:rPr>
                        <a:t>Subtasks</a:t>
                      </a:r>
                      <a:endParaRPr lang="en-US" altLang="zh-CN" sz="2000">
                        <a:latin typeface="Times New Roman" panose="02020603050405020304" pitchFamily="18" charset="0"/>
                        <a:cs typeface="Times New Roman" panose="02020603050405020304" pitchFamily="18" charset="0"/>
                      </a:endParaRPr>
                    </a:p>
                  </a:txBody>
                  <a:tcPr anchor="ctr"/>
                </a:tc>
                <a:tc>
                  <a:txBody>
                    <a:bodyPr/>
                    <a:lstStyle/>
                    <a:p>
                      <a:pPr algn="ctr">
                        <a:buNone/>
                      </a:pPr>
                      <a:r>
                        <a:rPr lang="en-US" altLang="zh-CN" sz="2000">
                          <a:latin typeface="Times New Roman" panose="02020603050405020304" pitchFamily="18" charset="0"/>
                          <a:cs typeface="Times New Roman" panose="02020603050405020304" pitchFamily="18" charset="0"/>
                        </a:rPr>
                        <a:t>Specific Content</a:t>
                      </a:r>
                      <a:endParaRPr lang="en-US" altLang="zh-CN" sz="2000">
                        <a:latin typeface="Times New Roman" panose="02020603050405020304" pitchFamily="18" charset="0"/>
                        <a:cs typeface="Times New Roman" panose="02020603050405020304" pitchFamily="18" charset="0"/>
                      </a:endParaRPr>
                    </a:p>
                  </a:txBody>
                  <a:tcPr anchor="ctr"/>
                </a:tc>
              </a:tr>
              <a:tr h="550545">
                <a:tc>
                  <a:txBody>
                    <a:bodyPr/>
                    <a:lstStyle/>
                    <a:p>
                      <a:pPr>
                        <a:buNone/>
                      </a:pPr>
                      <a:r>
                        <a:rPr lang="en-US" altLang="zh-CN" sz="2000" dirty="0">
                          <a:latin typeface="Times New Roman" panose="02020603050405020304" pitchFamily="18" charset="0"/>
                          <a:cs typeface="Times New Roman" panose="02020603050405020304" pitchFamily="18" charset="0"/>
                        </a:rPr>
                        <a:t>5.1 Backend Design</a:t>
                      </a:r>
                      <a:endParaRPr lang="en-US" altLang="zh-CN" sz="2000" dirty="0">
                        <a:latin typeface="Times New Roman" panose="02020603050405020304" pitchFamily="18" charset="0"/>
                        <a:cs typeface="Times New Roman" panose="02020603050405020304" pitchFamily="18" charset="0"/>
                      </a:endParaRPr>
                    </a:p>
                  </a:txBody>
                  <a:tcPr anchor="ctr"/>
                </a:tc>
                <a:tc>
                  <a:txBody>
                    <a:bodyPr/>
                    <a:lstStyle/>
                    <a:p>
                      <a:pPr>
                        <a:buNone/>
                      </a:pPr>
                      <a:r>
                        <a:rPr lang="en-US" altLang="zh-CN" sz="1400" dirty="0">
                          <a:latin typeface="Times New Roman" panose="02020603050405020304" pitchFamily="18" charset="0"/>
                          <a:cs typeface="Times New Roman" panose="02020603050405020304" pitchFamily="18" charset="0"/>
                        </a:rPr>
                        <a:t>Develop various backend task modules, such as serial port communication, video stream retrieval, and each module adheres to the principle of low coupling.</a:t>
                      </a:r>
                      <a:endParaRPr lang="en-US" altLang="zh-CN" sz="1400" dirty="0">
                        <a:latin typeface="Times New Roman" panose="02020603050405020304" pitchFamily="18" charset="0"/>
                        <a:cs typeface="Times New Roman" panose="02020603050405020304" pitchFamily="18" charset="0"/>
                      </a:endParaRPr>
                    </a:p>
                  </a:txBody>
                  <a:tcPr anchor="ctr"/>
                </a:tc>
              </a:tr>
              <a:tr h="550545">
                <a:tc>
                  <a:txBody>
                    <a:bodyPr/>
                    <a:lstStyle/>
                    <a:p>
                      <a:pPr>
                        <a:buNone/>
                      </a:pPr>
                      <a:r>
                        <a:rPr lang="en-US" altLang="zh-CN" sz="2000" dirty="0">
                          <a:latin typeface="Times New Roman" panose="02020603050405020304" pitchFamily="18" charset="0"/>
                          <a:cs typeface="Times New Roman" panose="02020603050405020304" pitchFamily="18" charset="0"/>
                        </a:rPr>
                        <a:t>2.2 Backend Testing</a:t>
                      </a:r>
                      <a:endParaRPr lang="en-US" altLang="zh-CN" sz="2000" dirty="0">
                        <a:latin typeface="Times New Roman" panose="02020603050405020304" pitchFamily="18" charset="0"/>
                        <a:cs typeface="Times New Roman" panose="02020603050405020304" pitchFamily="18" charset="0"/>
                      </a:endParaRPr>
                    </a:p>
                  </a:txBody>
                  <a:tcPr anchor="ctr"/>
                </a:tc>
                <a:tc>
                  <a:txBody>
                    <a:bodyPr/>
                    <a:lstStyle/>
                    <a:p>
                      <a:pPr>
                        <a:buNone/>
                      </a:pPr>
                      <a:r>
                        <a:rPr lang="en-US" altLang="zh-CN" sz="1400" dirty="0">
                          <a:latin typeface="Times New Roman" panose="02020603050405020304" pitchFamily="18" charset="0"/>
                          <a:cs typeface="Times New Roman" panose="02020603050405020304" pitchFamily="18" charset="0"/>
                        </a:rPr>
                        <a:t>Test each module independently to ensure that there are no issues with the modules during the later system development process.</a:t>
                      </a:r>
                      <a:endParaRPr lang="en-US" altLang="zh-CN" sz="1400" dirty="0">
                        <a:latin typeface="Times New Roman" panose="02020603050405020304" pitchFamily="18" charset="0"/>
                        <a:cs typeface="Times New Roman" panose="02020603050405020304" pitchFamily="18" charset="0"/>
                      </a:endParaRPr>
                    </a:p>
                  </a:txBody>
                  <a:tcPr anchor="ctr"/>
                </a:tc>
              </a:tr>
              <a:tr h="574040">
                <a:tc>
                  <a:txBody>
                    <a:bodyPr/>
                    <a:lstStyle/>
                    <a:p>
                      <a:pPr>
                        <a:buNone/>
                      </a:pPr>
                      <a:r>
                        <a:rPr lang="en-US" altLang="zh-CN" sz="2000" dirty="0">
                          <a:latin typeface="Times New Roman" panose="02020603050405020304" pitchFamily="18" charset="0"/>
                          <a:cs typeface="Times New Roman" panose="02020603050405020304" pitchFamily="18" charset="0"/>
                        </a:rPr>
                        <a:t>2.3 Frontend Design</a:t>
                      </a:r>
                      <a:endParaRPr lang="en-US" altLang="zh-CN" sz="2000" dirty="0">
                        <a:latin typeface="Times New Roman" panose="02020603050405020304" pitchFamily="18" charset="0"/>
                        <a:cs typeface="Times New Roman" panose="02020603050405020304" pitchFamily="18" charset="0"/>
                      </a:endParaRPr>
                    </a:p>
                  </a:txBody>
                  <a:tcPr anchor="ctr"/>
                </a:tc>
                <a:tc>
                  <a:txBody>
                    <a:bodyPr/>
                    <a:lstStyle/>
                    <a:p>
                      <a:pPr>
                        <a:buNone/>
                      </a:pPr>
                      <a:r>
                        <a:rPr lang="en-US" altLang="zh-CN" sz="1400" dirty="0">
                          <a:latin typeface="Times New Roman" panose="02020603050405020304" pitchFamily="18" charset="0"/>
                          <a:cs typeface="Times New Roman" panose="02020603050405020304" pitchFamily="18" charset="0"/>
                        </a:rPr>
                        <a:t>Design the front-end GUI page, connect the back-end interface, and create a beautiful and elegant software.</a:t>
                      </a:r>
                      <a:endParaRPr lang="en-US" altLang="zh-CN" sz="1400" dirty="0">
                        <a:latin typeface="Times New Roman" panose="02020603050405020304" pitchFamily="18" charset="0"/>
                        <a:cs typeface="Times New Roman" panose="02020603050405020304" pitchFamily="18" charset="0"/>
                      </a:endParaRPr>
                    </a:p>
                  </a:txBody>
                  <a:tcPr anchor="ctr"/>
                </a:tc>
              </a:tr>
            </a:tbl>
          </a:graphicData>
        </a:graphic>
      </p:graphicFrame>
      <p:sp>
        <p:nvSpPr>
          <p:cNvPr id="9" name="文本框 8"/>
          <p:cNvSpPr txBox="1"/>
          <p:nvPr/>
        </p:nvSpPr>
        <p:spPr>
          <a:xfrm>
            <a:off x="4632960" y="3772535"/>
            <a:ext cx="2661920" cy="460375"/>
          </a:xfrm>
          <a:prstGeom prst="rect">
            <a:avLst/>
          </a:prstGeom>
          <a:noFill/>
        </p:spPr>
        <p:txBody>
          <a:bodyPr wrap="square" rtlCol="0">
            <a:spAutoFit/>
          </a:bodyPr>
          <a:lstStyle/>
          <a:p>
            <a:r>
              <a:rPr lang="en-US" altLang="zh-CN" sz="2400" b="1">
                <a:solidFill>
                  <a:srgbClr val="FF0000"/>
                </a:solidFill>
                <a:latin typeface="Times New Roman" panose="02020603050405020304" pitchFamily="18" charset="0"/>
                <a:cs typeface="Times New Roman" panose="02020603050405020304" pitchFamily="18" charset="0"/>
                <a:sym typeface="+mn-ea"/>
              </a:rPr>
              <a:t>Progress Schedule</a:t>
            </a:r>
            <a:endParaRPr lang="en-US" altLang="zh-CN" sz="2400" b="1">
              <a:solidFill>
                <a:srgbClr val="FF0000"/>
              </a:solidFill>
              <a:latin typeface="Times New Roman" panose="02020603050405020304" pitchFamily="18" charset="0"/>
              <a:cs typeface="Times New Roman" panose="02020603050405020304" pitchFamily="18" charset="0"/>
              <a:sym typeface="+mn-ea"/>
            </a:endParaRPr>
          </a:p>
        </p:txBody>
      </p:sp>
      <p:pic>
        <p:nvPicPr>
          <p:cNvPr id="2" name="图片 1"/>
          <p:cNvPicPr>
            <a:picLocks noChangeAspect="1"/>
          </p:cNvPicPr>
          <p:nvPr/>
        </p:nvPicPr>
        <p:blipFill>
          <a:blip r:embed="rId4"/>
          <a:stretch>
            <a:fillRect/>
          </a:stretch>
        </p:blipFill>
        <p:spPr>
          <a:xfrm>
            <a:off x="0" y="4378325"/>
            <a:ext cx="12183745" cy="2223135"/>
          </a:xfrm>
          <a:prstGeom prst="rect">
            <a:avLst/>
          </a:prstGeom>
        </p:spPr>
      </p:pic>
      <p:sp>
        <p:nvSpPr>
          <p:cNvPr id="5" name="文本框 40"/>
          <p:cNvSpPr txBox="1"/>
          <p:nvPr/>
        </p:nvSpPr>
        <p:spPr>
          <a:xfrm>
            <a:off x="284354" y="53953"/>
            <a:ext cx="1709909" cy="522605"/>
          </a:xfrm>
          <a:prstGeom prst="rect">
            <a:avLst/>
          </a:prstGeom>
          <a:noFill/>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34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Software</a:t>
            </a:r>
            <a:endParaRPr lang="en-US" altLang="zh-CN" sz="34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PA-直接连接符 17"/>
          <p:cNvCxnSpPr/>
          <p:nvPr>
            <p:custDataLst>
              <p:tags r:id="rId1"/>
            </p:custDataLst>
          </p:nvPr>
        </p:nvCxnSpPr>
        <p:spPr>
          <a:xfrm>
            <a:off x="482600" y="698001"/>
            <a:ext cx="11307064" cy="0"/>
          </a:xfrm>
          <a:prstGeom prst="line">
            <a:avLst/>
          </a:prstGeom>
          <a:gradFill flip="none" rotWithShape="1">
            <a:gsLst>
              <a:gs pos="0">
                <a:srgbClr val="E6564F"/>
              </a:gs>
              <a:gs pos="70000">
                <a:srgbClr val="D12A22"/>
              </a:gs>
            </a:gsLst>
            <a:lin ang="5400000" scaled="1"/>
            <a:tileRect/>
          </a:gradFill>
          <a:ln w="19050" cap="flat" cmpd="sng" algn="ctr">
            <a:gradFill>
              <a:gsLst>
                <a:gs pos="30000">
                  <a:schemeClr val="accent1"/>
                </a:gs>
                <a:gs pos="100000">
                  <a:schemeClr val="accent6">
                    <a:lumMod val="0"/>
                    <a:lumOff val="100000"/>
                  </a:schemeClr>
                </a:gs>
              </a:gsLst>
              <a:lin ang="0" scaled="0"/>
            </a:gradFill>
            <a:prstDash val="solid"/>
            <a:miter lim="800000"/>
          </a:ln>
          <a:effectLst/>
        </p:spPr>
      </p:cxnSp>
      <p:pic>
        <p:nvPicPr>
          <p:cNvPr id="33" name="图片 3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182014" y="102721"/>
            <a:ext cx="1800318" cy="540096"/>
          </a:xfrm>
          <a:prstGeom prst="rect">
            <a:avLst/>
          </a:prstGeom>
        </p:spPr>
      </p:pic>
      <p:sp>
        <p:nvSpPr>
          <p:cNvPr id="8" name="文本框 40"/>
          <p:cNvSpPr txBox="1"/>
          <p:nvPr/>
        </p:nvSpPr>
        <p:spPr>
          <a:xfrm>
            <a:off x="473351" y="149243"/>
            <a:ext cx="2459006" cy="523220"/>
          </a:xfrm>
          <a:prstGeom prst="rect">
            <a:avLst/>
          </a:prstGeom>
          <a:noFill/>
        </p:spPr>
        <p:txBody>
          <a:bodyPr wrap="non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pt-BR" altLang="zh-CN" sz="34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Budget Sheet</a:t>
            </a:r>
            <a:endParaRPr lang="zh-CN" altLang="en-US" sz="34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2" name="图片 1"/>
          <p:cNvPicPr>
            <a:picLocks noChangeAspect="1"/>
          </p:cNvPicPr>
          <p:nvPr/>
        </p:nvPicPr>
        <p:blipFill>
          <a:blip r:embed="rId3"/>
          <a:stretch>
            <a:fillRect/>
          </a:stretch>
        </p:blipFill>
        <p:spPr>
          <a:xfrm>
            <a:off x="143213" y="956787"/>
            <a:ext cx="11861062" cy="547256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图片 3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12560"/>
            <a:ext cx="12192000" cy="6832879"/>
          </a:xfrm>
          <a:prstGeom prst="rect">
            <a:avLst/>
          </a:prstGeom>
        </p:spPr>
      </p:pic>
      <p:pic>
        <p:nvPicPr>
          <p:cNvPr id="8" name="图片 7" descr="碗里面&#10;&#10;中度可信度描述已自动生成"/>
          <p:cNvPicPr>
            <a:picLocks noChangeAspect="1"/>
          </p:cNvPicPr>
          <p:nvPr/>
        </p:nvPicPr>
        <p:blipFill rotWithShape="1">
          <a:blip r:embed="rId2">
            <a:alphaModFix amt="20000"/>
            <a:extLst>
              <a:ext uri="{28A0092B-C50C-407E-A947-70E740481C1C}">
                <a14:useLocalDpi xmlns:a14="http://schemas.microsoft.com/office/drawing/2010/main" val="0"/>
              </a:ext>
            </a:extLst>
          </a:blip>
          <a:srcRect t="-1" b="36137"/>
          <a:stretch>
            <a:fillRect/>
          </a:stretch>
        </p:blipFill>
        <p:spPr>
          <a:xfrm>
            <a:off x="0" y="-1"/>
            <a:ext cx="12192000" cy="4949371"/>
          </a:xfrm>
          <a:prstGeom prst="rect">
            <a:avLst/>
          </a:prstGeom>
        </p:spPr>
      </p:pic>
      <p:sp>
        <p:nvSpPr>
          <p:cNvPr id="38" name="矩形 37"/>
          <p:cNvSpPr/>
          <p:nvPr/>
        </p:nvSpPr>
        <p:spPr>
          <a:xfrm>
            <a:off x="635" y="-22860"/>
            <a:ext cx="12192000" cy="6868160"/>
          </a:xfrm>
          <a:prstGeom prst="rect">
            <a:avLst/>
          </a:prstGeom>
          <a:gradFill>
            <a:gsLst>
              <a:gs pos="0">
                <a:schemeClr val="bg1">
                  <a:alpha val="85000"/>
                </a:schemeClr>
              </a:gs>
              <a:gs pos="47000">
                <a:schemeClr val="bg1"/>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2" name="Picture 8"/>
          <p:cNvPicPr>
            <a:picLocks noChangeAspect="1"/>
          </p:cNvPicPr>
          <p:nvPr/>
        </p:nvPicPr>
        <p:blipFill>
          <a:blip r:embed="rId3">
            <a:alphaModFix amt="79000"/>
          </a:blip>
          <a:stretch>
            <a:fillRect/>
          </a:stretch>
        </p:blipFill>
        <p:spPr>
          <a:xfrm rot="10800000" flipH="1">
            <a:off x="-26670" y="-22860"/>
            <a:ext cx="12212320" cy="4164965"/>
          </a:xfrm>
          <a:prstGeom prst="rect">
            <a:avLst/>
          </a:prstGeom>
        </p:spPr>
      </p:pic>
      <p:grpSp>
        <p:nvGrpSpPr>
          <p:cNvPr id="4" name="组合 3"/>
          <p:cNvGrpSpPr/>
          <p:nvPr/>
        </p:nvGrpSpPr>
        <p:grpSpPr>
          <a:xfrm>
            <a:off x="5715" y="612140"/>
            <a:ext cx="12192000" cy="828040"/>
            <a:chOff x="0" y="1645923"/>
            <a:chExt cx="12192000" cy="1649771"/>
          </a:xfrm>
        </p:grpSpPr>
        <p:pic>
          <p:nvPicPr>
            <p:cNvPr id="3" name="图片 2"/>
            <p:cNvPicPr>
              <a:picLocks noChangeAspect="1" noChangeArrowheads="1"/>
            </p:cNvPicPr>
            <p:nvPr/>
          </p:nvPicPr>
          <p:blipFill>
            <a:blip r:embed="rId4" cstate="print">
              <a:extLst>
                <a:ext uri="{28A0092B-C50C-407E-A947-70E740481C1C}">
                  <a14:useLocalDpi xmlns:a14="http://schemas.microsoft.com/office/drawing/2010/main" val="0"/>
                </a:ext>
              </a:extLst>
            </a:blip>
            <a:srcRect t="25972" b="41251"/>
            <a:stretch>
              <a:fillRect/>
            </a:stretch>
          </p:blipFill>
          <p:spPr bwMode="auto">
            <a:xfrm>
              <a:off x="0" y="1645923"/>
              <a:ext cx="12192000" cy="16497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文本框 5"/>
            <p:cNvSpPr txBox="1"/>
            <p:nvPr/>
          </p:nvSpPr>
          <p:spPr>
            <a:xfrm>
              <a:off x="1366520" y="1691643"/>
              <a:ext cx="9488805" cy="830997"/>
            </a:xfrm>
            <a:prstGeom prst="rect">
              <a:avLst/>
            </a:prstGeom>
            <a:noFill/>
          </p:spPr>
          <p:txBody>
            <a:bodyPr wrap="square">
              <a:spAutoFit/>
            </a:bodyPr>
            <a:lstStyle/>
            <a:p>
              <a:pPr lvl="0" algn="dist" defTabSz="457200">
                <a:defRPr/>
              </a:pPr>
              <a:endParaRPr kumimoji="0" lang="zh-CN" altLang="en-US" sz="4800" b="1" i="0" u="none" strike="noStrike" kern="0" cap="none" spc="300" normalizeH="0" baseline="0" noProof="0" dirty="0">
                <a:ln>
                  <a:noFill/>
                </a:ln>
                <a:solidFill>
                  <a:schemeClr val="bg1"/>
                </a:solidFill>
                <a:effectLst>
                  <a:outerShdw blurRad="50800" dist="25400" dir="5400000" algn="t" rotWithShape="0">
                    <a:srgbClr val="0B4FA1">
                      <a:lumMod val="50000"/>
                      <a:alpha val="15000"/>
                    </a:srgbClr>
                  </a:outerShdw>
                </a:effectLst>
                <a:uLnTx/>
                <a:uFillTx/>
                <a:latin typeface="微软雅黑" panose="020B0503020204020204" pitchFamily="34" charset="-122"/>
                <a:ea typeface="微软雅黑" panose="020B0503020204020204" pitchFamily="34" charset="-122"/>
              </a:endParaRPr>
            </a:p>
          </p:txBody>
        </p:sp>
      </p:grpSp>
      <p:sp>
        <p:nvSpPr>
          <p:cNvPr id="5" name="文本框 4"/>
          <p:cNvSpPr txBox="1"/>
          <p:nvPr/>
        </p:nvSpPr>
        <p:spPr>
          <a:xfrm>
            <a:off x="110405" y="634804"/>
            <a:ext cx="2541905" cy="768350"/>
          </a:xfrm>
          <a:prstGeom prst="rect">
            <a:avLst/>
          </a:prstGeom>
          <a:noFill/>
        </p:spPr>
        <p:txBody>
          <a:bodyPr wrap="none">
            <a:spAutoFit/>
          </a:bodyPr>
          <a:lstStyle/>
          <a:p>
            <a:pPr algn="ctr" defTabSz="457200"/>
            <a:r>
              <a:rPr lang="en-US" altLang="zh-CN" sz="4400" b="1" dirty="0">
                <a:solidFill>
                  <a:schemeClr val="bg1"/>
                </a:solidFill>
                <a:effectLst>
                  <a:outerShdw blurRad="88900" dist="25400" dir="5400000" algn="t" rotWithShape="0">
                    <a:srgbClr val="0B4FA1">
                      <a:lumMod val="50000"/>
                      <a:alpha val="10000"/>
                    </a:srgbClr>
                  </a:outerShdw>
                </a:effectLst>
                <a:latin typeface="Times New Roman" panose="02020603050405020304" pitchFamily="18" charset="0"/>
                <a:ea typeface="微软雅黑" panose="020B0503020204020204" pitchFamily="34" charset="-122"/>
                <a:cs typeface="Times New Roman" panose="02020603050405020304" pitchFamily="18" charset="0"/>
              </a:rPr>
              <a:t>Summary</a:t>
            </a:r>
            <a:endParaRPr lang="en-US" altLang="zh-CN" sz="4400" b="1" dirty="0">
              <a:solidFill>
                <a:schemeClr val="bg1"/>
              </a:solidFill>
              <a:effectLst>
                <a:outerShdw blurRad="88900" dist="25400" dir="5400000" algn="t" rotWithShape="0">
                  <a:srgbClr val="0B4FA1">
                    <a:lumMod val="50000"/>
                    <a:alpha val="10000"/>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0" name="矩形: 圆角 9"/>
          <p:cNvSpPr/>
          <p:nvPr/>
        </p:nvSpPr>
        <p:spPr>
          <a:xfrm>
            <a:off x="5715" y="1440180"/>
            <a:ext cx="12180570" cy="5405120"/>
          </a:xfrm>
          <a:prstGeom prst="roundRect">
            <a:avLst>
              <a:gd name="adj" fmla="val 0"/>
            </a:avLst>
          </a:prstGeom>
          <a:gradFill>
            <a:gsLst>
              <a:gs pos="0">
                <a:schemeClr val="accent1">
                  <a:alpha val="0"/>
                </a:schemeClr>
              </a:gs>
              <a:gs pos="100000">
                <a:schemeClr val="accent1">
                  <a:alpha val="15000"/>
                </a:schemeClr>
              </a:gs>
            </a:gsLst>
            <a:lin ang="10800000" scaled="0"/>
          </a:gra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dirty="0">
              <a:ln>
                <a:noFill/>
              </a:ln>
              <a:solidFill>
                <a:prstClr val="white"/>
              </a:solidFill>
              <a:effectLst/>
              <a:uLnTx/>
              <a:uFillTx/>
              <a:latin typeface="DIN"/>
              <a:ea typeface="思源黑体 CN Medium"/>
              <a:cs typeface="+mn-cs"/>
            </a:endParaRPr>
          </a:p>
        </p:txBody>
      </p:sp>
      <p:sp>
        <p:nvSpPr>
          <p:cNvPr id="2" name="文本框 13"/>
          <p:cNvSpPr txBox="1"/>
          <p:nvPr/>
        </p:nvSpPr>
        <p:spPr>
          <a:xfrm>
            <a:off x="196215" y="1842770"/>
            <a:ext cx="11786235" cy="4391660"/>
          </a:xfrm>
          <a:prstGeom prst="rect">
            <a:avLst/>
          </a:prstGeom>
          <a:noFill/>
        </p:spPr>
        <p:txBody>
          <a:bodyPr wrap="square">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indent="0" algn="l">
              <a:buFont typeface="+mj-lt"/>
              <a:buNone/>
              <a:defRPr/>
            </a:pPr>
            <a:r>
              <a:rPr kumimoji="0" lang="en-US" altLang="zh-CN" sz="2000" b="0" i="0" u="none" strike="noStrike" kern="0" cap="none" spc="0" normalizeH="0" baseline="0" noProof="0" dirty="0">
                <a:ln>
                  <a:noFill/>
                </a:ln>
                <a:solidFill>
                  <a:schemeClr val="accent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This project developed a modular Mecanum-wheeled tracking robot , with its core innovation lying in the high integration of hardware and software. Mechanically, independent suspensions effectively solve the Mecanum wheel vibration issue. For control, we designed a custom high-density motherboard and built low-level algorithms like cascade PID, kinematics, and multitasking scheduling from scratch. Software-wise, a Python-based GUI integrated with the YOLO model enables precise visual perception and obstacle avoidance. The entire system operates stably and is fully controllable.</a:t>
            </a:r>
            <a:endParaRPr kumimoji="0" lang="en-US" altLang="zh-CN" sz="2000" b="0" i="0" u="none" strike="noStrike" kern="0" cap="none" spc="0" normalizeH="0" baseline="0" noProof="0" dirty="0">
              <a:ln>
                <a:noFill/>
              </a:ln>
              <a:solidFill>
                <a:schemeClr val="accent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lvl="0" indent="0" algn="l">
              <a:buFont typeface="+mj-lt"/>
              <a:buNone/>
              <a:defRPr/>
            </a:pPr>
            <a:endParaRPr kumimoji="0" lang="en-US" altLang="zh-CN" sz="2000" b="0" i="0" u="none" strike="noStrike" kern="0" cap="none" spc="0" normalizeH="0" baseline="0" noProof="0" dirty="0">
              <a:ln>
                <a:noFill/>
              </a:ln>
              <a:solidFill>
                <a:schemeClr val="accent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lvl="0" indent="0" algn="l">
              <a:buFont typeface="+mj-lt"/>
              <a:buNone/>
              <a:defRPr/>
            </a:pPr>
            <a:r>
              <a:rPr kumimoji="0" lang="en-US" altLang="zh-CN" sz="2000" b="0" i="0" u="none" strike="noStrike" kern="0" cap="none" spc="0" normalizeH="0" baseline="0" noProof="0" dirty="0">
                <a:ln>
                  <a:noFill/>
                </a:ln>
                <a:solidFill>
                  <a:schemeClr val="accent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Looking ahead, we will further expand functions based on this stable platform. We plan to incorporate wireless communication modules to enable more flexible remote control.  Furthermore, we will introduce machine learning algorithms for automatic parameter tuning , ultimately upgrading the robot into a powerful embodied intelligence platform.</a:t>
            </a:r>
            <a:endParaRPr kumimoji="0" lang="en-US" altLang="zh-CN" sz="2000" b="0" i="0" u="none" strike="noStrike" kern="0" cap="none" spc="0" normalizeH="0" baseline="0" noProof="0" dirty="0">
              <a:ln>
                <a:noFill/>
              </a:ln>
              <a:solidFill>
                <a:schemeClr val="accent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27" name="图片 2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182014" y="102721"/>
            <a:ext cx="1800318" cy="540096"/>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图片 3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12560"/>
            <a:ext cx="12192000" cy="6832879"/>
          </a:xfrm>
          <a:prstGeom prst="rect">
            <a:avLst/>
          </a:prstGeom>
        </p:spPr>
      </p:pic>
      <p:pic>
        <p:nvPicPr>
          <p:cNvPr id="8" name="图片 7" descr="碗里面&#10;&#10;中度可信度描述已自动生成"/>
          <p:cNvPicPr>
            <a:picLocks noChangeAspect="1"/>
          </p:cNvPicPr>
          <p:nvPr/>
        </p:nvPicPr>
        <p:blipFill rotWithShape="1">
          <a:blip r:embed="rId2">
            <a:alphaModFix amt="20000"/>
            <a:extLst>
              <a:ext uri="{28A0092B-C50C-407E-A947-70E740481C1C}">
                <a14:useLocalDpi xmlns:a14="http://schemas.microsoft.com/office/drawing/2010/main" val="0"/>
              </a:ext>
            </a:extLst>
          </a:blip>
          <a:srcRect t="-1" b="36137"/>
          <a:stretch>
            <a:fillRect/>
          </a:stretch>
        </p:blipFill>
        <p:spPr>
          <a:xfrm>
            <a:off x="0" y="-1"/>
            <a:ext cx="12192000" cy="4949371"/>
          </a:xfrm>
          <a:prstGeom prst="rect">
            <a:avLst/>
          </a:prstGeom>
        </p:spPr>
      </p:pic>
      <p:sp>
        <p:nvSpPr>
          <p:cNvPr id="38" name="矩形 37"/>
          <p:cNvSpPr/>
          <p:nvPr/>
        </p:nvSpPr>
        <p:spPr>
          <a:xfrm>
            <a:off x="-6056" y="-1"/>
            <a:ext cx="12192000" cy="5561938"/>
          </a:xfrm>
          <a:prstGeom prst="rect">
            <a:avLst/>
          </a:prstGeom>
          <a:gradFill>
            <a:gsLst>
              <a:gs pos="0">
                <a:schemeClr val="bg1">
                  <a:alpha val="85000"/>
                </a:schemeClr>
              </a:gs>
              <a:gs pos="47000">
                <a:schemeClr val="bg1"/>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文本框 18"/>
          <p:cNvSpPr txBox="1"/>
          <p:nvPr/>
        </p:nvSpPr>
        <p:spPr>
          <a:xfrm>
            <a:off x="723375" y="5954017"/>
            <a:ext cx="10745250" cy="381002"/>
          </a:xfrm>
          <a:prstGeom prst="rect">
            <a:avLst/>
          </a:prstGeom>
          <a:noFill/>
        </p:spPr>
        <p:txBody>
          <a:bodyPr wrap="none">
            <a:spAutoFit/>
          </a:bodyPr>
          <a:lstStyle/>
          <a:p>
            <a:pPr algn="ctr">
              <a:lnSpc>
                <a:spcPct val="110000"/>
              </a:lnSpc>
              <a:defRPr/>
            </a:pPr>
            <a:r>
              <a:rPr lang="zh-CN" altLang="en-US" spc="300" dirty="0">
                <a:solidFill>
                  <a:schemeClr val="bg1"/>
                </a:solidFill>
                <a:latin typeface="思源黑体 CN Bold" panose="020B0800000000000000" pitchFamily="34" charset="-122"/>
                <a:ea typeface="思源黑体 CN Bold" panose="020B0800000000000000" pitchFamily="34" charset="-122"/>
              </a:rPr>
              <a:t>光电材料与器件物理技术研究所 </a:t>
            </a:r>
            <a:r>
              <a:rPr lang="en-US" altLang="zh-CN" spc="300" dirty="0">
                <a:solidFill>
                  <a:schemeClr val="bg1"/>
                </a:solidFill>
                <a:latin typeface="思源黑体 CN Bold" panose="020B0800000000000000" pitchFamily="34" charset="-122"/>
                <a:ea typeface="思源黑体 CN Bold" panose="020B0800000000000000" pitchFamily="34" charset="-122"/>
              </a:rPr>
              <a:t>I </a:t>
            </a:r>
            <a:r>
              <a:rPr lang="zh-CN" altLang="en-US" spc="300" dirty="0">
                <a:solidFill>
                  <a:schemeClr val="bg1"/>
                </a:solidFill>
                <a:latin typeface="思源黑体 CN Bold" panose="020B0800000000000000" pitchFamily="34" charset="-122"/>
                <a:ea typeface="思源黑体 CN Bold" panose="020B0800000000000000" pitchFamily="34" charset="-122"/>
              </a:rPr>
              <a:t>半导体物理学与材料研究中心 </a:t>
            </a:r>
            <a:r>
              <a:rPr lang="en-US" altLang="zh-CN" spc="300" dirty="0">
                <a:solidFill>
                  <a:schemeClr val="bg1"/>
                </a:solidFill>
                <a:latin typeface="思源黑体 CN Bold" panose="020B0800000000000000" pitchFamily="34" charset="-122"/>
                <a:ea typeface="思源黑体 CN Bold" panose="020B0800000000000000" pitchFamily="34" charset="-122"/>
              </a:rPr>
              <a:t>I </a:t>
            </a:r>
            <a:r>
              <a:rPr lang="zh-CN" altLang="en-US" spc="300" dirty="0">
                <a:solidFill>
                  <a:schemeClr val="bg1"/>
                </a:solidFill>
                <a:latin typeface="思源黑体 CN Bold" panose="020B0800000000000000" pitchFamily="34" charset="-122"/>
                <a:ea typeface="思源黑体 CN Bold" panose="020B0800000000000000" pitchFamily="34" charset="-122"/>
              </a:rPr>
              <a:t>计算机成像技术研究所</a:t>
            </a:r>
            <a:endParaRPr lang="zh-CN" altLang="en-US" spc="300" dirty="0">
              <a:solidFill>
                <a:schemeClr val="bg1"/>
              </a:solidFill>
              <a:latin typeface="思源黑体 CN Bold" panose="020B0800000000000000" pitchFamily="34" charset="-122"/>
              <a:ea typeface="思源黑体 CN Bold" panose="020B0800000000000000" pitchFamily="34" charset="-122"/>
            </a:endParaRPr>
          </a:p>
        </p:txBody>
      </p:sp>
      <p:pic>
        <p:nvPicPr>
          <p:cNvPr id="21" name="Picture 8"/>
          <p:cNvPicPr>
            <a:picLocks noChangeAspect="1"/>
          </p:cNvPicPr>
          <p:nvPr/>
        </p:nvPicPr>
        <p:blipFill>
          <a:blip r:embed="rId3">
            <a:alphaModFix amt="79000"/>
          </a:blip>
          <a:stretch>
            <a:fillRect/>
          </a:stretch>
        </p:blipFill>
        <p:spPr>
          <a:xfrm rot="10800000" flipH="1">
            <a:off x="-20442" y="0"/>
            <a:ext cx="12212442" cy="4032129"/>
          </a:xfrm>
          <a:prstGeom prst="rect">
            <a:avLst/>
          </a:prstGeom>
        </p:spPr>
      </p:pic>
      <p:sp>
        <p:nvSpPr>
          <p:cNvPr id="16" name="矩形 15"/>
          <p:cNvSpPr/>
          <p:nvPr/>
        </p:nvSpPr>
        <p:spPr>
          <a:xfrm>
            <a:off x="1698172" y="578052"/>
            <a:ext cx="8795657" cy="407364"/>
          </a:xfrm>
          <a:prstGeom prst="rect">
            <a:avLst/>
          </a:prstGeom>
          <a:gradFill>
            <a:gsLst>
              <a:gs pos="0">
                <a:sysClr val="window" lastClr="FFFFFF">
                  <a:alpha val="0"/>
                </a:sysClr>
              </a:gs>
              <a:gs pos="50000">
                <a:schemeClr val="bg2">
                  <a:alpha val="50000"/>
                </a:schemeClr>
              </a:gs>
              <a:gs pos="100000">
                <a:sysClr val="window" lastClr="FFFFFF">
                  <a:alpha val="0"/>
                </a:sysClr>
              </a:gs>
            </a:gsLst>
            <a:lin ang="10800000" scaled="0"/>
          </a:gradFill>
          <a:ln w="19050" cap="flat" cmpd="sng" algn="ctr">
            <a:noFill/>
            <a:prstDash val="solid"/>
            <a:miter lim="800000"/>
          </a:ln>
          <a:effectLst/>
        </p:spPr>
        <p:txBody>
          <a:bodyPr rtlCol="0" anchor="ctr"/>
          <a:lstStyle/>
          <a:p>
            <a:pPr algn="ctr"/>
            <a:endParaRPr lang="zh-CN" altLang="en-US" kern="0">
              <a:solidFill>
                <a:prstClr val="white"/>
              </a:solidFill>
              <a:latin typeface="DIN"/>
              <a:ea typeface="思源黑体 CN Medium"/>
            </a:endParaRPr>
          </a:p>
        </p:txBody>
      </p:sp>
      <p:sp>
        <p:nvSpPr>
          <p:cNvPr id="20" name="文本框 18"/>
          <p:cNvSpPr txBox="1"/>
          <p:nvPr/>
        </p:nvSpPr>
        <p:spPr>
          <a:xfrm>
            <a:off x="2302473" y="2400118"/>
            <a:ext cx="7917745" cy="942117"/>
          </a:xfrm>
          <a:prstGeom prst="rect">
            <a:avLst/>
          </a:prstGeom>
          <a:noFill/>
        </p:spPr>
        <p:txBody>
          <a:bodyPr wrap="none" lIns="0" tIns="0" rIns="0" bIns="0">
            <a:spAutoFit/>
          </a:bodyPr>
          <a:lstStyle>
            <a:defPPr>
              <a:defRPr lang="zh-CN"/>
            </a:defPPr>
            <a:lvl1pPr algn="ctr">
              <a:lnSpc>
                <a:spcPct val="110000"/>
              </a:lnSpc>
              <a:defRPr sz="7200">
                <a:gradFill flip="none" rotWithShape="1">
                  <a:gsLst>
                    <a:gs pos="0">
                      <a:schemeClr val="accent6"/>
                    </a:gs>
                    <a:gs pos="78000">
                      <a:schemeClr val="accent6">
                        <a:lumMod val="90000"/>
                        <a:lumOff val="10000"/>
                      </a:schemeClr>
                    </a:gs>
                  </a:gsLst>
                  <a:lin ang="16200000" scaled="1"/>
                  <a:tileRect/>
                </a:gradFill>
                <a:latin typeface="思源宋体 CN Heavy" panose="02020900000000000000" pitchFamily="18" charset="-122"/>
                <a:ea typeface="思源宋体 CN Heavy" panose="02020900000000000000" pitchFamily="18" charset="-122"/>
              </a:defRPr>
            </a:lvl1pPr>
          </a:lstStyle>
          <a:p>
            <a:pPr indent="0" fontAlgn="auto">
              <a:lnSpc>
                <a:spcPct val="110000"/>
              </a:lnSpc>
            </a:pPr>
            <a:r>
              <a:rPr lang="en-US" altLang="zh-CN" sz="60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Thank</a:t>
            </a:r>
            <a:r>
              <a:rPr lang="zh-CN" altLang="en-US" sz="60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60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you for watching</a:t>
            </a:r>
            <a:endParaRPr lang="zh-CN" altLang="en-US"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2" name="图片 1"/>
          <p:cNvPicPr>
            <a:picLocks noChangeAspect="1" noChangeArrowheads="1"/>
          </p:cNvPicPr>
          <p:nvPr/>
        </p:nvPicPr>
        <p:blipFill>
          <a:blip r:embed="rId4" cstate="print">
            <a:extLst>
              <a:ext uri="{28A0092B-C50C-407E-A947-70E740481C1C}">
                <a14:useLocalDpi xmlns:a14="http://schemas.microsoft.com/office/drawing/2010/main" val="0"/>
              </a:ext>
            </a:extLst>
          </a:blip>
          <a:srcRect t="25972" b="41251"/>
          <a:stretch>
            <a:fillRect/>
          </a:stretch>
        </p:blipFill>
        <p:spPr bwMode="auto">
          <a:xfrm>
            <a:off x="635" y="635"/>
            <a:ext cx="12191365" cy="20489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图片 2"/>
          <p:cNvPicPr>
            <a:picLocks noChangeAspect="1"/>
          </p:cNvPicPr>
          <p:nvPr/>
        </p:nvPicPr>
        <p:blipFill>
          <a:blip r:embed="rId1">
            <a:alphaModFix amt="7000"/>
            <a:extLst>
              <a:ext uri="{28A0092B-C50C-407E-A947-70E740481C1C}">
                <a14:useLocalDpi xmlns:a14="http://schemas.microsoft.com/office/drawing/2010/main" val="0"/>
              </a:ext>
            </a:extLst>
          </a:blip>
          <a:srcRect t="45854" b="25223"/>
          <a:stretch>
            <a:fillRect/>
          </a:stretch>
        </p:blipFill>
        <p:spPr>
          <a:xfrm>
            <a:off x="0" y="5364069"/>
            <a:ext cx="12192000" cy="1493930"/>
          </a:xfrm>
          <a:custGeom>
            <a:avLst/>
            <a:gdLst>
              <a:gd name="connsiteX0" fmla="*/ 0 w 12192000"/>
              <a:gd name="connsiteY0" fmla="*/ 0 h 2062264"/>
              <a:gd name="connsiteX1" fmla="*/ 2753633 w 12192000"/>
              <a:gd name="connsiteY1" fmla="*/ 0 h 2062264"/>
              <a:gd name="connsiteX2" fmla="*/ 2821872 w 12192000"/>
              <a:gd name="connsiteY2" fmla="*/ 258841 h 2062264"/>
              <a:gd name="connsiteX3" fmla="*/ 2856590 w 12192000"/>
              <a:gd name="connsiteY3" fmla="*/ 304466 h 2062264"/>
              <a:gd name="connsiteX4" fmla="*/ 2880681 w 12192000"/>
              <a:gd name="connsiteY4" fmla="*/ 312865 h 2062264"/>
              <a:gd name="connsiteX5" fmla="*/ 2889851 w 12192000"/>
              <a:gd name="connsiteY5" fmla="*/ 317648 h 2062264"/>
              <a:gd name="connsiteX6" fmla="*/ 2893978 w 12192000"/>
              <a:gd name="connsiteY6" fmla="*/ 317611 h 2062264"/>
              <a:gd name="connsiteX7" fmla="*/ 2894498 w 12192000"/>
              <a:gd name="connsiteY7" fmla="*/ 319783 h 2062264"/>
              <a:gd name="connsiteX8" fmla="*/ 9297503 w 12192000"/>
              <a:gd name="connsiteY8" fmla="*/ 319783 h 2062264"/>
              <a:gd name="connsiteX9" fmla="*/ 9298069 w 12192000"/>
              <a:gd name="connsiteY9" fmla="*/ 317419 h 2062264"/>
              <a:gd name="connsiteX10" fmla="*/ 9309925 w 12192000"/>
              <a:gd name="connsiteY10" fmla="*/ 318162 h 2062264"/>
              <a:gd name="connsiteX11" fmla="*/ 9311374 w 12192000"/>
              <a:gd name="connsiteY11" fmla="*/ 317503 h 2062264"/>
              <a:gd name="connsiteX12" fmla="*/ 9327611 w 12192000"/>
              <a:gd name="connsiteY12" fmla="*/ 317647 h 2062264"/>
              <a:gd name="connsiteX13" fmla="*/ 9386633 w 12192000"/>
              <a:gd name="connsiteY13" fmla="*/ 259566 h 2062264"/>
              <a:gd name="connsiteX14" fmla="*/ 9441438 w 12192000"/>
              <a:gd name="connsiteY14" fmla="*/ 0 h 2062264"/>
              <a:gd name="connsiteX15" fmla="*/ 12192000 w 12192000"/>
              <a:gd name="connsiteY15" fmla="*/ 0 h 2062264"/>
              <a:gd name="connsiteX16" fmla="*/ 12192000 w 12192000"/>
              <a:gd name="connsiteY16" fmla="*/ 2062264 h 2062264"/>
              <a:gd name="connsiteX17" fmla="*/ 0 w 12192000"/>
              <a:gd name="connsiteY17" fmla="*/ 2062264 h 2062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2000" h="2062264">
                <a:moveTo>
                  <a:pt x="0" y="0"/>
                </a:moveTo>
                <a:lnTo>
                  <a:pt x="2753633" y="0"/>
                </a:lnTo>
                <a:lnTo>
                  <a:pt x="2821872" y="258841"/>
                </a:lnTo>
                <a:cubicBezTo>
                  <a:pt x="2827146" y="278843"/>
                  <a:pt x="2840027" y="294814"/>
                  <a:pt x="2856590" y="304466"/>
                </a:cubicBezTo>
                <a:lnTo>
                  <a:pt x="2880681" y="312865"/>
                </a:lnTo>
                <a:lnTo>
                  <a:pt x="2889851" y="317648"/>
                </a:lnTo>
                <a:lnTo>
                  <a:pt x="2893978" y="317611"/>
                </a:lnTo>
                <a:lnTo>
                  <a:pt x="2894498" y="319783"/>
                </a:lnTo>
                <a:lnTo>
                  <a:pt x="9297503" y="319783"/>
                </a:lnTo>
                <a:lnTo>
                  <a:pt x="9298069" y="317419"/>
                </a:lnTo>
                <a:lnTo>
                  <a:pt x="9309925" y="318162"/>
                </a:lnTo>
                <a:lnTo>
                  <a:pt x="9311374" y="317503"/>
                </a:lnTo>
                <a:lnTo>
                  <a:pt x="9327611" y="317647"/>
                </a:lnTo>
                <a:cubicBezTo>
                  <a:pt x="9356266" y="312075"/>
                  <a:pt x="9380223" y="289925"/>
                  <a:pt x="9386633" y="259566"/>
                </a:cubicBezTo>
                <a:lnTo>
                  <a:pt x="9441438" y="0"/>
                </a:lnTo>
                <a:lnTo>
                  <a:pt x="12192000" y="0"/>
                </a:lnTo>
                <a:lnTo>
                  <a:pt x="12192000" y="2062264"/>
                </a:lnTo>
                <a:lnTo>
                  <a:pt x="0" y="2062264"/>
                </a:lnTo>
                <a:close/>
              </a:path>
            </a:pathLst>
          </a:custGeom>
          <a:solidFill>
            <a:schemeClr val="accent1"/>
          </a:solidFill>
        </p:spPr>
      </p:pic>
      <p:sp>
        <p:nvSpPr>
          <p:cNvPr id="31" name="文本框 13"/>
          <p:cNvSpPr txBox="1"/>
          <p:nvPr/>
        </p:nvSpPr>
        <p:spPr>
          <a:xfrm>
            <a:off x="4596448" y="770890"/>
            <a:ext cx="3554095" cy="525145"/>
          </a:xfrm>
          <a:prstGeom prst="rect">
            <a:avLst/>
          </a:prstGeom>
          <a:noFill/>
        </p:spPr>
        <p:txBody>
          <a:bodyPr wrap="square">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dirty="0">
              <a:ln>
                <a:noFill/>
              </a:ln>
              <a:solidFill>
                <a:schemeClr val="bg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 name="矩形: 圆角 3"/>
          <p:cNvSpPr/>
          <p:nvPr/>
        </p:nvSpPr>
        <p:spPr>
          <a:xfrm>
            <a:off x="5914356" y="3953971"/>
            <a:ext cx="2541783" cy="501045"/>
          </a:xfrm>
          <a:prstGeom prst="roundRect">
            <a:avLst>
              <a:gd name="adj" fmla="val 0"/>
            </a:avLst>
          </a:prstGeom>
          <a:gradFill>
            <a:gsLst>
              <a:gs pos="0">
                <a:schemeClr val="accent1">
                  <a:alpha val="0"/>
                </a:schemeClr>
              </a:gs>
              <a:gs pos="100000">
                <a:schemeClr val="accent1">
                  <a:alpha val="15000"/>
                </a:schemeClr>
              </a:gs>
            </a:gsLst>
            <a:lin ang="10800000" scaled="0"/>
          </a:gra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dirty="0">
              <a:ln>
                <a:noFill/>
              </a:ln>
              <a:solidFill>
                <a:prstClr val="white"/>
              </a:solidFill>
              <a:effectLst/>
              <a:uLnTx/>
              <a:uFillTx/>
              <a:latin typeface="DIN"/>
              <a:ea typeface="思源黑体 CN Medium"/>
              <a:cs typeface="+mn-cs"/>
            </a:endParaRPr>
          </a:p>
        </p:txBody>
      </p:sp>
      <p:sp>
        <p:nvSpPr>
          <p:cNvPr id="5" name="矩形: 圆角 4"/>
          <p:cNvSpPr/>
          <p:nvPr/>
        </p:nvSpPr>
        <p:spPr>
          <a:xfrm>
            <a:off x="4838544" y="3916536"/>
            <a:ext cx="1600598" cy="510957"/>
          </a:xfrm>
          <a:prstGeom prst="roundRect">
            <a:avLst>
              <a:gd name="adj" fmla="val 50000"/>
            </a:avLst>
          </a:prstGeom>
          <a:solidFill>
            <a:schemeClr val="accent1"/>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dirty="0">
              <a:ln>
                <a:noFill/>
              </a:ln>
              <a:solidFill>
                <a:srgbClr val="158BDB"/>
              </a:solidFill>
              <a:effectLst/>
              <a:uLnTx/>
              <a:uFillTx/>
              <a:latin typeface="DIN"/>
              <a:ea typeface="思源黑体 CN Medium"/>
              <a:cs typeface="+mn-cs"/>
            </a:endParaRPr>
          </a:p>
        </p:txBody>
      </p:sp>
      <p:sp>
        <p:nvSpPr>
          <p:cNvPr id="6" name="文本框 5"/>
          <p:cNvSpPr txBox="1"/>
          <p:nvPr/>
        </p:nvSpPr>
        <p:spPr>
          <a:xfrm>
            <a:off x="4937743" y="3920353"/>
            <a:ext cx="1402197" cy="460179"/>
          </a:xfrm>
          <a:prstGeom prst="rect">
            <a:avLst/>
          </a:prstGeom>
          <a:noFill/>
        </p:spPr>
        <p:txBody>
          <a:bodyPr wrap="none">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dirty="0">
                <a:ln>
                  <a:noFill/>
                </a:ln>
                <a:solidFill>
                  <a:prstClr val="white"/>
                </a:solidFill>
                <a:effectLst/>
                <a:uLnTx/>
                <a:uFillTx/>
                <a:latin typeface="思源黑体 CN Bold"/>
                <a:ea typeface="思源黑体 CN Bold"/>
              </a:rPr>
              <a:t>汇 报 人</a:t>
            </a:r>
            <a:endParaRPr kumimoji="0" lang="zh-CN" altLang="en-US" sz="2400" b="0" i="0" u="none" strike="noStrike" kern="0" cap="none" spc="0" normalizeH="0" baseline="0" noProof="0" dirty="0">
              <a:ln>
                <a:noFill/>
              </a:ln>
              <a:solidFill>
                <a:prstClr val="white"/>
              </a:solidFill>
              <a:effectLst/>
              <a:uLnTx/>
              <a:uFillTx/>
              <a:latin typeface="思源黑体 CN Bold"/>
              <a:ea typeface="思源黑体 CN Bold"/>
            </a:endParaRPr>
          </a:p>
        </p:txBody>
      </p:sp>
      <p:sp>
        <p:nvSpPr>
          <p:cNvPr id="12" name="文本框 11"/>
          <p:cNvSpPr txBox="1"/>
          <p:nvPr/>
        </p:nvSpPr>
        <p:spPr>
          <a:xfrm>
            <a:off x="6530069" y="3920989"/>
            <a:ext cx="1097280" cy="460375"/>
          </a:xfrm>
          <a:prstGeom prst="rect">
            <a:avLst/>
          </a:prstGeom>
          <a:noFill/>
        </p:spPr>
        <p:txBody>
          <a:bodyPr wrap="none">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dirty="0">
                <a:ln>
                  <a:noFill/>
                </a:ln>
                <a:solidFill>
                  <a:schemeClr val="accent1"/>
                </a:solidFill>
                <a:effectLst/>
                <a:uLnTx/>
                <a:uFillTx/>
                <a:latin typeface="思源黑体 CN Bold"/>
                <a:ea typeface="思源黑体 CN Bold"/>
              </a:rPr>
              <a:t>姚康</a:t>
            </a:r>
            <a:r>
              <a:rPr kumimoji="0" lang="zh-CN" altLang="en-US" sz="2400" b="0" i="0" u="none" strike="noStrike" kern="0" cap="none" spc="0" normalizeH="0" baseline="0" noProof="0" dirty="0">
                <a:ln>
                  <a:noFill/>
                </a:ln>
                <a:solidFill>
                  <a:schemeClr val="accent1"/>
                </a:solidFill>
                <a:effectLst/>
                <a:uLnTx/>
                <a:uFillTx/>
                <a:latin typeface="思源黑体 CN Bold"/>
                <a:ea typeface="思源黑体 CN Bold"/>
              </a:rPr>
              <a:t>晨</a:t>
            </a:r>
            <a:endParaRPr kumimoji="0" lang="zh-CN" altLang="en-US" sz="2400" b="0" i="0" u="none" strike="noStrike" kern="0" cap="none" spc="0" normalizeH="0" baseline="0" noProof="0" dirty="0">
              <a:ln>
                <a:noFill/>
              </a:ln>
              <a:solidFill>
                <a:schemeClr val="accent1"/>
              </a:solidFill>
              <a:effectLst/>
              <a:uLnTx/>
              <a:uFillTx/>
              <a:latin typeface="思源黑体 CN Bold"/>
              <a:ea typeface="思源黑体 CN Bold"/>
            </a:endParaRPr>
          </a:p>
        </p:txBody>
      </p:sp>
      <p:sp>
        <p:nvSpPr>
          <p:cNvPr id="29" name="矩形: 圆角 28"/>
          <p:cNvSpPr/>
          <p:nvPr/>
        </p:nvSpPr>
        <p:spPr>
          <a:xfrm>
            <a:off x="4828384" y="4589911"/>
            <a:ext cx="1600835" cy="511175"/>
          </a:xfrm>
          <a:prstGeom prst="roundRect">
            <a:avLst>
              <a:gd name="adj" fmla="val 50000"/>
            </a:avLst>
          </a:prstGeom>
          <a:solidFill>
            <a:schemeClr val="accent1"/>
          </a:solidFill>
          <a:ln w="19050" cap="flat" cmpd="sng" algn="ctr">
            <a:noFill/>
            <a:prstDash val="solid"/>
            <a:miter lim="800000"/>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dirty="0">
              <a:ln>
                <a:noFill/>
              </a:ln>
              <a:solidFill>
                <a:srgbClr val="158BDB"/>
              </a:solidFill>
              <a:effectLst/>
              <a:uLnTx/>
              <a:uFillTx/>
              <a:latin typeface="DIN"/>
              <a:ea typeface="思源黑体 CN Medium"/>
              <a:cs typeface="+mn-cs"/>
            </a:endParaRPr>
          </a:p>
        </p:txBody>
      </p:sp>
      <p:sp>
        <p:nvSpPr>
          <p:cNvPr id="32" name="矩形: 圆角 31"/>
          <p:cNvSpPr/>
          <p:nvPr/>
        </p:nvSpPr>
        <p:spPr>
          <a:xfrm>
            <a:off x="6071416" y="4602229"/>
            <a:ext cx="2541905" cy="501015"/>
          </a:xfrm>
          <a:prstGeom prst="roundRect">
            <a:avLst>
              <a:gd name="adj" fmla="val 0"/>
            </a:avLst>
          </a:prstGeom>
          <a:gradFill>
            <a:gsLst>
              <a:gs pos="0">
                <a:schemeClr val="accent1">
                  <a:alpha val="0"/>
                </a:schemeClr>
              </a:gs>
              <a:gs pos="100000">
                <a:schemeClr val="accent1">
                  <a:alpha val="15000"/>
                </a:schemeClr>
              </a:gs>
            </a:gsLst>
            <a:lin ang="10800000" scaled="0"/>
          </a:gradFill>
          <a:ln w="19050" cap="flat" cmpd="sng" algn="ctr">
            <a:noFill/>
            <a:prstDash val="solid"/>
            <a:miter lim="800000"/>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dirty="0">
              <a:ln>
                <a:noFill/>
              </a:ln>
              <a:solidFill>
                <a:prstClr val="white"/>
              </a:solidFill>
              <a:effectLst/>
              <a:uLnTx/>
              <a:uFillTx/>
              <a:latin typeface="DIN"/>
              <a:ea typeface="思源黑体 CN Medium"/>
              <a:cs typeface="+mn-cs"/>
            </a:endParaRPr>
          </a:p>
        </p:txBody>
      </p:sp>
      <p:sp>
        <p:nvSpPr>
          <p:cNvPr id="30" name="文本框 12"/>
          <p:cNvSpPr txBox="1"/>
          <p:nvPr/>
        </p:nvSpPr>
        <p:spPr>
          <a:xfrm>
            <a:off x="4921232" y="4593721"/>
            <a:ext cx="1415772" cy="830997"/>
          </a:xfrm>
          <a:prstGeom prst="rect">
            <a:avLst/>
          </a:prstGeom>
          <a:noFill/>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zh-CN" altLang="en-US" sz="2400" kern="0" dirty="0">
                <a:solidFill>
                  <a:prstClr val="white"/>
                </a:solidFill>
                <a:latin typeface="思源黑体 CN Bold"/>
                <a:ea typeface="思源黑体 CN Bold"/>
              </a:rPr>
              <a:t>汇报日期</a:t>
            </a:r>
            <a:endParaRPr lang="zh-CN" altLang="en-US" sz="2400" kern="0" dirty="0">
              <a:solidFill>
                <a:prstClr val="white"/>
              </a:solidFill>
              <a:latin typeface="思源黑体 CN Bold"/>
              <a:ea typeface="思源黑体 CN Bold"/>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dirty="0">
              <a:ln>
                <a:noFill/>
              </a:ln>
              <a:solidFill>
                <a:prstClr val="white"/>
              </a:solidFill>
              <a:effectLst/>
              <a:uLnTx/>
              <a:uFillTx/>
              <a:latin typeface="思源黑体 CN Bold"/>
              <a:ea typeface="思源黑体 CN Bold"/>
            </a:endParaRPr>
          </a:p>
        </p:txBody>
      </p:sp>
      <p:sp>
        <p:nvSpPr>
          <p:cNvPr id="7" name="文本框 6"/>
          <p:cNvSpPr txBox="1"/>
          <p:nvPr/>
        </p:nvSpPr>
        <p:spPr>
          <a:xfrm>
            <a:off x="192405" y="288925"/>
            <a:ext cx="11747500" cy="2122805"/>
          </a:xfrm>
          <a:prstGeom prst="rect">
            <a:avLst/>
          </a:prstGeom>
          <a:noFill/>
        </p:spPr>
        <p:txBody>
          <a:bodyPr wrap="square">
            <a:spAutoFit/>
          </a:bodyPr>
          <a:lstStyle/>
          <a:p>
            <a:pPr algn="ctr" defTabSz="457200"/>
            <a:r>
              <a:rPr lang="en-US" altLang="zh-CN" sz="4400" b="1" dirty="0">
                <a:solidFill>
                  <a:schemeClr val="bg1"/>
                </a:solidFill>
                <a:effectLst>
                  <a:outerShdw blurRad="88900" dist="25400" dir="5400000" algn="t" rotWithShape="0">
                    <a:srgbClr val="0B4FA1">
                      <a:lumMod val="50000"/>
                      <a:alpha val="10000"/>
                    </a:srgbClr>
                  </a:outerShdw>
                </a:effectLst>
                <a:latin typeface="Times New Roman" panose="02020603050405020304" pitchFamily="18" charset="0"/>
                <a:ea typeface="微软雅黑" panose="020B0503020204020204" pitchFamily="34" charset="-122"/>
                <a:cs typeface="Times New Roman" panose="02020603050405020304" pitchFamily="18" charset="0"/>
                <a:sym typeface="+mn-ea"/>
              </a:rPr>
              <a:t>Mecanum-wheeled Autonomous Tracking Robot</a:t>
            </a:r>
            <a:endParaRPr lang="en-US" altLang="zh-CN" sz="4400" b="1" dirty="0">
              <a:solidFill>
                <a:schemeClr val="bg1"/>
              </a:solidFill>
              <a:effectLst>
                <a:outerShdw blurRad="88900" dist="25400" dir="5400000" algn="t" rotWithShape="0">
                  <a:srgbClr val="0B4FA1">
                    <a:lumMod val="50000"/>
                    <a:alpha val="10000"/>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algn="ctr" defTabSz="457200"/>
            <a:r>
              <a:rPr lang="en-US" altLang="zh-CN" sz="4400" b="1" dirty="0">
                <a:solidFill>
                  <a:schemeClr val="bg1"/>
                </a:solidFill>
                <a:effectLst>
                  <a:outerShdw blurRad="88900" dist="25400" dir="5400000" algn="t" rotWithShape="0">
                    <a:srgbClr val="0B4FA1">
                      <a:lumMod val="50000"/>
                      <a:alpha val="10000"/>
                    </a:srgbClr>
                  </a:outerShdw>
                </a:effectLst>
                <a:latin typeface="Times New Roman" panose="02020603050405020304" pitchFamily="18" charset="0"/>
                <a:ea typeface="微软雅黑" panose="020B0503020204020204" pitchFamily="34" charset="-122"/>
                <a:cs typeface="Times New Roman" panose="02020603050405020304" pitchFamily="18" charset="0"/>
                <a:sym typeface="+mn-ea"/>
              </a:rPr>
              <a:t>Thesis Proposal</a:t>
            </a:r>
            <a:endParaRPr lang="en-US" altLang="zh-CN" sz="4400" b="1" dirty="0">
              <a:solidFill>
                <a:schemeClr val="bg1"/>
              </a:solidFill>
              <a:effectLst>
                <a:outerShdw blurRad="88900" dist="25400" dir="5400000" algn="t" rotWithShape="0">
                  <a:srgbClr val="0B4FA1">
                    <a:lumMod val="50000"/>
                    <a:alpha val="10000"/>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algn="ctr" defTabSz="457200"/>
            <a:endParaRPr lang="zh-CN" altLang="en-US" sz="4400" b="1" dirty="0">
              <a:solidFill>
                <a:schemeClr val="bg1"/>
              </a:solidFill>
              <a:effectLst>
                <a:outerShdw blurRad="88900" dist="25400" dir="5400000" algn="t" rotWithShape="0">
                  <a:srgbClr val="0B4FA1">
                    <a:lumMod val="50000"/>
                    <a:alpha val="10000"/>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文本框 13"/>
          <p:cNvSpPr txBox="1"/>
          <p:nvPr/>
        </p:nvSpPr>
        <p:spPr>
          <a:xfrm>
            <a:off x="6047106" y="4602229"/>
            <a:ext cx="2453005" cy="460375"/>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r>
              <a:rPr lang="en-US" altLang="zh-CN" sz="2400" kern="0" dirty="0">
                <a:solidFill>
                  <a:schemeClr val="accent1"/>
                </a:solidFill>
                <a:latin typeface="思源黑体 CN Bold"/>
                <a:ea typeface="思源黑体 CN Bold"/>
              </a:rPr>
              <a:t>2026.3.14</a:t>
            </a:r>
            <a:endParaRPr kumimoji="0" lang="en-US" altLang="zh-CN" sz="2400" b="0" i="0" u="none" strike="noStrike" kern="0" cap="none" spc="0" normalizeH="0" baseline="0" noProof="0" dirty="0">
              <a:ln>
                <a:noFill/>
              </a:ln>
              <a:solidFill>
                <a:schemeClr val="accent1"/>
              </a:solidFill>
              <a:effectLst/>
              <a:uLnTx/>
              <a:uFillTx/>
              <a:latin typeface="思源黑体 CN Bold"/>
              <a:ea typeface="思源黑体 CN Bold"/>
            </a:endParaRPr>
          </a:p>
        </p:txBody>
      </p:sp>
      <p:sp>
        <p:nvSpPr>
          <p:cNvPr id="10" name="文本框 9"/>
          <p:cNvSpPr txBox="1"/>
          <p:nvPr/>
        </p:nvSpPr>
        <p:spPr>
          <a:xfrm>
            <a:off x="0" y="5979795"/>
            <a:ext cx="12192000" cy="565150"/>
          </a:xfrm>
          <a:prstGeom prst="rect">
            <a:avLst/>
          </a:prstGeom>
          <a:noFill/>
        </p:spPr>
        <p:txBody>
          <a:bodyPr wrap="square">
            <a:spAutoFit/>
          </a:bodyPr>
          <a:lstStyle/>
          <a:p>
            <a:pPr algn="ctr">
              <a:lnSpc>
                <a:spcPct val="110000"/>
              </a:lnSpc>
              <a:defRPr/>
            </a:pPr>
            <a:r>
              <a:rPr lang="en-US" altLang="zh-CN" sz="2800" b="1" spc="3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Trace</a:t>
            </a:r>
            <a:r>
              <a:rPr lang="zh-CN" altLang="en-US" sz="2800" b="1" spc="3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800" b="1" spc="3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Rover</a:t>
            </a:r>
            <a:r>
              <a:rPr lang="zh-CN" altLang="en-US" sz="2800" b="1" spc="3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800" b="1" spc="3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Team</a:t>
            </a:r>
            <a:endParaRPr lang="zh-CN" altLang="en-US" sz="2800" b="1" spc="3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sld>
</file>

<file path=ppt/tags/tag1.xml><?xml version="1.0" encoding="utf-8"?>
<p:tagLst xmlns:p="http://schemas.openxmlformats.org/presentationml/2006/main">
  <p:tag name="PA" val="v5.2.11"/>
</p:tagLst>
</file>

<file path=ppt/tags/tag2.xml><?xml version="1.0" encoding="utf-8"?>
<p:tagLst xmlns:p="http://schemas.openxmlformats.org/presentationml/2006/main">
  <p:tag name="PA" val="v5.2.11"/>
</p:tagLst>
</file>

<file path=ppt/tags/tag3.xml><?xml version="1.0" encoding="utf-8"?>
<p:tagLst xmlns:p="http://schemas.openxmlformats.org/presentationml/2006/main">
  <p:tag name="PA" val="v5.2.11"/>
</p:tagLst>
</file>

<file path=ppt/tags/tag4.xml><?xml version="1.0" encoding="utf-8"?>
<p:tagLst xmlns:p="http://schemas.openxmlformats.org/presentationml/2006/main">
  <p:tag name="PA" val="v5.2.11"/>
</p:tagLst>
</file>

<file path=ppt/tags/tag5.xml><?xml version="1.0" encoding="utf-8"?>
<p:tagLst xmlns:p="http://schemas.openxmlformats.org/presentationml/2006/main">
  <p:tag name="PA" val="v5.2.11"/>
</p:tagLst>
</file>

<file path=ppt/tags/tag6.xml><?xml version="1.0" encoding="utf-8"?>
<p:tagLst xmlns:p="http://schemas.openxmlformats.org/presentationml/2006/main">
  <p:tag name="PA" val="v5.2.11"/>
</p:tagLst>
</file>

<file path=ppt/tags/tag7.xml><?xml version="1.0" encoding="utf-8"?>
<p:tagLst xmlns:p="http://schemas.openxmlformats.org/presentationml/2006/main">
  <p:tag name="KSO_WM_DIAGRAM_VIRTUALLY_FRAME" val="{&quot;height&quot;:333.55,&quot;left&quot;:120.35,&quot;top&quot;:45.65,&quot;width&quot;:862.55}"/>
</p:tagLst>
</file>

<file path=ppt/tags/tag8.xml><?xml version="1.0" encoding="utf-8"?>
<p:tagLst xmlns:p="http://schemas.openxmlformats.org/presentationml/2006/main">
  <p:tag name="PA" val="v5.2.11"/>
</p:tagLst>
</file>

<file path=ppt/tags/tag9.xml><?xml version="1.0" encoding="utf-8"?>
<p:tagLst xmlns:p="http://schemas.openxmlformats.org/presentationml/2006/main">
  <p:tag name="TABLE_ENDDRAG_ORIGIN_RECT" val="836*173"/>
  <p:tag name="TABLE_ENDDRAG_RECT" val="34*101*836*173"/>
</p:tagLst>
</file>

<file path=ppt/tags/tag10.xml><?xml version="1.0" encoding="utf-8"?>
<p:tagLst xmlns:p="http://schemas.openxmlformats.org/presentationml/2006/main">
  <p:tag name="PA" val="v5.2.11"/>
</p:tagLst>
</file>

<file path=ppt/tags/tag11.xml><?xml version="1.0" encoding="utf-8"?>
<p:tagLst xmlns:p="http://schemas.openxmlformats.org/presentationml/2006/main">
  <p:tag name="PA" val="v5.2.11"/>
</p:tagLst>
</file>

<file path=ppt/tags/tag12.xml><?xml version="1.0" encoding="utf-8"?>
<p:tagLst xmlns:p="http://schemas.openxmlformats.org/presentationml/2006/main">
  <p:tag name="PA" val="v5.2.11"/>
</p:tagLst>
</file>

<file path=ppt/tags/tag13.xml><?xml version="1.0" encoding="utf-8"?>
<p:tagLst xmlns:p="http://schemas.openxmlformats.org/presentationml/2006/main">
  <p:tag name="PA" val="v5.2.11"/>
</p:tagLst>
</file>

<file path=ppt/tags/tag14.xml><?xml version="1.0" encoding="utf-8"?>
<p:tagLst xmlns:p="http://schemas.openxmlformats.org/presentationml/2006/main">
  <p:tag name="PA" val="v5.2.11"/>
</p:tagLst>
</file>

<file path=ppt/tags/tag15.xml><?xml version="1.0" encoding="utf-8"?>
<p:tagLst xmlns:p="http://schemas.openxmlformats.org/presentationml/2006/main">
  <p:tag name="TABLE_ENDDRAG_ORIGIN_RECT" val="836*173"/>
  <p:tag name="TABLE_ENDDRAG_RECT" val="34*101*836*173"/>
</p:tagLst>
</file>

<file path=ppt/tags/tag16.xml><?xml version="1.0" encoding="utf-8"?>
<p:tagLst xmlns:p="http://schemas.openxmlformats.org/presentationml/2006/main">
  <p:tag name="PA" val="v5.2.11"/>
</p:tagLst>
</file>

<file path=ppt/tags/tag17.xml><?xml version="1.0" encoding="utf-8"?>
<p:tagLst xmlns:p="http://schemas.openxmlformats.org/presentationml/2006/main">
  <p:tag name="PA" val="v5.2.11"/>
</p:tagLst>
</file>

<file path=ppt/tags/tag18.xml><?xml version="1.0" encoding="utf-8"?>
<p:tagLst xmlns:p="http://schemas.openxmlformats.org/presentationml/2006/main">
  <p:tag name="PA" val="v5.2.11"/>
</p:tagLst>
</file>

<file path=ppt/tags/tag19.xml><?xml version="1.0" encoding="utf-8"?>
<p:tagLst xmlns:p="http://schemas.openxmlformats.org/presentationml/2006/main">
  <p:tag name="PA" val="v5.2.11"/>
</p:tagLst>
</file>

<file path=ppt/tags/tag20.xml><?xml version="1.0" encoding="utf-8"?>
<p:tagLst xmlns:p="http://schemas.openxmlformats.org/presentationml/2006/main">
  <p:tag name="TABLE_ENDDRAG_ORIGIN_RECT" val="836*173"/>
  <p:tag name="TABLE_ENDDRAG_RECT" val="34*101*836*173"/>
</p:tagLst>
</file>

<file path=ppt/tags/tag21.xml><?xml version="1.0" encoding="utf-8"?>
<p:tagLst xmlns:p="http://schemas.openxmlformats.org/presentationml/2006/main">
  <p:tag name="PA" val="v5.2.11"/>
</p:tagLst>
</file>

<file path=ppt/tags/tag22.xml><?xml version="1.0" encoding="utf-8"?>
<p:tagLst xmlns:p="http://schemas.openxmlformats.org/presentationml/2006/main">
  <p:tag name="PA" val="v5.2.11"/>
</p:tagLst>
</file>

<file path=ppt/tags/tag23.xml><?xml version="1.0" encoding="utf-8"?>
<p:tagLst xmlns:p="http://schemas.openxmlformats.org/presentationml/2006/main">
  <p:tag name="PA" val="v5.2.11"/>
</p:tagLst>
</file>

<file path=ppt/tags/tag24.xml><?xml version="1.0" encoding="utf-8"?>
<p:tagLst xmlns:p="http://schemas.openxmlformats.org/presentationml/2006/main">
  <p:tag name="TABLE_ENDDRAG_ORIGIN_RECT" val="894*222"/>
  <p:tag name="TABLE_ENDDRAG_RECT" val="34*86*894*222"/>
</p:tagLst>
</file>

<file path=ppt/tags/tag25.xml><?xml version="1.0" encoding="utf-8"?>
<p:tagLst xmlns:p="http://schemas.openxmlformats.org/presentationml/2006/main">
  <p:tag name="PA" val="v5.2.11"/>
</p:tagLst>
</file>

<file path=ppt/tags/tag26.xml><?xml version="1.0" encoding="utf-8"?>
<p:tagLst xmlns:p="http://schemas.openxmlformats.org/presentationml/2006/main">
  <p:tag name="PA" val="v5.2.11"/>
</p:tagLst>
</file>

<file path=ppt/tags/tag27.xml><?xml version="1.0" encoding="utf-8"?>
<p:tagLst xmlns:p="http://schemas.openxmlformats.org/presentationml/2006/main">
  <p:tag name="PA" val="v5.2.11"/>
</p:tagLst>
</file>

<file path=ppt/tags/tag28.xml><?xml version="1.0" encoding="utf-8"?>
<p:tagLst xmlns:p="http://schemas.openxmlformats.org/presentationml/2006/main">
  <p:tag name="TABLE_ENDDRAG_ORIGIN_RECT" val="836*173"/>
  <p:tag name="TABLE_ENDDRAG_RECT" val="34*101*836*173"/>
</p:tagLst>
</file>

<file path=ppt/tags/tag29.xml><?xml version="1.0" encoding="utf-8"?>
<p:tagLst xmlns:p="http://schemas.openxmlformats.org/presentationml/2006/main">
  <p:tag name="PA" val="v5.2.11"/>
</p:tagLst>
</file>

<file path=ppt/tags/tag30.xml><?xml version="1.0" encoding="utf-8"?>
<p:tagLst xmlns:p="http://schemas.openxmlformats.org/presentationml/2006/main">
  <p:tag name="ISLIDE.GUIDESSETTING" val="{&quot;Id&quot;:&quot;GuidesStyle_Moderate&quot;,&quot;Name&quot;:&quot;GuidesStyle_Moderate&quot;,&quot;Kind&quot;:0,&quot;OldGuidesSetting&quot;:{&quot;HeaderHeight&quot;:13.0,&quot;FooterHeight&quot;:6.0,&quot;SideMargin&quot;:4.0,&quot;TopMargin&quot;:0.0,&quot;BottomMargin&quot;:0.0,&quot;IntervalMargin&quot;:1.5}}"/>
</p:tagLst>
</file>

<file path=ppt/theme/theme1.xml><?xml version="1.0" encoding="utf-8"?>
<a:theme xmlns:a="http://schemas.openxmlformats.org/drawingml/2006/main" name="Office 主题​​">
  <a:themeElements>
    <a:clrScheme name="自定义 7">
      <a:dk1>
        <a:sysClr val="windowText" lastClr="000000"/>
      </a:dk1>
      <a:lt1>
        <a:sysClr val="window" lastClr="FFFFFF"/>
      </a:lt1>
      <a:dk2>
        <a:srgbClr val="44546A"/>
      </a:dk2>
      <a:lt2>
        <a:srgbClr val="E7E6E6"/>
      </a:lt2>
      <a:accent1>
        <a:srgbClr val="002FA8"/>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答辩111">
      <a:majorFont>
        <a:latin typeface="思源黑体 CN Bold"/>
        <a:ea typeface="思源黑体 CN Bold"/>
        <a:cs typeface=""/>
      </a:majorFont>
      <a:minorFont>
        <a:latin typeface="思源黑体 CN Medium"/>
        <a:ea typeface="思源黑体 CN Medium"/>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16663</Words>
  <Application>WPS 演示</Application>
  <PresentationFormat>宽屏</PresentationFormat>
  <Paragraphs>431</Paragraphs>
  <Slides>27</Slides>
  <Notes>0</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27</vt:i4>
      </vt:variant>
    </vt:vector>
  </HeadingPairs>
  <TitlesOfParts>
    <vt:vector size="42" baseType="lpstr">
      <vt:lpstr>Arial</vt:lpstr>
      <vt:lpstr>宋体</vt:lpstr>
      <vt:lpstr>Wingdings</vt:lpstr>
      <vt:lpstr>Times New Roman</vt:lpstr>
      <vt:lpstr>微软雅黑</vt:lpstr>
      <vt:lpstr>DIN</vt:lpstr>
      <vt:lpstr>思源黑体 CN Medium</vt:lpstr>
      <vt:lpstr>思源黑体 CN Bold</vt:lpstr>
      <vt:lpstr>黑体</vt:lpstr>
      <vt:lpstr>Cambria Math</vt:lpstr>
      <vt:lpstr>Arial Unicode MS</vt:lpstr>
      <vt:lpstr>Calibri</vt:lpstr>
      <vt:lpstr>思源黑体 CN Bold</vt:lpstr>
      <vt:lpstr>思源宋体 CN Heavy</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金振宇</cp:lastModifiedBy>
  <cp:revision>251</cp:revision>
  <dcterms:created xsi:type="dcterms:W3CDTF">2024-12-31T08:29:00Z</dcterms:created>
  <dcterms:modified xsi:type="dcterms:W3CDTF">2026-03-13T16:00:33Z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D5017D45C5C147A98524251ED123A167_13</vt:lpwstr>
  </property>
  <property fmtid="{D5CDD505-2E9C-101B-9397-08002B2CF9AE}" pid="3" name="KSOProductBuildVer">
    <vt:lpwstr>2052-12.1.0.23542</vt:lpwstr>
  </property>
</Properties>
</file>